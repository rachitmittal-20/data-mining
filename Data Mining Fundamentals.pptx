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E2E9"/>
          </a:solidFill>
        </a:fill>
      </a:tcStyle>
    </a:wholeTbl>
    <a:band2H>
      <a:tcTxStyle b="def" i="def"/>
      <a:tcStyle>
        <a:tcBdr/>
        <a:fill>
          <a:solidFill>
            <a:srgbClr val="EDF1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Times New Roman"/>
      </a:defRPr>
    </a:lvl1pPr>
    <a:lvl2pPr indent="228600" latinLnBrk="0">
      <a:defRPr sz="1200">
        <a:latin typeface="+mn-lt"/>
        <a:ea typeface="+mn-ea"/>
        <a:cs typeface="+mn-cs"/>
        <a:sym typeface="Times New Roman"/>
      </a:defRPr>
    </a:lvl2pPr>
    <a:lvl3pPr indent="457200" latinLnBrk="0">
      <a:defRPr sz="1200">
        <a:latin typeface="+mn-lt"/>
        <a:ea typeface="+mn-ea"/>
        <a:cs typeface="+mn-cs"/>
        <a:sym typeface="Times New Roman"/>
      </a:defRPr>
    </a:lvl3pPr>
    <a:lvl4pPr indent="685800" latinLnBrk="0">
      <a:defRPr sz="1200">
        <a:latin typeface="+mn-lt"/>
        <a:ea typeface="+mn-ea"/>
        <a:cs typeface="+mn-cs"/>
        <a:sym typeface="Times New Roman"/>
      </a:defRPr>
    </a:lvl4pPr>
    <a:lvl5pPr indent="914400" latinLnBrk="0">
      <a:defRPr sz="1200">
        <a:latin typeface="+mn-lt"/>
        <a:ea typeface="+mn-ea"/>
        <a:cs typeface="+mn-cs"/>
        <a:sym typeface="Times New Roman"/>
      </a:defRPr>
    </a:lvl5pPr>
    <a:lvl6pPr indent="1143000" latinLnBrk="0">
      <a:defRPr sz="1200">
        <a:latin typeface="+mn-lt"/>
        <a:ea typeface="+mn-ea"/>
        <a:cs typeface="+mn-cs"/>
        <a:sym typeface="Times New Roman"/>
      </a:defRPr>
    </a:lvl6pPr>
    <a:lvl7pPr indent="1371600" latinLnBrk="0">
      <a:defRPr sz="1200">
        <a:latin typeface="+mn-lt"/>
        <a:ea typeface="+mn-ea"/>
        <a:cs typeface="+mn-cs"/>
        <a:sym typeface="Times New Roman"/>
      </a:defRPr>
    </a:lvl7pPr>
    <a:lvl8pPr indent="1600200" latinLnBrk="0">
      <a:defRPr sz="1200">
        <a:latin typeface="+mn-lt"/>
        <a:ea typeface="+mn-ea"/>
        <a:cs typeface="+mn-cs"/>
        <a:sym typeface="Times New Roman"/>
      </a:defRPr>
    </a:lvl8pPr>
    <a:lvl9pPr indent="1828800" latinLnBrk="0">
      <a:defRPr sz="1200">
        <a:latin typeface="+mn-lt"/>
        <a:ea typeface="+mn-ea"/>
        <a:cs typeface="+mn-cs"/>
        <a:sym typeface="Times New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Times New Roman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Times New Roman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Image 0"/>
          <p:cNvPicPr>
            <a:picLocks noChangeAspect="1"/>
          </p:cNvPicPr>
          <p:nvPr/>
        </p:nvPicPr>
        <p:blipFill>
          <a:blip r:embed="rId2">
            <a:alphaModFix amt="30000"/>
            <a:extLst/>
          </a:blip>
          <a:srcRect l="0" t="7779" r="0" b="7778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B9E89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B8A9C9">
                  <a:alpha val="20000"/>
                </a:srgbClr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3"/>
          <p:cNvSpPr txBox="1"/>
          <p:nvPr/>
        </p:nvSpPr>
        <p:spPr>
          <a:xfrm>
            <a:off x="3848918" y="1113116"/>
            <a:ext cx="4495801" cy="1545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5400">
                <a:solidFill>
                  <a:srgbClr val="3D3D3D"/>
                </a:solidFill>
              </a:defRPr>
            </a:pPr>
            <a:r>
              <a:t>Data Mining</a:t>
            </a:r>
            <a:endParaRPr sz="1600"/>
          </a:p>
          <a:p>
            <a:pPr algn="ctr">
              <a:defRPr b="1" sz="5400">
                <a:solidFill>
                  <a:srgbClr val="3D3D3D"/>
                </a:solidFill>
              </a:defRPr>
            </a:pPr>
            <a:r>
              <a:t>Fundamentals</a:t>
            </a:r>
          </a:p>
        </p:txBody>
      </p:sp>
      <p:sp>
        <p:nvSpPr>
          <p:cNvPr id="30" name="Shape 4"/>
          <p:cNvSpPr/>
          <p:nvPr/>
        </p:nvSpPr>
        <p:spPr>
          <a:xfrm>
            <a:off x="5486325" y="2971800"/>
            <a:ext cx="1219201" cy="3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8" y="0"/>
                </a:moveTo>
                <a:lnTo>
                  <a:pt x="21262" y="0"/>
                </a:lnTo>
                <a:cubicBezTo>
                  <a:pt x="21449" y="0"/>
                  <a:pt x="21600" y="4839"/>
                  <a:pt x="21600" y="10800"/>
                </a:cubicBezTo>
                <a:cubicBezTo>
                  <a:pt x="21600" y="16761"/>
                  <a:pt x="21449" y="21600"/>
                  <a:pt x="21262" y="21600"/>
                </a:cubicBezTo>
                <a:lnTo>
                  <a:pt x="338" y="21600"/>
                </a:lnTo>
                <a:cubicBezTo>
                  <a:pt x="151" y="21600"/>
                  <a:pt x="0" y="16761"/>
                  <a:pt x="0" y="10800"/>
                </a:cubicBezTo>
                <a:cubicBezTo>
                  <a:pt x="0" y="4839"/>
                  <a:pt x="151" y="0"/>
                  <a:pt x="338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5"/>
          <p:cNvSpPr txBox="1"/>
          <p:nvPr/>
        </p:nvSpPr>
        <p:spPr>
          <a:xfrm>
            <a:off x="3963218" y="3296732"/>
            <a:ext cx="4267201" cy="626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40000"/>
              </a:lnSpc>
              <a:defRPr>
                <a:solidFill>
                  <a:srgbClr val="3D3D3D">
                    <a:alpha val="80000"/>
                  </a:srgbClr>
                </a:solidFill>
              </a:defRPr>
            </a:pPr>
            <a:r>
              <a:t>An Introduction to Data Types, Patterns,</a:t>
            </a:r>
            <a:endParaRPr sz="1600"/>
          </a:p>
          <a:p>
            <a:pPr algn="ctr">
              <a:lnSpc>
                <a:spcPct val="140000"/>
              </a:lnSpc>
              <a:defRPr>
                <a:solidFill>
                  <a:srgbClr val="3D3D3D">
                    <a:alpha val="80000"/>
                  </a:srgbClr>
                </a:solidFill>
              </a:defRPr>
            </a:pPr>
            <a:r>
              <a:t>and Preprocessing Techniques</a:t>
            </a:r>
          </a:p>
        </p:txBody>
      </p:sp>
      <p:sp>
        <p:nvSpPr>
          <p:cNvPr id="32" name="Shape 6"/>
          <p:cNvSpPr/>
          <p:nvPr/>
        </p:nvSpPr>
        <p:spPr>
          <a:xfrm>
            <a:off x="5092229" y="6267450"/>
            <a:ext cx="133351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3"/>
                  <a:pt x="13973" y="10800"/>
                  <a:pt x="10800" y="10800"/>
                </a:cubicBezTo>
                <a:cubicBezTo>
                  <a:pt x="7627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7"/>
          <p:cNvSpPr txBox="1"/>
          <p:nvPr/>
        </p:nvSpPr>
        <p:spPr>
          <a:xfrm>
            <a:off x="5325590" y="6245556"/>
            <a:ext cx="1847851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300">
                <a:solidFill>
                  <a:srgbClr val="3D3D3D">
                    <a:alpha val="60000"/>
                  </a:srgbClr>
                </a:solidFill>
              </a:defRPr>
            </a:lvl1pPr>
          </a:lstStyle>
          <a:p>
            <a:pPr/>
            <a:r>
              <a:t>Data Mining &amp; Analytics</a:t>
            </a:r>
          </a:p>
        </p:txBody>
      </p:sp>
      <p:sp>
        <p:nvSpPr>
          <p:cNvPr id="34" name="Name: Rachit Mittal…"/>
          <p:cNvSpPr txBox="1"/>
          <p:nvPr/>
        </p:nvSpPr>
        <p:spPr>
          <a:xfrm>
            <a:off x="507343" y="4561166"/>
            <a:ext cx="4109376" cy="1148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Name: Rachit Mittal</a:t>
            </a:r>
          </a:p>
          <a:p>
            <a:pPr/>
            <a:r>
              <a:t>Reg No: RA2311003030571</a:t>
            </a:r>
          </a:p>
          <a:p>
            <a:pPr/>
            <a:r>
              <a:t>Sec: J</a:t>
            </a:r>
          </a:p>
          <a:p>
            <a:pPr/>
            <a:r>
              <a:t>Year/Sem: 3rd/6th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514350" y="571509"/>
            <a:ext cx="190500" cy="190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5" fill="norm" stroke="1" extrusionOk="0">
                <a:moveTo>
                  <a:pt x="9809" y="217"/>
                </a:moveTo>
                <a:cubicBezTo>
                  <a:pt x="10437" y="-72"/>
                  <a:pt x="11163" y="-72"/>
                  <a:pt x="11791" y="217"/>
                </a:cubicBezTo>
                <a:lnTo>
                  <a:pt x="21014" y="4450"/>
                </a:lnTo>
                <a:cubicBezTo>
                  <a:pt x="21372" y="4613"/>
                  <a:pt x="21600" y="4970"/>
                  <a:pt x="21600" y="5364"/>
                </a:cubicBezTo>
                <a:cubicBezTo>
                  <a:pt x="21600" y="5758"/>
                  <a:pt x="21372" y="6114"/>
                  <a:pt x="21014" y="6277"/>
                </a:cubicBezTo>
                <a:lnTo>
                  <a:pt x="11791" y="10510"/>
                </a:lnTo>
                <a:cubicBezTo>
                  <a:pt x="11163" y="10799"/>
                  <a:pt x="10437" y="10799"/>
                  <a:pt x="9809" y="10510"/>
                </a:cubicBezTo>
                <a:lnTo>
                  <a:pt x="586" y="6277"/>
                </a:lnTo>
                <a:cubicBezTo>
                  <a:pt x="228" y="6110"/>
                  <a:pt x="0" y="5753"/>
                  <a:pt x="0" y="5364"/>
                </a:cubicBezTo>
                <a:cubicBezTo>
                  <a:pt x="0" y="4974"/>
                  <a:pt x="228" y="4613"/>
                  <a:pt x="586" y="4450"/>
                </a:cubicBezTo>
                <a:lnTo>
                  <a:pt x="9809" y="217"/>
                </a:lnTo>
                <a:close/>
                <a:moveTo>
                  <a:pt x="2029" y="9152"/>
                </a:moveTo>
                <a:lnTo>
                  <a:pt x="8961" y="12333"/>
                </a:lnTo>
                <a:cubicBezTo>
                  <a:pt x="10129" y="12870"/>
                  <a:pt x="11475" y="12870"/>
                  <a:pt x="12644" y="12333"/>
                </a:cubicBezTo>
                <a:lnTo>
                  <a:pt x="19575" y="9152"/>
                </a:lnTo>
                <a:lnTo>
                  <a:pt x="21014" y="9814"/>
                </a:lnTo>
                <a:cubicBezTo>
                  <a:pt x="21372" y="9978"/>
                  <a:pt x="21600" y="10334"/>
                  <a:pt x="21600" y="10728"/>
                </a:cubicBezTo>
                <a:cubicBezTo>
                  <a:pt x="21600" y="11122"/>
                  <a:pt x="21372" y="11478"/>
                  <a:pt x="21014" y="11642"/>
                </a:cubicBezTo>
                <a:lnTo>
                  <a:pt x="11791" y="15874"/>
                </a:lnTo>
                <a:cubicBezTo>
                  <a:pt x="11163" y="16164"/>
                  <a:pt x="10437" y="16164"/>
                  <a:pt x="9809" y="15874"/>
                </a:cubicBezTo>
                <a:lnTo>
                  <a:pt x="586" y="11642"/>
                </a:lnTo>
                <a:cubicBezTo>
                  <a:pt x="228" y="11474"/>
                  <a:pt x="0" y="11118"/>
                  <a:pt x="0" y="10728"/>
                </a:cubicBezTo>
                <a:cubicBezTo>
                  <a:pt x="0" y="10338"/>
                  <a:pt x="228" y="9978"/>
                  <a:pt x="586" y="9814"/>
                </a:cubicBezTo>
                <a:lnTo>
                  <a:pt x="2025" y="9152"/>
                </a:lnTo>
                <a:close/>
                <a:moveTo>
                  <a:pt x="586" y="15179"/>
                </a:moveTo>
                <a:lnTo>
                  <a:pt x="2025" y="14517"/>
                </a:lnTo>
                <a:lnTo>
                  <a:pt x="8956" y="17697"/>
                </a:lnTo>
                <a:cubicBezTo>
                  <a:pt x="10125" y="18234"/>
                  <a:pt x="11471" y="18234"/>
                  <a:pt x="12639" y="17697"/>
                </a:cubicBezTo>
                <a:lnTo>
                  <a:pt x="19571" y="14517"/>
                </a:lnTo>
                <a:lnTo>
                  <a:pt x="21009" y="15179"/>
                </a:lnTo>
                <a:cubicBezTo>
                  <a:pt x="21368" y="15342"/>
                  <a:pt x="21596" y="15698"/>
                  <a:pt x="21596" y="16092"/>
                </a:cubicBezTo>
                <a:cubicBezTo>
                  <a:pt x="21596" y="16486"/>
                  <a:pt x="21368" y="16843"/>
                  <a:pt x="21009" y="17006"/>
                </a:cubicBezTo>
                <a:lnTo>
                  <a:pt x="11787" y="21239"/>
                </a:lnTo>
                <a:cubicBezTo>
                  <a:pt x="11159" y="21528"/>
                  <a:pt x="10433" y="21528"/>
                  <a:pt x="9804" y="21239"/>
                </a:cubicBezTo>
                <a:lnTo>
                  <a:pt x="586" y="17006"/>
                </a:lnTo>
                <a:cubicBezTo>
                  <a:pt x="228" y="16838"/>
                  <a:pt x="0" y="16482"/>
                  <a:pt x="0" y="16092"/>
                </a:cubicBezTo>
                <a:cubicBezTo>
                  <a:pt x="0" y="15703"/>
                  <a:pt x="228" y="15342"/>
                  <a:pt x="586" y="1517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2"/>
          <p:cNvSpPr txBox="1"/>
          <p:nvPr/>
        </p:nvSpPr>
        <p:spPr>
          <a:xfrm>
            <a:off x="952500" y="409097"/>
            <a:ext cx="203835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52" sz="1000">
                <a:solidFill>
                  <a:srgbClr val="7B9E89"/>
                </a:solidFill>
              </a:defRPr>
            </a:lvl1pPr>
          </a:lstStyle>
          <a:p>
            <a:pPr/>
            <a:r>
              <a:t>Data Foundation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952500" y="572433"/>
            <a:ext cx="2143125" cy="379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700">
                <a:solidFill>
                  <a:srgbClr val="3D3D3D"/>
                </a:solidFill>
              </a:defRPr>
            </a:lvl1pPr>
          </a:lstStyle>
          <a:p>
            <a:pPr/>
            <a:r>
              <a:t>Kinds of Data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952500" y="1102056"/>
            <a:ext cx="10944225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Understanding how data organization impacts storage, processing, and analysis approaches</a:t>
            </a:r>
          </a:p>
        </p:txBody>
      </p:sp>
      <p:sp>
        <p:nvSpPr>
          <p:cNvPr id="41" name="Shape 5"/>
          <p:cNvSpPr/>
          <p:nvPr/>
        </p:nvSpPr>
        <p:spPr>
          <a:xfrm>
            <a:off x="385763" y="1566862"/>
            <a:ext cx="3676651" cy="4905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5" y="0"/>
                </a:moveTo>
                <a:lnTo>
                  <a:pt x="20705" y="0"/>
                </a:lnTo>
                <a:cubicBezTo>
                  <a:pt x="21199" y="0"/>
                  <a:pt x="21600" y="301"/>
                  <a:pt x="21600" y="671"/>
                </a:cubicBezTo>
                <a:lnTo>
                  <a:pt x="21600" y="20929"/>
                </a:lnTo>
                <a:cubicBezTo>
                  <a:pt x="21600" y="21299"/>
                  <a:pt x="21199" y="21600"/>
                  <a:pt x="20705" y="21600"/>
                </a:cubicBezTo>
                <a:lnTo>
                  <a:pt x="895" y="21600"/>
                </a:lnTo>
                <a:cubicBezTo>
                  <a:pt x="401" y="21600"/>
                  <a:pt x="0" y="21299"/>
                  <a:pt x="0" y="20929"/>
                </a:cubicBezTo>
                <a:lnTo>
                  <a:pt x="0" y="671"/>
                </a:lnTo>
                <a:cubicBezTo>
                  <a:pt x="0" y="301"/>
                  <a:pt x="401" y="0"/>
                  <a:pt x="8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6"/>
          <p:cNvSpPr/>
          <p:nvPr/>
        </p:nvSpPr>
        <p:spPr>
          <a:xfrm>
            <a:off x="619125" y="1800225"/>
            <a:ext cx="533400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7"/>
          <p:cNvSpPr/>
          <p:nvPr/>
        </p:nvSpPr>
        <p:spPr>
          <a:xfrm>
            <a:off x="785812" y="1966913"/>
            <a:ext cx="200026" cy="200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343" y="6171"/>
                </a:moveTo>
                <a:lnTo>
                  <a:pt x="12343" y="10800"/>
                </a:lnTo>
                <a:lnTo>
                  <a:pt x="18514" y="10800"/>
                </a:lnTo>
                <a:lnTo>
                  <a:pt x="18514" y="6171"/>
                </a:lnTo>
                <a:lnTo>
                  <a:pt x="12343" y="6171"/>
                </a:lnTo>
                <a:close/>
                <a:moveTo>
                  <a:pt x="9257" y="6171"/>
                </a:moveTo>
                <a:lnTo>
                  <a:pt x="3086" y="6171"/>
                </a:lnTo>
                <a:lnTo>
                  <a:pt x="3086" y="10800"/>
                </a:lnTo>
                <a:lnTo>
                  <a:pt x="9257" y="10800"/>
                </a:lnTo>
                <a:lnTo>
                  <a:pt x="9257" y="6171"/>
                </a:lnTo>
                <a:close/>
                <a:moveTo>
                  <a:pt x="0" y="13886"/>
                </a:moveTo>
                <a:lnTo>
                  <a:pt x="0" y="3086"/>
                </a:lnTo>
                <a:cubicBezTo>
                  <a:pt x="0" y="1384"/>
                  <a:pt x="1384" y="0"/>
                  <a:pt x="3086" y="0"/>
                </a:cubicBezTo>
                <a:lnTo>
                  <a:pt x="18514" y="0"/>
                </a:lnTo>
                <a:cubicBezTo>
                  <a:pt x="20216" y="0"/>
                  <a:pt x="21600" y="1384"/>
                  <a:pt x="21600" y="3086"/>
                </a:cubicBezTo>
                <a:lnTo>
                  <a:pt x="21600" y="18514"/>
                </a:lnTo>
                <a:cubicBezTo>
                  <a:pt x="21600" y="20216"/>
                  <a:pt x="20216" y="21600"/>
                  <a:pt x="18514" y="21600"/>
                </a:cubicBezTo>
                <a:lnTo>
                  <a:pt x="3086" y="21600"/>
                </a:lnTo>
                <a:cubicBezTo>
                  <a:pt x="1384" y="21600"/>
                  <a:pt x="0" y="20216"/>
                  <a:pt x="0" y="18514"/>
                </a:cubicBezTo>
                <a:lnTo>
                  <a:pt x="0" y="13886"/>
                </a:lnTo>
                <a:close/>
                <a:moveTo>
                  <a:pt x="18514" y="13886"/>
                </a:moveTo>
                <a:lnTo>
                  <a:pt x="12343" y="13886"/>
                </a:lnTo>
                <a:lnTo>
                  <a:pt x="12343" y="18514"/>
                </a:lnTo>
                <a:lnTo>
                  <a:pt x="18514" y="18514"/>
                </a:lnTo>
                <a:lnTo>
                  <a:pt x="18514" y="13886"/>
                </a:lnTo>
                <a:close/>
                <a:moveTo>
                  <a:pt x="9257" y="18514"/>
                </a:moveTo>
                <a:lnTo>
                  <a:pt x="9257" y="13886"/>
                </a:lnTo>
                <a:lnTo>
                  <a:pt x="3086" y="13886"/>
                </a:lnTo>
                <a:lnTo>
                  <a:pt x="3086" y="18514"/>
                </a:lnTo>
                <a:lnTo>
                  <a:pt x="9257" y="18514"/>
                </a:ln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8"/>
          <p:cNvSpPr txBox="1"/>
          <p:nvPr/>
        </p:nvSpPr>
        <p:spPr>
          <a:xfrm>
            <a:off x="1266825" y="1938430"/>
            <a:ext cx="1162050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Structured</a:t>
            </a:r>
          </a:p>
        </p:txBody>
      </p:sp>
      <p:sp>
        <p:nvSpPr>
          <p:cNvPr id="45" name="Shape 9"/>
          <p:cNvSpPr/>
          <p:nvPr/>
        </p:nvSpPr>
        <p:spPr>
          <a:xfrm>
            <a:off x="619125" y="2486025"/>
            <a:ext cx="3209925" cy="114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230" y="0"/>
                  <a:pt x="513" y="0"/>
                </a:cubicBezTo>
                <a:close/>
              </a:path>
            </a:pathLst>
          </a:custGeom>
          <a:solidFill>
            <a:srgbClr val="7B9E89">
              <a:alpha val="50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0"/>
          <p:cNvSpPr txBox="1"/>
          <p:nvPr/>
        </p:nvSpPr>
        <p:spPr>
          <a:xfrm>
            <a:off x="733425" y="2628422"/>
            <a:ext cx="304800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Definition</a:t>
            </a:r>
          </a:p>
        </p:txBody>
      </p:sp>
      <p:sp>
        <p:nvSpPr>
          <p:cNvPr id="47" name="Text 11"/>
          <p:cNvSpPr txBox="1"/>
          <p:nvPr/>
        </p:nvSpPr>
        <p:spPr>
          <a:xfrm>
            <a:off x="733425" y="2956958"/>
            <a:ext cx="3057525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Highly organized data following a fixed schema with predefined fields and data types</a:t>
            </a:r>
          </a:p>
        </p:txBody>
      </p:sp>
      <p:sp>
        <p:nvSpPr>
          <p:cNvPr id="48" name="Shape 12"/>
          <p:cNvSpPr/>
          <p:nvPr/>
        </p:nvSpPr>
        <p:spPr>
          <a:xfrm>
            <a:off x="619125" y="3743325"/>
            <a:ext cx="3209925" cy="114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230" y="0"/>
                  <a:pt x="51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3"/>
          <p:cNvSpPr txBox="1"/>
          <p:nvPr/>
        </p:nvSpPr>
        <p:spPr>
          <a:xfrm>
            <a:off x="733425" y="3885722"/>
            <a:ext cx="304800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3D3D3D"/>
                </a:solidFill>
              </a:defRPr>
            </a:lvl1pPr>
          </a:lstStyle>
          <a:p>
            <a:pPr/>
            <a:r>
              <a:t>Examples</a:t>
            </a:r>
          </a:p>
        </p:txBody>
      </p:sp>
      <p:sp>
        <p:nvSpPr>
          <p:cNvPr id="50" name="Shape 14"/>
          <p:cNvSpPr/>
          <p:nvPr/>
        </p:nvSpPr>
        <p:spPr>
          <a:xfrm>
            <a:off x="738187" y="4129087"/>
            <a:ext cx="8858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68" y="0"/>
                </a:moveTo>
                <a:lnTo>
                  <a:pt x="18232" y="0"/>
                </a:lnTo>
                <a:cubicBezTo>
                  <a:pt x="20091" y="0"/>
                  <a:pt x="21600" y="4839"/>
                  <a:pt x="21600" y="10800"/>
                </a:cubicBezTo>
                <a:cubicBezTo>
                  <a:pt x="21600" y="16761"/>
                  <a:pt x="20091" y="21600"/>
                  <a:pt x="18232" y="21600"/>
                </a:cubicBezTo>
                <a:lnTo>
                  <a:pt x="3368" y="21600"/>
                </a:lnTo>
                <a:cubicBezTo>
                  <a:pt x="1509" y="21600"/>
                  <a:pt x="0" y="16761"/>
                  <a:pt x="0" y="10800"/>
                </a:cubicBezTo>
                <a:cubicBezTo>
                  <a:pt x="0" y="4839"/>
                  <a:pt x="1509" y="0"/>
                  <a:pt x="33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5"/>
          <p:cNvSpPr txBox="1"/>
          <p:nvPr/>
        </p:nvSpPr>
        <p:spPr>
          <a:xfrm>
            <a:off x="809625" y="4152422"/>
            <a:ext cx="790575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SQL Tables</a:t>
            </a:r>
          </a:p>
        </p:txBody>
      </p:sp>
      <p:sp>
        <p:nvSpPr>
          <p:cNvPr id="52" name="Shape 16"/>
          <p:cNvSpPr/>
          <p:nvPr/>
        </p:nvSpPr>
        <p:spPr>
          <a:xfrm>
            <a:off x="1707876" y="4129087"/>
            <a:ext cx="101917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27" y="0"/>
                </a:moveTo>
                <a:lnTo>
                  <a:pt x="18673" y="0"/>
                </a:lnTo>
                <a:cubicBezTo>
                  <a:pt x="20288" y="0"/>
                  <a:pt x="21600" y="4839"/>
                  <a:pt x="21600" y="10800"/>
                </a:cubicBezTo>
                <a:cubicBezTo>
                  <a:pt x="21600" y="16761"/>
                  <a:pt x="20288" y="21600"/>
                  <a:pt x="18673" y="21600"/>
                </a:cubicBezTo>
                <a:lnTo>
                  <a:pt x="2927" y="21600"/>
                </a:lnTo>
                <a:cubicBezTo>
                  <a:pt x="1312" y="21600"/>
                  <a:pt x="0" y="16761"/>
                  <a:pt x="0" y="10800"/>
                </a:cubicBezTo>
                <a:cubicBezTo>
                  <a:pt x="0" y="4839"/>
                  <a:pt x="1312" y="0"/>
                  <a:pt x="292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7"/>
          <p:cNvSpPr txBox="1"/>
          <p:nvPr/>
        </p:nvSpPr>
        <p:spPr>
          <a:xfrm>
            <a:off x="1779315" y="4152422"/>
            <a:ext cx="92392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Spreadsheets</a:t>
            </a:r>
          </a:p>
        </p:txBody>
      </p:sp>
      <p:sp>
        <p:nvSpPr>
          <p:cNvPr id="54" name="Shape 18"/>
          <p:cNvSpPr/>
          <p:nvPr/>
        </p:nvSpPr>
        <p:spPr>
          <a:xfrm>
            <a:off x="738187" y="4491037"/>
            <a:ext cx="10001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83" y="0"/>
                </a:moveTo>
                <a:lnTo>
                  <a:pt x="18617" y="0"/>
                </a:lnTo>
                <a:cubicBezTo>
                  <a:pt x="20263" y="0"/>
                  <a:pt x="21600" y="4839"/>
                  <a:pt x="21600" y="10800"/>
                </a:cubicBezTo>
                <a:cubicBezTo>
                  <a:pt x="21600" y="16761"/>
                  <a:pt x="20263" y="21600"/>
                  <a:pt x="18617" y="21600"/>
                </a:cubicBezTo>
                <a:lnTo>
                  <a:pt x="2983" y="21600"/>
                </a:lnTo>
                <a:cubicBezTo>
                  <a:pt x="1337" y="21600"/>
                  <a:pt x="0" y="16761"/>
                  <a:pt x="0" y="10800"/>
                </a:cubicBezTo>
                <a:cubicBezTo>
                  <a:pt x="0" y="4839"/>
                  <a:pt x="1337" y="0"/>
                  <a:pt x="29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19"/>
          <p:cNvSpPr txBox="1"/>
          <p:nvPr/>
        </p:nvSpPr>
        <p:spPr>
          <a:xfrm>
            <a:off x="809625" y="4514372"/>
            <a:ext cx="904875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Relational DB</a:t>
            </a:r>
          </a:p>
        </p:txBody>
      </p:sp>
      <p:sp>
        <p:nvSpPr>
          <p:cNvPr id="56" name="Shape 20"/>
          <p:cNvSpPr/>
          <p:nvPr/>
        </p:nvSpPr>
        <p:spPr>
          <a:xfrm>
            <a:off x="619125" y="5000625"/>
            <a:ext cx="3209925" cy="419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1758"/>
                  <a:pt x="21600" y="3927"/>
                </a:cubicBezTo>
                <a:lnTo>
                  <a:pt x="21600" y="17673"/>
                </a:lnTo>
                <a:cubicBezTo>
                  <a:pt x="21600" y="19842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19842"/>
                  <a:pt x="0" y="17673"/>
                </a:cubicBezTo>
                <a:lnTo>
                  <a:pt x="0" y="3927"/>
                </a:lnTo>
                <a:cubicBezTo>
                  <a:pt x="0" y="1760"/>
                  <a:pt x="230" y="0"/>
                  <a:pt x="513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21"/>
          <p:cNvSpPr/>
          <p:nvPr/>
        </p:nvSpPr>
        <p:spPr>
          <a:xfrm>
            <a:off x="752475" y="5138737"/>
            <a:ext cx="133350" cy="133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22"/>
          <p:cNvSpPr txBox="1"/>
          <p:nvPr/>
        </p:nvSpPr>
        <p:spPr>
          <a:xfrm>
            <a:off x="962025" y="5143022"/>
            <a:ext cx="281940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Easy to query and analyze using SQL</a:t>
            </a:r>
          </a:p>
        </p:txBody>
      </p:sp>
      <p:sp>
        <p:nvSpPr>
          <p:cNvPr id="59" name="Shape 23"/>
          <p:cNvSpPr/>
          <p:nvPr/>
        </p:nvSpPr>
        <p:spPr>
          <a:xfrm>
            <a:off x="4259238" y="1566862"/>
            <a:ext cx="3676651" cy="4905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5" y="0"/>
                </a:moveTo>
                <a:lnTo>
                  <a:pt x="20705" y="0"/>
                </a:lnTo>
                <a:cubicBezTo>
                  <a:pt x="21199" y="0"/>
                  <a:pt x="21600" y="301"/>
                  <a:pt x="21600" y="671"/>
                </a:cubicBezTo>
                <a:lnTo>
                  <a:pt x="21600" y="20929"/>
                </a:lnTo>
                <a:cubicBezTo>
                  <a:pt x="21600" y="21299"/>
                  <a:pt x="21199" y="21600"/>
                  <a:pt x="20705" y="21600"/>
                </a:cubicBezTo>
                <a:lnTo>
                  <a:pt x="895" y="21600"/>
                </a:lnTo>
                <a:cubicBezTo>
                  <a:pt x="401" y="21600"/>
                  <a:pt x="0" y="21299"/>
                  <a:pt x="0" y="20929"/>
                </a:cubicBezTo>
                <a:lnTo>
                  <a:pt x="0" y="671"/>
                </a:lnTo>
                <a:cubicBezTo>
                  <a:pt x="0" y="301"/>
                  <a:pt x="401" y="0"/>
                  <a:pt x="8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" name="Shape 24"/>
          <p:cNvSpPr/>
          <p:nvPr/>
        </p:nvSpPr>
        <p:spPr>
          <a:xfrm>
            <a:off x="4492599" y="1800225"/>
            <a:ext cx="533401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25"/>
          <p:cNvSpPr/>
          <p:nvPr/>
        </p:nvSpPr>
        <p:spPr>
          <a:xfrm>
            <a:off x="4673574" y="1952625"/>
            <a:ext cx="17145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2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3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6750" y="10800"/>
                </a:moveTo>
                <a:cubicBezTo>
                  <a:pt x="6002" y="10800"/>
                  <a:pt x="5400" y="11251"/>
                  <a:pt x="5400" y="11813"/>
                </a:cubicBezTo>
                <a:cubicBezTo>
                  <a:pt x="5400" y="12374"/>
                  <a:pt x="6002" y="12825"/>
                  <a:pt x="6750" y="12825"/>
                </a:cubicBezTo>
                <a:lnTo>
                  <a:pt x="14850" y="12825"/>
                </a:lnTo>
                <a:cubicBezTo>
                  <a:pt x="15598" y="12825"/>
                  <a:pt x="16200" y="12374"/>
                  <a:pt x="16200" y="11813"/>
                </a:cubicBezTo>
                <a:cubicBezTo>
                  <a:pt x="16200" y="11251"/>
                  <a:pt x="15598" y="10800"/>
                  <a:pt x="14850" y="10800"/>
                </a:cubicBezTo>
                <a:lnTo>
                  <a:pt x="6750" y="10800"/>
                </a:lnTo>
                <a:close/>
                <a:moveTo>
                  <a:pt x="6750" y="14850"/>
                </a:moveTo>
                <a:cubicBezTo>
                  <a:pt x="6002" y="14850"/>
                  <a:pt x="5400" y="15301"/>
                  <a:pt x="5400" y="15862"/>
                </a:cubicBezTo>
                <a:cubicBezTo>
                  <a:pt x="5400" y="16424"/>
                  <a:pt x="6002" y="16875"/>
                  <a:pt x="6750" y="16875"/>
                </a:cubicBezTo>
                <a:lnTo>
                  <a:pt x="14850" y="16875"/>
                </a:lnTo>
                <a:cubicBezTo>
                  <a:pt x="15598" y="16875"/>
                  <a:pt x="16200" y="16424"/>
                  <a:pt x="16200" y="15862"/>
                </a:cubicBezTo>
                <a:cubicBezTo>
                  <a:pt x="16200" y="15301"/>
                  <a:pt x="15598" y="14850"/>
                  <a:pt x="14850" y="14850"/>
                </a:cubicBezTo>
                <a:lnTo>
                  <a:pt x="6750" y="14850"/>
                </a:ln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26"/>
          <p:cNvSpPr txBox="1"/>
          <p:nvPr/>
        </p:nvSpPr>
        <p:spPr>
          <a:xfrm>
            <a:off x="5140299" y="1938430"/>
            <a:ext cx="1419226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Unstructured</a:t>
            </a:r>
          </a:p>
        </p:txBody>
      </p:sp>
      <p:sp>
        <p:nvSpPr>
          <p:cNvPr id="63" name="Shape 27"/>
          <p:cNvSpPr/>
          <p:nvPr/>
        </p:nvSpPr>
        <p:spPr>
          <a:xfrm>
            <a:off x="4492599" y="2486025"/>
            <a:ext cx="3209926" cy="114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230" y="0"/>
                  <a:pt x="513" y="0"/>
                </a:cubicBezTo>
                <a:close/>
              </a:path>
            </a:pathLst>
          </a:custGeom>
          <a:solidFill>
            <a:srgbClr val="B8A9C9">
              <a:alpha val="50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28"/>
          <p:cNvSpPr txBox="1"/>
          <p:nvPr/>
        </p:nvSpPr>
        <p:spPr>
          <a:xfrm>
            <a:off x="4606899" y="2628422"/>
            <a:ext cx="304800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B8A9C9"/>
                </a:solidFill>
              </a:defRPr>
            </a:lvl1pPr>
          </a:lstStyle>
          <a:p>
            <a:pPr/>
            <a:r>
              <a:t>Definition</a:t>
            </a:r>
          </a:p>
        </p:txBody>
      </p:sp>
      <p:sp>
        <p:nvSpPr>
          <p:cNvPr id="65" name="Text 29"/>
          <p:cNvSpPr txBox="1"/>
          <p:nvPr/>
        </p:nvSpPr>
        <p:spPr>
          <a:xfrm>
            <a:off x="4606899" y="2956958"/>
            <a:ext cx="3057526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Data without predefined format or organization, requiring specialized processing tools</a:t>
            </a:r>
          </a:p>
        </p:txBody>
      </p:sp>
      <p:sp>
        <p:nvSpPr>
          <p:cNvPr id="66" name="Shape 30"/>
          <p:cNvSpPr/>
          <p:nvPr/>
        </p:nvSpPr>
        <p:spPr>
          <a:xfrm>
            <a:off x="4492599" y="3743325"/>
            <a:ext cx="3209926" cy="114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230" y="0"/>
                  <a:pt x="51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31"/>
          <p:cNvSpPr txBox="1"/>
          <p:nvPr/>
        </p:nvSpPr>
        <p:spPr>
          <a:xfrm>
            <a:off x="4606899" y="3885722"/>
            <a:ext cx="304800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3D3D3D"/>
                </a:solidFill>
              </a:defRPr>
            </a:lvl1pPr>
          </a:lstStyle>
          <a:p>
            <a:pPr/>
            <a:r>
              <a:t>Examples</a:t>
            </a:r>
          </a:p>
        </p:txBody>
      </p:sp>
      <p:sp>
        <p:nvSpPr>
          <p:cNvPr id="68" name="Shape 32"/>
          <p:cNvSpPr/>
          <p:nvPr/>
        </p:nvSpPr>
        <p:spPr>
          <a:xfrm>
            <a:off x="4611663" y="4129087"/>
            <a:ext cx="11906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06" y="0"/>
                </a:moveTo>
                <a:lnTo>
                  <a:pt x="19094" y="0"/>
                </a:lnTo>
                <a:cubicBezTo>
                  <a:pt x="20477" y="0"/>
                  <a:pt x="21600" y="4839"/>
                  <a:pt x="21600" y="10800"/>
                </a:cubicBezTo>
                <a:cubicBezTo>
                  <a:pt x="21600" y="16761"/>
                  <a:pt x="20477" y="21600"/>
                  <a:pt x="19094" y="21600"/>
                </a:cubicBezTo>
                <a:lnTo>
                  <a:pt x="2506" y="21600"/>
                </a:lnTo>
                <a:cubicBezTo>
                  <a:pt x="1123" y="21600"/>
                  <a:pt x="0" y="16761"/>
                  <a:pt x="0" y="10800"/>
                </a:cubicBezTo>
                <a:cubicBezTo>
                  <a:pt x="0" y="4839"/>
                  <a:pt x="1123" y="0"/>
                  <a:pt x="25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33"/>
          <p:cNvSpPr txBox="1"/>
          <p:nvPr/>
        </p:nvSpPr>
        <p:spPr>
          <a:xfrm>
            <a:off x="4683099" y="4152422"/>
            <a:ext cx="10953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Text Documents</a:t>
            </a:r>
          </a:p>
        </p:txBody>
      </p:sp>
      <p:sp>
        <p:nvSpPr>
          <p:cNvPr id="70" name="Shape 34"/>
          <p:cNvSpPr/>
          <p:nvPr/>
        </p:nvSpPr>
        <p:spPr>
          <a:xfrm>
            <a:off x="5883547" y="4129087"/>
            <a:ext cx="647701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06" y="0"/>
                </a:moveTo>
                <a:lnTo>
                  <a:pt x="16994" y="0"/>
                </a:lnTo>
                <a:cubicBezTo>
                  <a:pt x="19536" y="0"/>
                  <a:pt x="21600" y="4839"/>
                  <a:pt x="21600" y="10800"/>
                </a:cubicBezTo>
                <a:cubicBezTo>
                  <a:pt x="21600" y="16761"/>
                  <a:pt x="19536" y="21600"/>
                  <a:pt x="16994" y="21600"/>
                </a:cubicBezTo>
                <a:lnTo>
                  <a:pt x="4606" y="21600"/>
                </a:lnTo>
                <a:cubicBezTo>
                  <a:pt x="2064" y="21600"/>
                  <a:pt x="0" y="16761"/>
                  <a:pt x="0" y="10800"/>
                </a:cubicBezTo>
                <a:cubicBezTo>
                  <a:pt x="0" y="4839"/>
                  <a:pt x="2064" y="0"/>
                  <a:pt x="4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5"/>
          <p:cNvSpPr txBox="1"/>
          <p:nvPr/>
        </p:nvSpPr>
        <p:spPr>
          <a:xfrm>
            <a:off x="5954984" y="4152422"/>
            <a:ext cx="55245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Images</a:t>
            </a:r>
          </a:p>
        </p:txBody>
      </p:sp>
      <p:sp>
        <p:nvSpPr>
          <p:cNvPr id="72" name="Shape 36"/>
          <p:cNvSpPr/>
          <p:nvPr/>
        </p:nvSpPr>
        <p:spPr>
          <a:xfrm>
            <a:off x="6620320" y="4129087"/>
            <a:ext cx="63817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75" y="0"/>
                </a:moveTo>
                <a:lnTo>
                  <a:pt x="16925" y="0"/>
                </a:lnTo>
                <a:cubicBezTo>
                  <a:pt x="19505" y="0"/>
                  <a:pt x="21600" y="4839"/>
                  <a:pt x="21600" y="10800"/>
                </a:cubicBezTo>
                <a:cubicBezTo>
                  <a:pt x="21600" y="16761"/>
                  <a:pt x="19505" y="21600"/>
                  <a:pt x="16925" y="21600"/>
                </a:cubicBezTo>
                <a:lnTo>
                  <a:pt x="4675" y="21600"/>
                </a:lnTo>
                <a:cubicBezTo>
                  <a:pt x="2095" y="21600"/>
                  <a:pt x="0" y="16761"/>
                  <a:pt x="0" y="10800"/>
                </a:cubicBezTo>
                <a:cubicBezTo>
                  <a:pt x="0" y="4839"/>
                  <a:pt x="2095" y="0"/>
                  <a:pt x="467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37"/>
          <p:cNvSpPr txBox="1"/>
          <p:nvPr/>
        </p:nvSpPr>
        <p:spPr>
          <a:xfrm>
            <a:off x="6691758" y="4152422"/>
            <a:ext cx="54292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Videos</a:t>
            </a:r>
          </a:p>
        </p:txBody>
      </p:sp>
      <p:sp>
        <p:nvSpPr>
          <p:cNvPr id="74" name="Shape 38"/>
          <p:cNvSpPr/>
          <p:nvPr/>
        </p:nvSpPr>
        <p:spPr>
          <a:xfrm>
            <a:off x="4611663" y="4491037"/>
            <a:ext cx="5810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4" y="0"/>
                </a:moveTo>
                <a:lnTo>
                  <a:pt x="16466" y="0"/>
                </a:lnTo>
                <a:cubicBezTo>
                  <a:pt x="19299" y="0"/>
                  <a:pt x="21600" y="4839"/>
                  <a:pt x="21600" y="10800"/>
                </a:cubicBezTo>
                <a:cubicBezTo>
                  <a:pt x="21600" y="16761"/>
                  <a:pt x="19299" y="21600"/>
                  <a:pt x="16466" y="21600"/>
                </a:cubicBezTo>
                <a:lnTo>
                  <a:pt x="5134" y="21600"/>
                </a:lnTo>
                <a:cubicBezTo>
                  <a:pt x="2301" y="21600"/>
                  <a:pt x="0" y="16761"/>
                  <a:pt x="0" y="10800"/>
                </a:cubicBezTo>
                <a:cubicBezTo>
                  <a:pt x="0" y="4839"/>
                  <a:pt x="2301" y="0"/>
                  <a:pt x="513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39"/>
          <p:cNvSpPr txBox="1"/>
          <p:nvPr/>
        </p:nvSpPr>
        <p:spPr>
          <a:xfrm>
            <a:off x="4683099" y="4514372"/>
            <a:ext cx="4857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Audio</a:t>
            </a:r>
          </a:p>
        </p:txBody>
      </p:sp>
      <p:sp>
        <p:nvSpPr>
          <p:cNvPr id="76" name="Shape 40"/>
          <p:cNvSpPr/>
          <p:nvPr/>
        </p:nvSpPr>
        <p:spPr>
          <a:xfrm>
            <a:off x="4492599" y="5000625"/>
            <a:ext cx="3209926" cy="419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1758"/>
                  <a:pt x="21600" y="3927"/>
                </a:cubicBezTo>
                <a:lnTo>
                  <a:pt x="21600" y="17673"/>
                </a:lnTo>
                <a:cubicBezTo>
                  <a:pt x="21600" y="19842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19842"/>
                  <a:pt x="0" y="17673"/>
                </a:cubicBezTo>
                <a:lnTo>
                  <a:pt x="0" y="3927"/>
                </a:lnTo>
                <a:cubicBezTo>
                  <a:pt x="0" y="1760"/>
                  <a:pt x="230" y="0"/>
                  <a:pt x="513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41"/>
          <p:cNvSpPr/>
          <p:nvPr/>
        </p:nvSpPr>
        <p:spPr>
          <a:xfrm>
            <a:off x="4609281" y="5130403"/>
            <a:ext cx="166689" cy="133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80" y="1350"/>
                </a:moveTo>
                <a:cubicBezTo>
                  <a:pt x="11880" y="603"/>
                  <a:pt x="11397" y="0"/>
                  <a:pt x="10800" y="0"/>
                </a:cubicBezTo>
                <a:cubicBezTo>
                  <a:pt x="10203" y="0"/>
                  <a:pt x="9720" y="603"/>
                  <a:pt x="9720" y="1350"/>
                </a:cubicBezTo>
                <a:lnTo>
                  <a:pt x="9720" y="4050"/>
                </a:lnTo>
                <a:lnTo>
                  <a:pt x="6480" y="4050"/>
                </a:lnTo>
                <a:cubicBezTo>
                  <a:pt x="4691" y="4050"/>
                  <a:pt x="3240" y="5864"/>
                  <a:pt x="3240" y="8100"/>
                </a:cubicBezTo>
                <a:lnTo>
                  <a:pt x="3240" y="17550"/>
                </a:lnTo>
                <a:cubicBezTo>
                  <a:pt x="3240" y="19786"/>
                  <a:pt x="4691" y="21600"/>
                  <a:pt x="6480" y="21600"/>
                </a:cubicBezTo>
                <a:lnTo>
                  <a:pt x="15120" y="21600"/>
                </a:lnTo>
                <a:cubicBezTo>
                  <a:pt x="16909" y="21600"/>
                  <a:pt x="18360" y="19786"/>
                  <a:pt x="18360" y="17550"/>
                </a:cubicBezTo>
                <a:lnTo>
                  <a:pt x="18360" y="8100"/>
                </a:lnTo>
                <a:cubicBezTo>
                  <a:pt x="18360" y="5864"/>
                  <a:pt x="16909" y="4050"/>
                  <a:pt x="15120" y="4050"/>
                </a:cubicBezTo>
                <a:lnTo>
                  <a:pt x="11880" y="4050"/>
                </a:lnTo>
                <a:lnTo>
                  <a:pt x="11880" y="1350"/>
                </a:lnTo>
                <a:close/>
                <a:moveTo>
                  <a:pt x="5400" y="16875"/>
                </a:moveTo>
                <a:cubicBezTo>
                  <a:pt x="5400" y="16314"/>
                  <a:pt x="5761" y="15863"/>
                  <a:pt x="6210" y="15863"/>
                </a:cubicBezTo>
                <a:lnTo>
                  <a:pt x="7290" y="15863"/>
                </a:lnTo>
                <a:cubicBezTo>
                  <a:pt x="7739" y="15863"/>
                  <a:pt x="8100" y="16314"/>
                  <a:pt x="8100" y="16875"/>
                </a:cubicBezTo>
                <a:cubicBezTo>
                  <a:pt x="8100" y="17436"/>
                  <a:pt x="7739" y="17887"/>
                  <a:pt x="7290" y="17887"/>
                </a:cubicBezTo>
                <a:lnTo>
                  <a:pt x="6210" y="17887"/>
                </a:lnTo>
                <a:cubicBezTo>
                  <a:pt x="5761" y="17887"/>
                  <a:pt x="5400" y="17436"/>
                  <a:pt x="5400" y="16875"/>
                </a:cubicBezTo>
                <a:close/>
                <a:moveTo>
                  <a:pt x="9450" y="16875"/>
                </a:moveTo>
                <a:cubicBezTo>
                  <a:pt x="9450" y="16314"/>
                  <a:pt x="9811" y="15863"/>
                  <a:pt x="10260" y="15863"/>
                </a:cubicBezTo>
                <a:lnTo>
                  <a:pt x="11340" y="15863"/>
                </a:lnTo>
                <a:cubicBezTo>
                  <a:pt x="11789" y="15863"/>
                  <a:pt x="12150" y="16314"/>
                  <a:pt x="12150" y="16875"/>
                </a:cubicBezTo>
                <a:cubicBezTo>
                  <a:pt x="12150" y="17436"/>
                  <a:pt x="11789" y="17887"/>
                  <a:pt x="11340" y="17887"/>
                </a:cubicBezTo>
                <a:lnTo>
                  <a:pt x="10260" y="17887"/>
                </a:lnTo>
                <a:cubicBezTo>
                  <a:pt x="9811" y="17887"/>
                  <a:pt x="9450" y="17436"/>
                  <a:pt x="9450" y="16875"/>
                </a:cubicBezTo>
                <a:close/>
                <a:moveTo>
                  <a:pt x="13500" y="16875"/>
                </a:moveTo>
                <a:cubicBezTo>
                  <a:pt x="13500" y="16314"/>
                  <a:pt x="13861" y="15863"/>
                  <a:pt x="14310" y="15863"/>
                </a:cubicBezTo>
                <a:lnTo>
                  <a:pt x="15390" y="15863"/>
                </a:lnTo>
                <a:cubicBezTo>
                  <a:pt x="15839" y="15863"/>
                  <a:pt x="16200" y="16314"/>
                  <a:pt x="16200" y="16875"/>
                </a:cubicBezTo>
                <a:cubicBezTo>
                  <a:pt x="16200" y="17436"/>
                  <a:pt x="15839" y="17887"/>
                  <a:pt x="15390" y="17887"/>
                </a:cubicBezTo>
                <a:lnTo>
                  <a:pt x="14310" y="17887"/>
                </a:lnTo>
                <a:cubicBezTo>
                  <a:pt x="13861" y="17887"/>
                  <a:pt x="13500" y="17436"/>
                  <a:pt x="13500" y="16875"/>
                </a:cubicBezTo>
                <a:close/>
                <a:moveTo>
                  <a:pt x="7560" y="8775"/>
                </a:moveTo>
                <a:cubicBezTo>
                  <a:pt x="8454" y="8775"/>
                  <a:pt x="9180" y="9682"/>
                  <a:pt x="9180" y="10800"/>
                </a:cubicBezTo>
                <a:cubicBezTo>
                  <a:pt x="9180" y="11917"/>
                  <a:pt x="8454" y="12825"/>
                  <a:pt x="7560" y="12825"/>
                </a:cubicBezTo>
                <a:cubicBezTo>
                  <a:pt x="6666" y="12825"/>
                  <a:pt x="5940" y="11917"/>
                  <a:pt x="5940" y="10800"/>
                </a:cubicBezTo>
                <a:cubicBezTo>
                  <a:pt x="5940" y="9682"/>
                  <a:pt x="6666" y="8775"/>
                  <a:pt x="7560" y="8775"/>
                </a:cubicBezTo>
                <a:close/>
                <a:moveTo>
                  <a:pt x="12420" y="10800"/>
                </a:moveTo>
                <a:cubicBezTo>
                  <a:pt x="12420" y="9682"/>
                  <a:pt x="13146" y="8775"/>
                  <a:pt x="14040" y="8775"/>
                </a:cubicBezTo>
                <a:cubicBezTo>
                  <a:pt x="14934" y="8775"/>
                  <a:pt x="15660" y="9682"/>
                  <a:pt x="15660" y="10800"/>
                </a:cubicBezTo>
                <a:cubicBezTo>
                  <a:pt x="15660" y="11917"/>
                  <a:pt x="14934" y="12825"/>
                  <a:pt x="14040" y="12825"/>
                </a:cubicBezTo>
                <a:cubicBezTo>
                  <a:pt x="13146" y="12825"/>
                  <a:pt x="12420" y="11917"/>
                  <a:pt x="12420" y="10800"/>
                </a:cubicBezTo>
                <a:close/>
                <a:moveTo>
                  <a:pt x="2160" y="10800"/>
                </a:moveTo>
                <a:cubicBezTo>
                  <a:pt x="2160" y="10053"/>
                  <a:pt x="1677" y="9450"/>
                  <a:pt x="1080" y="9450"/>
                </a:cubicBezTo>
                <a:cubicBezTo>
                  <a:pt x="483" y="9450"/>
                  <a:pt x="0" y="10053"/>
                  <a:pt x="0" y="10800"/>
                </a:cubicBezTo>
                <a:lnTo>
                  <a:pt x="0" y="14850"/>
                </a:lnTo>
                <a:cubicBezTo>
                  <a:pt x="0" y="15597"/>
                  <a:pt x="483" y="16200"/>
                  <a:pt x="1080" y="16200"/>
                </a:cubicBezTo>
                <a:cubicBezTo>
                  <a:pt x="1677" y="16200"/>
                  <a:pt x="2160" y="15597"/>
                  <a:pt x="2160" y="14850"/>
                </a:cubicBezTo>
                <a:lnTo>
                  <a:pt x="2160" y="10800"/>
                </a:lnTo>
                <a:close/>
                <a:moveTo>
                  <a:pt x="20520" y="9450"/>
                </a:moveTo>
                <a:cubicBezTo>
                  <a:pt x="19923" y="9450"/>
                  <a:pt x="19440" y="10053"/>
                  <a:pt x="19440" y="10800"/>
                </a:cubicBezTo>
                <a:lnTo>
                  <a:pt x="19440" y="14850"/>
                </a:lnTo>
                <a:cubicBezTo>
                  <a:pt x="19440" y="15597"/>
                  <a:pt x="19923" y="16200"/>
                  <a:pt x="20520" y="16200"/>
                </a:cubicBezTo>
                <a:cubicBezTo>
                  <a:pt x="21117" y="16200"/>
                  <a:pt x="21600" y="15597"/>
                  <a:pt x="21600" y="14850"/>
                </a:cubicBezTo>
                <a:lnTo>
                  <a:pt x="21600" y="10800"/>
                </a:lnTo>
                <a:cubicBezTo>
                  <a:pt x="21600" y="10053"/>
                  <a:pt x="21117" y="9450"/>
                  <a:pt x="20520" y="945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42"/>
          <p:cNvSpPr txBox="1"/>
          <p:nvPr/>
        </p:nvSpPr>
        <p:spPr>
          <a:xfrm>
            <a:off x="4835499" y="5143022"/>
            <a:ext cx="281940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Requires AI/ML for extraction</a:t>
            </a:r>
          </a:p>
        </p:txBody>
      </p:sp>
      <p:sp>
        <p:nvSpPr>
          <p:cNvPr id="79" name="Shape 43"/>
          <p:cNvSpPr/>
          <p:nvPr/>
        </p:nvSpPr>
        <p:spPr>
          <a:xfrm>
            <a:off x="8132712" y="1566862"/>
            <a:ext cx="3676651" cy="4905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5" y="0"/>
                </a:moveTo>
                <a:lnTo>
                  <a:pt x="20705" y="0"/>
                </a:lnTo>
                <a:cubicBezTo>
                  <a:pt x="21199" y="0"/>
                  <a:pt x="21600" y="301"/>
                  <a:pt x="21600" y="671"/>
                </a:cubicBezTo>
                <a:lnTo>
                  <a:pt x="21600" y="20929"/>
                </a:lnTo>
                <a:cubicBezTo>
                  <a:pt x="21600" y="21299"/>
                  <a:pt x="21199" y="21600"/>
                  <a:pt x="20705" y="21600"/>
                </a:cubicBezTo>
                <a:lnTo>
                  <a:pt x="895" y="21600"/>
                </a:lnTo>
                <a:cubicBezTo>
                  <a:pt x="401" y="21600"/>
                  <a:pt x="0" y="21299"/>
                  <a:pt x="0" y="20929"/>
                </a:cubicBezTo>
                <a:lnTo>
                  <a:pt x="0" y="671"/>
                </a:lnTo>
                <a:cubicBezTo>
                  <a:pt x="0" y="301"/>
                  <a:pt x="401" y="0"/>
                  <a:pt x="8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Shape 44"/>
          <p:cNvSpPr/>
          <p:nvPr/>
        </p:nvSpPr>
        <p:spPr>
          <a:xfrm>
            <a:off x="8366074" y="1800225"/>
            <a:ext cx="533401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45"/>
          <p:cNvSpPr/>
          <p:nvPr/>
        </p:nvSpPr>
        <p:spPr>
          <a:xfrm>
            <a:off x="8504199" y="1952600"/>
            <a:ext cx="257199" cy="2286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8" h="21297" fill="norm" stroke="1" extrusionOk="0">
                <a:moveTo>
                  <a:pt x="13383" y="52"/>
                </a:moveTo>
                <a:cubicBezTo>
                  <a:pt x="12752" y="-152"/>
                  <a:pt x="12095" y="260"/>
                  <a:pt x="11914" y="967"/>
                </a:cubicBezTo>
                <a:lnTo>
                  <a:pt x="7166" y="19597"/>
                </a:lnTo>
                <a:cubicBezTo>
                  <a:pt x="6984" y="20304"/>
                  <a:pt x="7351" y="21040"/>
                  <a:pt x="7982" y="21244"/>
                </a:cubicBezTo>
                <a:cubicBezTo>
                  <a:pt x="8612" y="21448"/>
                  <a:pt x="9269" y="21036"/>
                  <a:pt x="9451" y="20329"/>
                </a:cubicBezTo>
                <a:lnTo>
                  <a:pt x="14199" y="1699"/>
                </a:lnTo>
                <a:cubicBezTo>
                  <a:pt x="14380" y="992"/>
                  <a:pt x="14013" y="256"/>
                  <a:pt x="13383" y="52"/>
                </a:cubicBezTo>
                <a:close/>
                <a:moveTo>
                  <a:pt x="15779" y="5712"/>
                </a:moveTo>
                <a:cubicBezTo>
                  <a:pt x="15315" y="6231"/>
                  <a:pt x="15315" y="7076"/>
                  <a:pt x="15779" y="7596"/>
                </a:cubicBezTo>
                <a:lnTo>
                  <a:pt x="18502" y="10648"/>
                </a:lnTo>
                <a:lnTo>
                  <a:pt x="15779" y="13700"/>
                </a:lnTo>
                <a:cubicBezTo>
                  <a:pt x="15315" y="14220"/>
                  <a:pt x="15315" y="15065"/>
                  <a:pt x="15779" y="15584"/>
                </a:cubicBezTo>
                <a:cubicBezTo>
                  <a:pt x="16243" y="16104"/>
                  <a:pt x="16996" y="16104"/>
                  <a:pt x="17459" y="15584"/>
                </a:cubicBezTo>
                <a:lnTo>
                  <a:pt x="21020" y="11592"/>
                </a:lnTo>
                <a:cubicBezTo>
                  <a:pt x="21484" y="11072"/>
                  <a:pt x="21484" y="10228"/>
                  <a:pt x="21020" y="9708"/>
                </a:cubicBezTo>
                <a:lnTo>
                  <a:pt x="17459" y="5716"/>
                </a:lnTo>
                <a:cubicBezTo>
                  <a:pt x="16996" y="5196"/>
                  <a:pt x="16243" y="5196"/>
                  <a:pt x="15779" y="5716"/>
                </a:cubicBezTo>
                <a:close/>
                <a:moveTo>
                  <a:pt x="5589" y="5712"/>
                </a:moveTo>
                <a:cubicBezTo>
                  <a:pt x="5125" y="5192"/>
                  <a:pt x="4372" y="5192"/>
                  <a:pt x="3909" y="5712"/>
                </a:cubicBezTo>
                <a:lnTo>
                  <a:pt x="348" y="9704"/>
                </a:lnTo>
                <a:cubicBezTo>
                  <a:pt x="-116" y="10224"/>
                  <a:pt x="-116" y="11068"/>
                  <a:pt x="348" y="11588"/>
                </a:cubicBezTo>
                <a:lnTo>
                  <a:pt x="3909" y="15580"/>
                </a:lnTo>
                <a:cubicBezTo>
                  <a:pt x="4372" y="16100"/>
                  <a:pt x="5125" y="16100"/>
                  <a:pt x="5589" y="15580"/>
                </a:cubicBezTo>
                <a:cubicBezTo>
                  <a:pt x="6053" y="15060"/>
                  <a:pt x="6053" y="14216"/>
                  <a:pt x="5589" y="13696"/>
                </a:cubicBezTo>
                <a:lnTo>
                  <a:pt x="2866" y="10648"/>
                </a:lnTo>
                <a:lnTo>
                  <a:pt x="5585" y="7596"/>
                </a:lnTo>
                <a:cubicBezTo>
                  <a:pt x="6049" y="7076"/>
                  <a:pt x="6049" y="6231"/>
                  <a:pt x="5585" y="5712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46"/>
          <p:cNvSpPr txBox="1"/>
          <p:nvPr/>
        </p:nvSpPr>
        <p:spPr>
          <a:xfrm>
            <a:off x="9013774" y="1938430"/>
            <a:ext cx="1733551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Semi-structured</a:t>
            </a:r>
          </a:p>
        </p:txBody>
      </p:sp>
      <p:sp>
        <p:nvSpPr>
          <p:cNvPr id="83" name="Shape 47"/>
          <p:cNvSpPr/>
          <p:nvPr/>
        </p:nvSpPr>
        <p:spPr>
          <a:xfrm>
            <a:off x="8366074" y="2486025"/>
            <a:ext cx="3209926" cy="114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230" y="0"/>
                  <a:pt x="513" y="0"/>
                </a:cubicBezTo>
                <a:close/>
              </a:path>
            </a:pathLst>
          </a:custGeom>
          <a:solidFill>
            <a:srgbClr val="E8B4B8">
              <a:alpha val="50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48"/>
          <p:cNvSpPr txBox="1"/>
          <p:nvPr/>
        </p:nvSpPr>
        <p:spPr>
          <a:xfrm>
            <a:off x="8480374" y="2628422"/>
            <a:ext cx="304800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E8B4B8"/>
                </a:solidFill>
              </a:defRPr>
            </a:lvl1pPr>
          </a:lstStyle>
          <a:p>
            <a:pPr/>
            <a:r>
              <a:t>Definition</a:t>
            </a:r>
          </a:p>
        </p:txBody>
      </p:sp>
      <p:sp>
        <p:nvSpPr>
          <p:cNvPr id="85" name="Text 49"/>
          <p:cNvSpPr txBox="1"/>
          <p:nvPr/>
        </p:nvSpPr>
        <p:spPr>
          <a:xfrm>
            <a:off x="8480374" y="2956958"/>
            <a:ext cx="3057526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Data with organizational markers but no rigid schema, offering flexibility with some structure</a:t>
            </a:r>
          </a:p>
        </p:txBody>
      </p:sp>
      <p:sp>
        <p:nvSpPr>
          <p:cNvPr id="86" name="Shape 50"/>
          <p:cNvSpPr/>
          <p:nvPr/>
        </p:nvSpPr>
        <p:spPr>
          <a:xfrm>
            <a:off x="8366074" y="3743325"/>
            <a:ext cx="3209926" cy="781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943"/>
                  <a:pt x="21600" y="2107"/>
                </a:cubicBezTo>
                <a:lnTo>
                  <a:pt x="21600" y="19493"/>
                </a:lnTo>
                <a:cubicBezTo>
                  <a:pt x="21600" y="20657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20657"/>
                  <a:pt x="0" y="19493"/>
                </a:cubicBezTo>
                <a:lnTo>
                  <a:pt x="0" y="2107"/>
                </a:lnTo>
                <a:cubicBezTo>
                  <a:pt x="0" y="944"/>
                  <a:pt x="230" y="0"/>
                  <a:pt x="51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51"/>
          <p:cNvSpPr txBox="1"/>
          <p:nvPr/>
        </p:nvSpPr>
        <p:spPr>
          <a:xfrm>
            <a:off x="8480374" y="3885722"/>
            <a:ext cx="304800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3D3D3D"/>
                </a:solidFill>
              </a:defRPr>
            </a:lvl1pPr>
          </a:lstStyle>
          <a:p>
            <a:pPr/>
            <a:r>
              <a:t>Examples</a:t>
            </a:r>
          </a:p>
        </p:txBody>
      </p:sp>
      <p:sp>
        <p:nvSpPr>
          <p:cNvPr id="88" name="Shape 52"/>
          <p:cNvSpPr/>
          <p:nvPr/>
        </p:nvSpPr>
        <p:spPr>
          <a:xfrm>
            <a:off x="8485137" y="4129087"/>
            <a:ext cx="5429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95" y="0"/>
                </a:moveTo>
                <a:lnTo>
                  <a:pt x="16105" y="0"/>
                </a:lnTo>
                <a:cubicBezTo>
                  <a:pt x="19138" y="0"/>
                  <a:pt x="21600" y="4839"/>
                  <a:pt x="21600" y="10800"/>
                </a:cubicBezTo>
                <a:cubicBezTo>
                  <a:pt x="21600" y="16761"/>
                  <a:pt x="19138" y="21600"/>
                  <a:pt x="16105" y="21600"/>
                </a:cubicBezTo>
                <a:lnTo>
                  <a:pt x="5495" y="21600"/>
                </a:lnTo>
                <a:cubicBezTo>
                  <a:pt x="2462" y="21600"/>
                  <a:pt x="0" y="16761"/>
                  <a:pt x="0" y="10800"/>
                </a:cubicBezTo>
                <a:cubicBezTo>
                  <a:pt x="0" y="4839"/>
                  <a:pt x="2462" y="0"/>
                  <a:pt x="54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53"/>
          <p:cNvSpPr txBox="1"/>
          <p:nvPr/>
        </p:nvSpPr>
        <p:spPr>
          <a:xfrm>
            <a:off x="8556574" y="4152422"/>
            <a:ext cx="4476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JSON</a:t>
            </a:r>
          </a:p>
        </p:txBody>
      </p:sp>
      <p:sp>
        <p:nvSpPr>
          <p:cNvPr id="90" name="Shape 54"/>
          <p:cNvSpPr/>
          <p:nvPr/>
        </p:nvSpPr>
        <p:spPr>
          <a:xfrm>
            <a:off x="9113490" y="4129087"/>
            <a:ext cx="5048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909" y="0"/>
                </a:moveTo>
                <a:lnTo>
                  <a:pt x="15691" y="0"/>
                </a:lnTo>
                <a:cubicBezTo>
                  <a:pt x="18952" y="0"/>
                  <a:pt x="21600" y="4839"/>
                  <a:pt x="21600" y="10800"/>
                </a:cubicBezTo>
                <a:cubicBezTo>
                  <a:pt x="21600" y="16761"/>
                  <a:pt x="18952" y="21600"/>
                  <a:pt x="15691" y="21600"/>
                </a:cubicBezTo>
                <a:lnTo>
                  <a:pt x="5909" y="21600"/>
                </a:lnTo>
                <a:cubicBezTo>
                  <a:pt x="2648" y="21600"/>
                  <a:pt x="0" y="16761"/>
                  <a:pt x="0" y="10800"/>
                </a:cubicBezTo>
                <a:cubicBezTo>
                  <a:pt x="0" y="4839"/>
                  <a:pt x="2648" y="0"/>
                  <a:pt x="59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55"/>
          <p:cNvSpPr txBox="1"/>
          <p:nvPr/>
        </p:nvSpPr>
        <p:spPr>
          <a:xfrm>
            <a:off x="9184927" y="4152422"/>
            <a:ext cx="4095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XML</a:t>
            </a:r>
          </a:p>
        </p:txBody>
      </p:sp>
      <p:sp>
        <p:nvSpPr>
          <p:cNvPr id="92" name="Shape 56"/>
          <p:cNvSpPr/>
          <p:nvPr/>
        </p:nvSpPr>
        <p:spPr>
          <a:xfrm>
            <a:off x="9700766" y="4129087"/>
            <a:ext cx="647701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06" y="0"/>
                </a:moveTo>
                <a:lnTo>
                  <a:pt x="16994" y="0"/>
                </a:lnTo>
                <a:cubicBezTo>
                  <a:pt x="19536" y="0"/>
                  <a:pt x="21600" y="4839"/>
                  <a:pt x="21600" y="10800"/>
                </a:cubicBezTo>
                <a:cubicBezTo>
                  <a:pt x="21600" y="16761"/>
                  <a:pt x="19536" y="21600"/>
                  <a:pt x="16994" y="21600"/>
                </a:cubicBezTo>
                <a:lnTo>
                  <a:pt x="4606" y="21600"/>
                </a:lnTo>
                <a:cubicBezTo>
                  <a:pt x="2064" y="21600"/>
                  <a:pt x="0" y="16761"/>
                  <a:pt x="0" y="10800"/>
                </a:cubicBezTo>
                <a:cubicBezTo>
                  <a:pt x="0" y="4839"/>
                  <a:pt x="2064" y="0"/>
                  <a:pt x="4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57"/>
          <p:cNvSpPr txBox="1"/>
          <p:nvPr/>
        </p:nvSpPr>
        <p:spPr>
          <a:xfrm>
            <a:off x="9772204" y="4152422"/>
            <a:ext cx="55245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NoSQL</a:t>
            </a:r>
          </a:p>
        </p:txBody>
      </p:sp>
      <p:sp>
        <p:nvSpPr>
          <p:cNvPr id="94" name="Shape 58"/>
          <p:cNvSpPr/>
          <p:nvPr/>
        </p:nvSpPr>
        <p:spPr>
          <a:xfrm>
            <a:off x="10432852" y="4129087"/>
            <a:ext cx="733426" cy="276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8" y="0"/>
                </a:moveTo>
                <a:lnTo>
                  <a:pt x="17532" y="0"/>
                </a:lnTo>
                <a:cubicBezTo>
                  <a:pt x="19777" y="0"/>
                  <a:pt x="21600" y="4839"/>
                  <a:pt x="21600" y="10800"/>
                </a:cubicBezTo>
                <a:cubicBezTo>
                  <a:pt x="21600" y="16761"/>
                  <a:pt x="19777" y="21600"/>
                  <a:pt x="17532" y="21600"/>
                </a:cubicBezTo>
                <a:lnTo>
                  <a:pt x="4068" y="21600"/>
                </a:lnTo>
                <a:cubicBezTo>
                  <a:pt x="1823" y="21600"/>
                  <a:pt x="0" y="16761"/>
                  <a:pt x="0" y="10800"/>
                </a:cubicBezTo>
                <a:cubicBezTo>
                  <a:pt x="0" y="4839"/>
                  <a:pt x="1823" y="0"/>
                  <a:pt x="40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59"/>
          <p:cNvSpPr txBox="1"/>
          <p:nvPr/>
        </p:nvSpPr>
        <p:spPr>
          <a:xfrm>
            <a:off x="10504289" y="4152422"/>
            <a:ext cx="6381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Log Files</a:t>
            </a:r>
          </a:p>
        </p:txBody>
      </p:sp>
      <p:sp>
        <p:nvSpPr>
          <p:cNvPr id="96" name="Shape 60"/>
          <p:cNvSpPr/>
          <p:nvPr/>
        </p:nvSpPr>
        <p:spPr>
          <a:xfrm>
            <a:off x="8366074" y="4638675"/>
            <a:ext cx="3209926" cy="419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3" y="0"/>
                </a:moveTo>
                <a:lnTo>
                  <a:pt x="21087" y="0"/>
                </a:lnTo>
                <a:cubicBezTo>
                  <a:pt x="21370" y="0"/>
                  <a:pt x="21600" y="1758"/>
                  <a:pt x="21600" y="3927"/>
                </a:cubicBezTo>
                <a:lnTo>
                  <a:pt x="21600" y="17673"/>
                </a:lnTo>
                <a:cubicBezTo>
                  <a:pt x="21600" y="19842"/>
                  <a:pt x="21370" y="21600"/>
                  <a:pt x="21087" y="21600"/>
                </a:cubicBezTo>
                <a:lnTo>
                  <a:pt x="513" y="21600"/>
                </a:lnTo>
                <a:cubicBezTo>
                  <a:pt x="230" y="21600"/>
                  <a:pt x="0" y="19842"/>
                  <a:pt x="0" y="17673"/>
                </a:cubicBezTo>
                <a:lnTo>
                  <a:pt x="0" y="3927"/>
                </a:lnTo>
                <a:cubicBezTo>
                  <a:pt x="0" y="1760"/>
                  <a:pt x="230" y="0"/>
                  <a:pt x="513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61"/>
          <p:cNvSpPr/>
          <p:nvPr/>
        </p:nvSpPr>
        <p:spPr>
          <a:xfrm>
            <a:off x="8499405" y="4776773"/>
            <a:ext cx="133389" cy="1333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388" fill="norm" stroke="1" extrusionOk="0">
                <a:moveTo>
                  <a:pt x="20945" y="6292"/>
                </a:moveTo>
                <a:lnTo>
                  <a:pt x="16945" y="10301"/>
                </a:lnTo>
                <a:cubicBezTo>
                  <a:pt x="16562" y="10686"/>
                  <a:pt x="15991" y="10798"/>
                  <a:pt x="15491" y="10590"/>
                </a:cubicBezTo>
                <a:cubicBezTo>
                  <a:pt x="14991" y="10381"/>
                  <a:pt x="14670" y="9896"/>
                  <a:pt x="14670" y="9358"/>
                </a:cubicBezTo>
                <a:lnTo>
                  <a:pt x="14670" y="6685"/>
                </a:lnTo>
                <a:lnTo>
                  <a:pt x="1337" y="6685"/>
                </a:lnTo>
                <a:cubicBezTo>
                  <a:pt x="599" y="6685"/>
                  <a:pt x="3" y="6087"/>
                  <a:pt x="3" y="5348"/>
                </a:cubicBezTo>
                <a:cubicBezTo>
                  <a:pt x="3" y="4609"/>
                  <a:pt x="599" y="4012"/>
                  <a:pt x="1337" y="4012"/>
                </a:cubicBezTo>
                <a:lnTo>
                  <a:pt x="14670" y="4012"/>
                </a:lnTo>
                <a:lnTo>
                  <a:pt x="14670" y="1339"/>
                </a:lnTo>
                <a:cubicBezTo>
                  <a:pt x="14670" y="800"/>
                  <a:pt x="14995" y="312"/>
                  <a:pt x="15495" y="103"/>
                </a:cubicBezTo>
                <a:cubicBezTo>
                  <a:pt x="15995" y="-106"/>
                  <a:pt x="16566" y="11"/>
                  <a:pt x="16949" y="391"/>
                </a:cubicBezTo>
                <a:lnTo>
                  <a:pt x="20949" y="4400"/>
                </a:lnTo>
                <a:cubicBezTo>
                  <a:pt x="21470" y="4922"/>
                  <a:pt x="21470" y="5770"/>
                  <a:pt x="20949" y="6292"/>
                </a:cubicBezTo>
                <a:close/>
                <a:moveTo>
                  <a:pt x="4391" y="20993"/>
                </a:moveTo>
                <a:lnTo>
                  <a:pt x="391" y="16984"/>
                </a:lnTo>
                <a:cubicBezTo>
                  <a:pt x="-130" y="16462"/>
                  <a:pt x="-130" y="15614"/>
                  <a:pt x="391" y="15092"/>
                </a:cubicBezTo>
                <a:lnTo>
                  <a:pt x="4391" y="11082"/>
                </a:lnTo>
                <a:cubicBezTo>
                  <a:pt x="4774" y="10698"/>
                  <a:pt x="5345" y="10585"/>
                  <a:pt x="5845" y="10794"/>
                </a:cubicBezTo>
                <a:cubicBezTo>
                  <a:pt x="6345" y="11003"/>
                  <a:pt x="6670" y="11492"/>
                  <a:pt x="6670" y="12030"/>
                </a:cubicBezTo>
                <a:lnTo>
                  <a:pt x="6670" y="14703"/>
                </a:lnTo>
                <a:lnTo>
                  <a:pt x="20003" y="14703"/>
                </a:lnTo>
                <a:cubicBezTo>
                  <a:pt x="20741" y="14703"/>
                  <a:pt x="21337" y="15301"/>
                  <a:pt x="21337" y="16040"/>
                </a:cubicBezTo>
                <a:cubicBezTo>
                  <a:pt x="21337" y="16779"/>
                  <a:pt x="20741" y="17376"/>
                  <a:pt x="20003" y="17376"/>
                </a:cubicBezTo>
                <a:lnTo>
                  <a:pt x="6670" y="17376"/>
                </a:lnTo>
                <a:lnTo>
                  <a:pt x="6670" y="20049"/>
                </a:lnTo>
                <a:cubicBezTo>
                  <a:pt x="6670" y="20588"/>
                  <a:pt x="6345" y="21076"/>
                  <a:pt x="5845" y="21285"/>
                </a:cubicBezTo>
                <a:cubicBezTo>
                  <a:pt x="5345" y="21494"/>
                  <a:pt x="4774" y="21377"/>
                  <a:pt x="4391" y="20997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62"/>
          <p:cNvSpPr txBox="1"/>
          <p:nvPr/>
        </p:nvSpPr>
        <p:spPr>
          <a:xfrm>
            <a:off x="8708974" y="4781072"/>
            <a:ext cx="281940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Ideal for evolving schemas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hape 1"/>
          <p:cNvSpPr/>
          <p:nvPr/>
        </p:nvSpPr>
        <p:spPr>
          <a:xfrm>
            <a:off x="514350" y="583406"/>
            <a:ext cx="190500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1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1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3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3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1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"/>
          <p:cNvSpPr txBox="1"/>
          <p:nvPr/>
        </p:nvSpPr>
        <p:spPr>
          <a:xfrm>
            <a:off x="952500" y="409097"/>
            <a:ext cx="255270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52" sz="1000">
                <a:solidFill>
                  <a:srgbClr val="B8A9C9"/>
                </a:solidFill>
              </a:defRPr>
            </a:lvl1pPr>
          </a:lstStyle>
          <a:p>
            <a:pPr/>
            <a:r>
              <a:t>Pattern Discovery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952500" y="572433"/>
            <a:ext cx="2657475" cy="379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700">
                <a:solidFill>
                  <a:srgbClr val="3D3D3D"/>
                </a:solidFill>
              </a:defRPr>
            </a:lvl1pPr>
          </a:lstStyle>
          <a:p>
            <a:pPr/>
            <a:r>
              <a:t>Kinds of Patterns</a:t>
            </a:r>
          </a:p>
        </p:txBody>
      </p:sp>
      <p:sp>
        <p:nvSpPr>
          <p:cNvPr id="104" name="Text 4"/>
          <p:cNvSpPr txBox="1"/>
          <p:nvPr/>
        </p:nvSpPr>
        <p:spPr>
          <a:xfrm>
            <a:off x="952500" y="1102056"/>
            <a:ext cx="10944225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Different pattern types reveal unique insights from data mining processes</a:t>
            </a:r>
          </a:p>
        </p:txBody>
      </p:sp>
      <p:sp>
        <p:nvSpPr>
          <p:cNvPr id="105" name="Shape 5"/>
          <p:cNvSpPr/>
          <p:nvPr/>
        </p:nvSpPr>
        <p:spPr>
          <a:xfrm>
            <a:off x="400050" y="1524000"/>
            <a:ext cx="5600700" cy="243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7" y="0"/>
                </a:moveTo>
                <a:lnTo>
                  <a:pt x="21012" y="0"/>
                </a:lnTo>
                <a:cubicBezTo>
                  <a:pt x="21337" y="0"/>
                  <a:pt x="21600" y="605"/>
                  <a:pt x="21600" y="1350"/>
                </a:cubicBezTo>
                <a:lnTo>
                  <a:pt x="21600" y="20250"/>
                </a:lnTo>
                <a:cubicBezTo>
                  <a:pt x="21600" y="20995"/>
                  <a:pt x="21337" y="21600"/>
                  <a:pt x="21012" y="21600"/>
                </a:cubicBezTo>
                <a:lnTo>
                  <a:pt x="147" y="21600"/>
                </a:lnTo>
                <a:cubicBezTo>
                  <a:pt x="66" y="21600"/>
                  <a:pt x="0" y="21449"/>
                  <a:pt x="0" y="21262"/>
                </a:cubicBezTo>
                <a:lnTo>
                  <a:pt x="0" y="338"/>
                </a:lnTo>
                <a:cubicBezTo>
                  <a:pt x="0" y="151"/>
                  <a:pt x="66" y="0"/>
                  <a:pt x="14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Shape 6"/>
          <p:cNvSpPr/>
          <p:nvPr/>
        </p:nvSpPr>
        <p:spPr>
          <a:xfrm>
            <a:off x="400050" y="1524000"/>
            <a:ext cx="38100" cy="243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449"/>
                  <a:pt x="0" y="21262"/>
                </a:cubicBezTo>
                <a:lnTo>
                  <a:pt x="0" y="338"/>
                </a:lnTo>
                <a:cubicBezTo>
                  <a:pt x="0" y="151"/>
                  <a:pt x="9679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7"/>
          <p:cNvSpPr/>
          <p:nvPr/>
        </p:nvSpPr>
        <p:spPr>
          <a:xfrm>
            <a:off x="609600" y="171450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8"/>
          <p:cNvSpPr/>
          <p:nvPr/>
        </p:nvSpPr>
        <p:spPr>
          <a:xfrm>
            <a:off x="731043" y="1859756"/>
            <a:ext cx="214314" cy="166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31" y="3084"/>
                </a:moveTo>
                <a:cubicBezTo>
                  <a:pt x="15109" y="3084"/>
                  <a:pt x="14505" y="3301"/>
                  <a:pt x="13976" y="3696"/>
                </a:cubicBezTo>
                <a:cubicBezTo>
                  <a:pt x="13384" y="2925"/>
                  <a:pt x="12694" y="2280"/>
                  <a:pt x="11932" y="1793"/>
                </a:cubicBezTo>
                <a:cubicBezTo>
                  <a:pt x="12990" y="636"/>
                  <a:pt x="14336" y="0"/>
                  <a:pt x="15731" y="0"/>
                </a:cubicBezTo>
                <a:cubicBezTo>
                  <a:pt x="18971" y="0"/>
                  <a:pt x="21600" y="3374"/>
                  <a:pt x="21600" y="7542"/>
                </a:cubicBezTo>
                <a:cubicBezTo>
                  <a:pt x="21600" y="9542"/>
                  <a:pt x="20981" y="11460"/>
                  <a:pt x="19882" y="12872"/>
                </a:cubicBezTo>
                <a:lnTo>
                  <a:pt x="17216" y="16299"/>
                </a:lnTo>
                <a:cubicBezTo>
                  <a:pt x="16117" y="17711"/>
                  <a:pt x="14625" y="18506"/>
                  <a:pt x="13069" y="18506"/>
                </a:cubicBezTo>
                <a:cubicBezTo>
                  <a:pt x="9829" y="18506"/>
                  <a:pt x="7200" y="15133"/>
                  <a:pt x="7200" y="10964"/>
                </a:cubicBezTo>
                <a:cubicBezTo>
                  <a:pt x="7200" y="10892"/>
                  <a:pt x="7200" y="10819"/>
                  <a:pt x="7204" y="10747"/>
                </a:cubicBezTo>
                <a:cubicBezTo>
                  <a:pt x="7223" y="9894"/>
                  <a:pt x="7774" y="9224"/>
                  <a:pt x="8437" y="9248"/>
                </a:cubicBezTo>
                <a:cubicBezTo>
                  <a:pt x="9101" y="9272"/>
                  <a:pt x="9622" y="9981"/>
                  <a:pt x="9604" y="10834"/>
                </a:cubicBezTo>
                <a:cubicBezTo>
                  <a:pt x="9604" y="10877"/>
                  <a:pt x="9604" y="10920"/>
                  <a:pt x="9604" y="10959"/>
                </a:cubicBezTo>
                <a:cubicBezTo>
                  <a:pt x="9604" y="13422"/>
                  <a:pt x="11156" y="15417"/>
                  <a:pt x="13072" y="15417"/>
                </a:cubicBezTo>
                <a:cubicBezTo>
                  <a:pt x="13991" y="15417"/>
                  <a:pt x="14872" y="14949"/>
                  <a:pt x="15525" y="14111"/>
                </a:cubicBezTo>
                <a:lnTo>
                  <a:pt x="18191" y="10684"/>
                </a:lnTo>
                <a:cubicBezTo>
                  <a:pt x="18840" y="9851"/>
                  <a:pt x="19207" y="8713"/>
                  <a:pt x="19207" y="7533"/>
                </a:cubicBezTo>
                <a:cubicBezTo>
                  <a:pt x="19207" y="5070"/>
                  <a:pt x="17655" y="3075"/>
                  <a:pt x="15739" y="3075"/>
                </a:cubicBezTo>
                <a:close/>
                <a:moveTo>
                  <a:pt x="10320" y="6810"/>
                </a:moveTo>
                <a:cubicBezTo>
                  <a:pt x="10249" y="6771"/>
                  <a:pt x="10177" y="6718"/>
                  <a:pt x="10114" y="6660"/>
                </a:cubicBezTo>
                <a:cubicBezTo>
                  <a:pt x="9641" y="6347"/>
                  <a:pt x="9101" y="6169"/>
                  <a:pt x="8535" y="6169"/>
                </a:cubicBezTo>
                <a:cubicBezTo>
                  <a:pt x="7616" y="6169"/>
                  <a:pt x="6735" y="6636"/>
                  <a:pt x="6083" y="7475"/>
                </a:cubicBezTo>
                <a:lnTo>
                  <a:pt x="3416" y="10901"/>
                </a:lnTo>
                <a:cubicBezTo>
                  <a:pt x="2768" y="11735"/>
                  <a:pt x="2400" y="12872"/>
                  <a:pt x="2400" y="14053"/>
                </a:cubicBezTo>
                <a:cubicBezTo>
                  <a:pt x="2400" y="16516"/>
                  <a:pt x="3952" y="18511"/>
                  <a:pt x="5869" y="18511"/>
                </a:cubicBezTo>
                <a:cubicBezTo>
                  <a:pt x="6487" y="18511"/>
                  <a:pt x="7091" y="18299"/>
                  <a:pt x="7620" y="17904"/>
                </a:cubicBezTo>
                <a:cubicBezTo>
                  <a:pt x="8212" y="18675"/>
                  <a:pt x="8902" y="19320"/>
                  <a:pt x="9668" y="19807"/>
                </a:cubicBezTo>
                <a:cubicBezTo>
                  <a:pt x="8610" y="20959"/>
                  <a:pt x="7267" y="21600"/>
                  <a:pt x="5869" y="21600"/>
                </a:cubicBezTo>
                <a:cubicBezTo>
                  <a:pt x="2629" y="21600"/>
                  <a:pt x="0" y="18226"/>
                  <a:pt x="0" y="14058"/>
                </a:cubicBezTo>
                <a:cubicBezTo>
                  <a:pt x="0" y="12058"/>
                  <a:pt x="619" y="10140"/>
                  <a:pt x="1718" y="8728"/>
                </a:cubicBezTo>
                <a:lnTo>
                  <a:pt x="4384" y="5301"/>
                </a:lnTo>
                <a:cubicBezTo>
                  <a:pt x="5483" y="3889"/>
                  <a:pt x="6975" y="3094"/>
                  <a:pt x="8531" y="3094"/>
                </a:cubicBezTo>
                <a:cubicBezTo>
                  <a:pt x="11779" y="3094"/>
                  <a:pt x="14400" y="6496"/>
                  <a:pt x="14400" y="10655"/>
                </a:cubicBezTo>
                <a:cubicBezTo>
                  <a:pt x="14400" y="10718"/>
                  <a:pt x="14400" y="10781"/>
                  <a:pt x="14400" y="10843"/>
                </a:cubicBezTo>
                <a:cubicBezTo>
                  <a:pt x="14385" y="11696"/>
                  <a:pt x="13834" y="12366"/>
                  <a:pt x="13170" y="12347"/>
                </a:cubicBezTo>
                <a:cubicBezTo>
                  <a:pt x="12506" y="12328"/>
                  <a:pt x="11985" y="11619"/>
                  <a:pt x="12000" y="10766"/>
                </a:cubicBezTo>
                <a:cubicBezTo>
                  <a:pt x="12000" y="10728"/>
                  <a:pt x="12000" y="10694"/>
                  <a:pt x="12000" y="10655"/>
                </a:cubicBezTo>
                <a:cubicBezTo>
                  <a:pt x="12000" y="9031"/>
                  <a:pt x="11325" y="7605"/>
                  <a:pt x="10320" y="6819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9"/>
          <p:cNvSpPr txBox="1"/>
          <p:nvPr/>
        </p:nvSpPr>
        <p:spPr>
          <a:xfrm>
            <a:off x="1219200" y="1738405"/>
            <a:ext cx="4705350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Association Patterns</a:t>
            </a:r>
          </a:p>
        </p:txBody>
      </p:sp>
      <p:sp>
        <p:nvSpPr>
          <p:cNvPr id="110" name="Text 10"/>
          <p:cNvSpPr txBox="1"/>
          <p:nvPr/>
        </p:nvSpPr>
        <p:spPr>
          <a:xfrm>
            <a:off x="1219200" y="2080981"/>
            <a:ext cx="4667250" cy="44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Discover relationships between items that frequently occur together in transactions</a:t>
            </a:r>
          </a:p>
        </p:txBody>
      </p:sp>
      <p:sp>
        <p:nvSpPr>
          <p:cNvPr id="111" name="Shape 11"/>
          <p:cNvSpPr/>
          <p:nvPr/>
        </p:nvSpPr>
        <p:spPr>
          <a:xfrm>
            <a:off x="609600" y="2667000"/>
            <a:ext cx="5200650" cy="723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16" y="0"/>
                </a:moveTo>
                <a:lnTo>
                  <a:pt x="21284" y="0"/>
                </a:lnTo>
                <a:cubicBezTo>
                  <a:pt x="21458" y="0"/>
                  <a:pt x="21600" y="1019"/>
                  <a:pt x="21600" y="2274"/>
                </a:cubicBezTo>
                <a:lnTo>
                  <a:pt x="21600" y="19326"/>
                </a:lnTo>
                <a:cubicBezTo>
                  <a:pt x="21600" y="20581"/>
                  <a:pt x="21458" y="21600"/>
                  <a:pt x="21284" y="21600"/>
                </a:cubicBezTo>
                <a:lnTo>
                  <a:pt x="316" y="21600"/>
                </a:lnTo>
                <a:cubicBezTo>
                  <a:pt x="142" y="21600"/>
                  <a:pt x="0" y="20581"/>
                  <a:pt x="0" y="19326"/>
                </a:cubicBezTo>
                <a:lnTo>
                  <a:pt x="0" y="2274"/>
                </a:lnTo>
                <a:cubicBezTo>
                  <a:pt x="0" y="1019"/>
                  <a:pt x="142" y="0"/>
                  <a:pt x="31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2"/>
          <p:cNvSpPr txBox="1"/>
          <p:nvPr/>
        </p:nvSpPr>
        <p:spPr>
          <a:xfrm>
            <a:off x="723900" y="2809397"/>
            <a:ext cx="5038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Key Application</a:t>
            </a:r>
          </a:p>
        </p:txBody>
      </p:sp>
      <p:sp>
        <p:nvSpPr>
          <p:cNvPr id="113" name="Text 13"/>
          <p:cNvSpPr txBox="1"/>
          <p:nvPr/>
        </p:nvSpPr>
        <p:spPr>
          <a:xfrm>
            <a:off x="723900" y="3070287"/>
            <a:ext cx="5048250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Market basket analysis: "Customers who buy beer also buy crisps"</a:t>
            </a:r>
          </a:p>
        </p:txBody>
      </p:sp>
      <p:sp>
        <p:nvSpPr>
          <p:cNvPr id="114" name="Shape 14"/>
          <p:cNvSpPr/>
          <p:nvPr/>
        </p:nvSpPr>
        <p:spPr>
          <a:xfrm>
            <a:off x="609600" y="3505200"/>
            <a:ext cx="695325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142" y="0"/>
                </a:moveTo>
                <a:lnTo>
                  <a:pt x="17458" y="0"/>
                </a:lnTo>
                <a:cubicBezTo>
                  <a:pt x="19744" y="0"/>
                  <a:pt x="21600" y="4839"/>
                  <a:pt x="21600" y="10800"/>
                </a:cubicBezTo>
                <a:cubicBezTo>
                  <a:pt x="21600" y="16761"/>
                  <a:pt x="19744" y="21600"/>
                  <a:pt x="17458" y="21600"/>
                </a:cubicBezTo>
                <a:lnTo>
                  <a:pt x="4142" y="21600"/>
                </a:lnTo>
                <a:cubicBezTo>
                  <a:pt x="1856" y="21600"/>
                  <a:pt x="0" y="16761"/>
                  <a:pt x="0" y="10800"/>
                </a:cubicBezTo>
                <a:cubicBezTo>
                  <a:pt x="0" y="4839"/>
                  <a:pt x="1856" y="0"/>
                  <a:pt x="4142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5"/>
          <p:cNvSpPr txBox="1"/>
          <p:nvPr/>
        </p:nvSpPr>
        <p:spPr>
          <a:xfrm>
            <a:off x="685800" y="3533297"/>
            <a:ext cx="609600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B9E89"/>
                </a:solidFill>
              </a:defRPr>
            </a:lvl1pPr>
          </a:lstStyle>
          <a:p>
            <a:pPr/>
            <a:r>
              <a:t>Support</a:t>
            </a:r>
          </a:p>
        </p:txBody>
      </p:sp>
      <p:sp>
        <p:nvSpPr>
          <p:cNvPr id="116" name="Shape 16"/>
          <p:cNvSpPr/>
          <p:nvPr/>
        </p:nvSpPr>
        <p:spPr>
          <a:xfrm>
            <a:off x="1377925" y="3505200"/>
            <a:ext cx="88582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52" y="0"/>
                </a:moveTo>
                <a:lnTo>
                  <a:pt x="18348" y="0"/>
                </a:lnTo>
                <a:cubicBezTo>
                  <a:pt x="20143" y="0"/>
                  <a:pt x="21600" y="4839"/>
                  <a:pt x="21600" y="10800"/>
                </a:cubicBezTo>
                <a:cubicBezTo>
                  <a:pt x="21600" y="16761"/>
                  <a:pt x="20143" y="21600"/>
                  <a:pt x="18348" y="21600"/>
                </a:cubicBezTo>
                <a:lnTo>
                  <a:pt x="3252" y="21600"/>
                </a:lnTo>
                <a:cubicBezTo>
                  <a:pt x="1457" y="21600"/>
                  <a:pt x="0" y="16761"/>
                  <a:pt x="0" y="10800"/>
                </a:cubicBezTo>
                <a:cubicBezTo>
                  <a:pt x="0" y="4839"/>
                  <a:pt x="1457" y="0"/>
                  <a:pt x="3252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7"/>
          <p:cNvSpPr txBox="1"/>
          <p:nvPr/>
        </p:nvSpPr>
        <p:spPr>
          <a:xfrm>
            <a:off x="1454125" y="3533297"/>
            <a:ext cx="8001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B9E89"/>
                </a:solidFill>
              </a:defRPr>
            </a:lvl1pPr>
          </a:lstStyle>
          <a:p>
            <a:pPr/>
            <a:r>
              <a:t>Confidence</a:t>
            </a:r>
          </a:p>
        </p:txBody>
      </p:sp>
      <p:sp>
        <p:nvSpPr>
          <p:cNvPr id="118" name="Shape 18"/>
          <p:cNvSpPr/>
          <p:nvPr/>
        </p:nvSpPr>
        <p:spPr>
          <a:xfrm>
            <a:off x="2339503" y="3505200"/>
            <a:ext cx="40957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33" y="0"/>
                </a:moveTo>
                <a:lnTo>
                  <a:pt x="14567" y="0"/>
                </a:lnTo>
                <a:cubicBezTo>
                  <a:pt x="18449" y="0"/>
                  <a:pt x="21600" y="4839"/>
                  <a:pt x="21600" y="10800"/>
                </a:cubicBezTo>
                <a:cubicBezTo>
                  <a:pt x="21600" y="16761"/>
                  <a:pt x="18449" y="21600"/>
                  <a:pt x="14567" y="21600"/>
                </a:cubicBezTo>
                <a:lnTo>
                  <a:pt x="7033" y="21600"/>
                </a:lnTo>
                <a:cubicBezTo>
                  <a:pt x="3151" y="21600"/>
                  <a:pt x="0" y="16761"/>
                  <a:pt x="0" y="10800"/>
                </a:cubicBezTo>
                <a:cubicBezTo>
                  <a:pt x="0" y="4839"/>
                  <a:pt x="3151" y="0"/>
                  <a:pt x="7033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9"/>
          <p:cNvSpPr txBox="1"/>
          <p:nvPr/>
        </p:nvSpPr>
        <p:spPr>
          <a:xfrm>
            <a:off x="2415703" y="3533297"/>
            <a:ext cx="32385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B9E89"/>
                </a:solidFill>
              </a:defRPr>
            </a:lvl1pPr>
          </a:lstStyle>
          <a:p>
            <a:pPr/>
            <a:r>
              <a:t>Lift</a:t>
            </a:r>
          </a:p>
        </p:txBody>
      </p:sp>
      <p:sp>
        <p:nvSpPr>
          <p:cNvPr id="120" name="Shape 20"/>
          <p:cNvSpPr/>
          <p:nvPr/>
        </p:nvSpPr>
        <p:spPr>
          <a:xfrm>
            <a:off x="6210300" y="1524000"/>
            <a:ext cx="5600700" cy="243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7" y="0"/>
                </a:moveTo>
                <a:lnTo>
                  <a:pt x="21012" y="0"/>
                </a:lnTo>
                <a:cubicBezTo>
                  <a:pt x="21337" y="0"/>
                  <a:pt x="21600" y="605"/>
                  <a:pt x="21600" y="1350"/>
                </a:cubicBezTo>
                <a:lnTo>
                  <a:pt x="21600" y="20250"/>
                </a:lnTo>
                <a:cubicBezTo>
                  <a:pt x="21600" y="20995"/>
                  <a:pt x="21337" y="21600"/>
                  <a:pt x="21012" y="21600"/>
                </a:cubicBezTo>
                <a:lnTo>
                  <a:pt x="147" y="21600"/>
                </a:lnTo>
                <a:cubicBezTo>
                  <a:pt x="66" y="21600"/>
                  <a:pt x="0" y="21449"/>
                  <a:pt x="0" y="21262"/>
                </a:cubicBezTo>
                <a:lnTo>
                  <a:pt x="0" y="338"/>
                </a:lnTo>
                <a:cubicBezTo>
                  <a:pt x="0" y="151"/>
                  <a:pt x="66" y="0"/>
                  <a:pt x="14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Shape 21"/>
          <p:cNvSpPr/>
          <p:nvPr/>
        </p:nvSpPr>
        <p:spPr>
          <a:xfrm>
            <a:off x="6210300" y="1524000"/>
            <a:ext cx="38100" cy="243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449"/>
                  <a:pt x="0" y="21262"/>
                </a:cubicBezTo>
                <a:lnTo>
                  <a:pt x="0" y="338"/>
                </a:lnTo>
                <a:cubicBezTo>
                  <a:pt x="0" y="151"/>
                  <a:pt x="9679" y="0"/>
                  <a:pt x="2160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22"/>
          <p:cNvSpPr/>
          <p:nvPr/>
        </p:nvSpPr>
        <p:spPr>
          <a:xfrm>
            <a:off x="6419850" y="171450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23"/>
          <p:cNvSpPr/>
          <p:nvPr/>
        </p:nvSpPr>
        <p:spPr>
          <a:xfrm>
            <a:off x="6553236" y="1859756"/>
            <a:ext cx="200203" cy="157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6" h="21364" fill="norm" stroke="1" extrusionOk="0">
                <a:moveTo>
                  <a:pt x="14629" y="358"/>
                </a:moveTo>
                <a:lnTo>
                  <a:pt x="20502" y="7930"/>
                </a:lnTo>
                <a:cubicBezTo>
                  <a:pt x="21600" y="9346"/>
                  <a:pt x="21600" y="11614"/>
                  <a:pt x="20502" y="13029"/>
                </a:cubicBezTo>
                <a:lnTo>
                  <a:pt x="14304" y="21005"/>
                </a:lnTo>
                <a:cubicBezTo>
                  <a:pt x="13935" y="21479"/>
                  <a:pt x="13333" y="21484"/>
                  <a:pt x="12960" y="21015"/>
                </a:cubicBezTo>
                <a:cubicBezTo>
                  <a:pt x="12587" y="20547"/>
                  <a:pt x="12584" y="19781"/>
                  <a:pt x="12952" y="19307"/>
                </a:cubicBezTo>
                <a:lnTo>
                  <a:pt x="19151" y="11326"/>
                </a:lnTo>
                <a:cubicBezTo>
                  <a:pt x="19515" y="10858"/>
                  <a:pt x="19515" y="10097"/>
                  <a:pt x="19151" y="9628"/>
                </a:cubicBezTo>
                <a:lnTo>
                  <a:pt x="13273" y="2061"/>
                </a:lnTo>
                <a:cubicBezTo>
                  <a:pt x="12905" y="1587"/>
                  <a:pt x="12909" y="821"/>
                  <a:pt x="13281" y="353"/>
                </a:cubicBezTo>
                <a:cubicBezTo>
                  <a:pt x="13654" y="-116"/>
                  <a:pt x="14256" y="-111"/>
                  <a:pt x="14625" y="363"/>
                </a:cubicBezTo>
                <a:close/>
                <a:moveTo>
                  <a:pt x="0" y="9951"/>
                </a:moveTo>
                <a:lnTo>
                  <a:pt x="0" y="3225"/>
                </a:lnTo>
                <a:cubicBezTo>
                  <a:pt x="0" y="1446"/>
                  <a:pt x="1138" y="0"/>
                  <a:pt x="2537" y="0"/>
                </a:cubicBezTo>
                <a:lnTo>
                  <a:pt x="7828" y="0"/>
                </a:lnTo>
                <a:cubicBezTo>
                  <a:pt x="8501" y="0"/>
                  <a:pt x="9147" y="338"/>
                  <a:pt x="9623" y="942"/>
                </a:cubicBezTo>
                <a:lnTo>
                  <a:pt x="15330" y="8198"/>
                </a:lnTo>
                <a:cubicBezTo>
                  <a:pt x="16321" y="9457"/>
                  <a:pt x="16321" y="11498"/>
                  <a:pt x="15330" y="12757"/>
                </a:cubicBezTo>
                <a:lnTo>
                  <a:pt x="10039" y="19484"/>
                </a:lnTo>
                <a:cubicBezTo>
                  <a:pt x="9048" y="20743"/>
                  <a:pt x="7443" y="20743"/>
                  <a:pt x="6452" y="19484"/>
                </a:cubicBezTo>
                <a:lnTo>
                  <a:pt x="745" y="12228"/>
                </a:lnTo>
                <a:cubicBezTo>
                  <a:pt x="270" y="11624"/>
                  <a:pt x="4" y="10802"/>
                  <a:pt x="4" y="9946"/>
                </a:cubicBezTo>
                <a:close/>
                <a:moveTo>
                  <a:pt x="5707" y="5643"/>
                </a:moveTo>
                <a:cubicBezTo>
                  <a:pt x="5707" y="4753"/>
                  <a:pt x="5139" y="4031"/>
                  <a:pt x="4439" y="4031"/>
                </a:cubicBezTo>
                <a:cubicBezTo>
                  <a:pt x="3739" y="4031"/>
                  <a:pt x="3171" y="4753"/>
                  <a:pt x="3171" y="5643"/>
                </a:cubicBezTo>
                <a:cubicBezTo>
                  <a:pt x="3171" y="6533"/>
                  <a:pt x="3739" y="7255"/>
                  <a:pt x="4439" y="7255"/>
                </a:cubicBezTo>
                <a:cubicBezTo>
                  <a:pt x="5139" y="7255"/>
                  <a:pt x="5707" y="6533"/>
                  <a:pt x="5707" y="564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24"/>
          <p:cNvSpPr txBox="1"/>
          <p:nvPr/>
        </p:nvSpPr>
        <p:spPr>
          <a:xfrm>
            <a:off x="7029450" y="1738405"/>
            <a:ext cx="4705350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Classification Patterns</a:t>
            </a:r>
          </a:p>
        </p:txBody>
      </p:sp>
      <p:sp>
        <p:nvSpPr>
          <p:cNvPr id="125" name="Text 25"/>
          <p:cNvSpPr txBox="1"/>
          <p:nvPr/>
        </p:nvSpPr>
        <p:spPr>
          <a:xfrm>
            <a:off x="7029450" y="2080981"/>
            <a:ext cx="4667250" cy="44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Assign data items to predefined categories or classes based on their attributes</a:t>
            </a:r>
          </a:p>
        </p:txBody>
      </p:sp>
      <p:sp>
        <p:nvSpPr>
          <p:cNvPr id="126" name="Shape 26"/>
          <p:cNvSpPr/>
          <p:nvPr/>
        </p:nvSpPr>
        <p:spPr>
          <a:xfrm>
            <a:off x="6419850" y="2667000"/>
            <a:ext cx="5200650" cy="723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16" y="0"/>
                </a:moveTo>
                <a:lnTo>
                  <a:pt x="21284" y="0"/>
                </a:lnTo>
                <a:cubicBezTo>
                  <a:pt x="21458" y="0"/>
                  <a:pt x="21600" y="1019"/>
                  <a:pt x="21600" y="2274"/>
                </a:cubicBezTo>
                <a:lnTo>
                  <a:pt x="21600" y="19326"/>
                </a:lnTo>
                <a:cubicBezTo>
                  <a:pt x="21600" y="20581"/>
                  <a:pt x="21458" y="21600"/>
                  <a:pt x="21284" y="21600"/>
                </a:cubicBezTo>
                <a:lnTo>
                  <a:pt x="316" y="21600"/>
                </a:lnTo>
                <a:cubicBezTo>
                  <a:pt x="142" y="21600"/>
                  <a:pt x="0" y="20581"/>
                  <a:pt x="0" y="19326"/>
                </a:cubicBezTo>
                <a:lnTo>
                  <a:pt x="0" y="2274"/>
                </a:lnTo>
                <a:cubicBezTo>
                  <a:pt x="0" y="1019"/>
                  <a:pt x="142" y="0"/>
                  <a:pt x="31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27"/>
          <p:cNvSpPr txBox="1"/>
          <p:nvPr/>
        </p:nvSpPr>
        <p:spPr>
          <a:xfrm>
            <a:off x="6534150" y="2809397"/>
            <a:ext cx="5038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B8A9C9"/>
                </a:solidFill>
              </a:defRPr>
            </a:lvl1pPr>
          </a:lstStyle>
          <a:p>
            <a:pPr/>
            <a:r>
              <a:t>Key Application</a:t>
            </a:r>
          </a:p>
        </p:txBody>
      </p:sp>
      <p:sp>
        <p:nvSpPr>
          <p:cNvPr id="128" name="Text 28"/>
          <p:cNvSpPr txBox="1"/>
          <p:nvPr/>
        </p:nvSpPr>
        <p:spPr>
          <a:xfrm>
            <a:off x="6534150" y="3070287"/>
            <a:ext cx="5048250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Email spam detection, customer churn prediction, medical diagnosis</a:t>
            </a:r>
          </a:p>
        </p:txBody>
      </p:sp>
      <p:sp>
        <p:nvSpPr>
          <p:cNvPr id="129" name="Shape 29"/>
          <p:cNvSpPr/>
          <p:nvPr/>
        </p:nvSpPr>
        <p:spPr>
          <a:xfrm>
            <a:off x="6419850" y="3505200"/>
            <a:ext cx="1076325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76" y="0"/>
                </a:moveTo>
                <a:lnTo>
                  <a:pt x="18924" y="0"/>
                </a:lnTo>
                <a:cubicBezTo>
                  <a:pt x="20401" y="0"/>
                  <a:pt x="21600" y="4839"/>
                  <a:pt x="21600" y="10800"/>
                </a:cubicBezTo>
                <a:cubicBezTo>
                  <a:pt x="21600" y="16761"/>
                  <a:pt x="20401" y="21600"/>
                  <a:pt x="18924" y="21600"/>
                </a:cubicBezTo>
                <a:lnTo>
                  <a:pt x="2676" y="21600"/>
                </a:lnTo>
                <a:cubicBezTo>
                  <a:pt x="1199" y="21600"/>
                  <a:pt x="0" y="16761"/>
                  <a:pt x="0" y="10800"/>
                </a:cubicBezTo>
                <a:cubicBezTo>
                  <a:pt x="0" y="4839"/>
                  <a:pt x="1199" y="0"/>
                  <a:pt x="2676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30"/>
          <p:cNvSpPr txBox="1"/>
          <p:nvPr/>
        </p:nvSpPr>
        <p:spPr>
          <a:xfrm>
            <a:off x="6496050" y="3533297"/>
            <a:ext cx="990600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B8A9C9"/>
                </a:solidFill>
              </a:defRPr>
            </a:lvl1pPr>
          </a:lstStyle>
          <a:p>
            <a:pPr/>
            <a:r>
              <a:t>Decision Trees</a:t>
            </a:r>
          </a:p>
        </p:txBody>
      </p:sp>
      <p:sp>
        <p:nvSpPr>
          <p:cNvPr id="131" name="Shape 31"/>
          <p:cNvSpPr/>
          <p:nvPr/>
        </p:nvSpPr>
        <p:spPr>
          <a:xfrm>
            <a:off x="7568803" y="3505200"/>
            <a:ext cx="92392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118" y="0"/>
                </a:moveTo>
                <a:lnTo>
                  <a:pt x="18482" y="0"/>
                </a:lnTo>
                <a:cubicBezTo>
                  <a:pt x="20203" y="0"/>
                  <a:pt x="21600" y="4839"/>
                  <a:pt x="21600" y="10800"/>
                </a:cubicBezTo>
                <a:cubicBezTo>
                  <a:pt x="21600" y="16761"/>
                  <a:pt x="20203" y="21600"/>
                  <a:pt x="18482" y="21600"/>
                </a:cubicBezTo>
                <a:lnTo>
                  <a:pt x="3118" y="21600"/>
                </a:lnTo>
                <a:cubicBezTo>
                  <a:pt x="1397" y="21600"/>
                  <a:pt x="0" y="16761"/>
                  <a:pt x="0" y="10800"/>
                </a:cubicBezTo>
                <a:cubicBezTo>
                  <a:pt x="0" y="4839"/>
                  <a:pt x="1397" y="0"/>
                  <a:pt x="3118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32"/>
          <p:cNvSpPr txBox="1"/>
          <p:nvPr/>
        </p:nvSpPr>
        <p:spPr>
          <a:xfrm>
            <a:off x="7645003" y="3533297"/>
            <a:ext cx="8382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B8A9C9"/>
                </a:solidFill>
              </a:defRPr>
            </a:lvl1pPr>
          </a:lstStyle>
          <a:p>
            <a:pPr/>
            <a:r>
              <a:t>Naive Bayes</a:t>
            </a:r>
          </a:p>
        </p:txBody>
      </p:sp>
      <p:sp>
        <p:nvSpPr>
          <p:cNvPr id="133" name="Shape 33"/>
          <p:cNvSpPr/>
          <p:nvPr/>
        </p:nvSpPr>
        <p:spPr>
          <a:xfrm>
            <a:off x="8573095" y="3505200"/>
            <a:ext cx="50482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06" y="0"/>
                </a:moveTo>
                <a:lnTo>
                  <a:pt x="15894" y="0"/>
                </a:lnTo>
                <a:cubicBezTo>
                  <a:pt x="19043" y="0"/>
                  <a:pt x="21600" y="4839"/>
                  <a:pt x="21600" y="10800"/>
                </a:cubicBezTo>
                <a:cubicBezTo>
                  <a:pt x="21600" y="16761"/>
                  <a:pt x="19043" y="21600"/>
                  <a:pt x="15894" y="21600"/>
                </a:cubicBezTo>
                <a:lnTo>
                  <a:pt x="5706" y="21600"/>
                </a:lnTo>
                <a:cubicBezTo>
                  <a:pt x="2557" y="21600"/>
                  <a:pt x="0" y="16761"/>
                  <a:pt x="0" y="10800"/>
                </a:cubicBezTo>
                <a:cubicBezTo>
                  <a:pt x="0" y="4839"/>
                  <a:pt x="2557" y="0"/>
                  <a:pt x="5706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34"/>
          <p:cNvSpPr txBox="1"/>
          <p:nvPr/>
        </p:nvSpPr>
        <p:spPr>
          <a:xfrm>
            <a:off x="8649295" y="3533297"/>
            <a:ext cx="4191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B8A9C9"/>
                </a:solidFill>
              </a:defRPr>
            </a:lvl1pPr>
          </a:lstStyle>
          <a:p>
            <a:pPr/>
            <a:r>
              <a:t>SVM</a:t>
            </a:r>
          </a:p>
        </p:txBody>
      </p:sp>
      <p:sp>
        <p:nvSpPr>
          <p:cNvPr id="135" name="Shape 35"/>
          <p:cNvSpPr/>
          <p:nvPr/>
        </p:nvSpPr>
        <p:spPr>
          <a:xfrm>
            <a:off x="400050" y="4152900"/>
            <a:ext cx="5600700" cy="266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7" y="0"/>
                </a:moveTo>
                <a:lnTo>
                  <a:pt x="21012" y="0"/>
                </a:lnTo>
                <a:cubicBezTo>
                  <a:pt x="21337" y="0"/>
                  <a:pt x="21600" y="553"/>
                  <a:pt x="21600" y="1234"/>
                </a:cubicBezTo>
                <a:lnTo>
                  <a:pt x="21600" y="20366"/>
                </a:lnTo>
                <a:cubicBezTo>
                  <a:pt x="21600" y="21047"/>
                  <a:pt x="21337" y="21600"/>
                  <a:pt x="21012" y="21600"/>
                </a:cubicBezTo>
                <a:lnTo>
                  <a:pt x="147" y="21600"/>
                </a:lnTo>
                <a:cubicBezTo>
                  <a:pt x="66" y="21600"/>
                  <a:pt x="0" y="21462"/>
                  <a:pt x="0" y="21291"/>
                </a:cubicBezTo>
                <a:lnTo>
                  <a:pt x="0" y="309"/>
                </a:lnTo>
                <a:cubicBezTo>
                  <a:pt x="0" y="138"/>
                  <a:pt x="66" y="0"/>
                  <a:pt x="14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Shape 36"/>
          <p:cNvSpPr/>
          <p:nvPr/>
        </p:nvSpPr>
        <p:spPr>
          <a:xfrm>
            <a:off x="400050" y="4152900"/>
            <a:ext cx="38100" cy="266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462"/>
                  <a:pt x="0" y="21291"/>
                </a:cubicBezTo>
                <a:lnTo>
                  <a:pt x="0" y="309"/>
                </a:lnTo>
                <a:cubicBezTo>
                  <a:pt x="0" y="138"/>
                  <a:pt x="9679" y="0"/>
                  <a:pt x="2160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37"/>
          <p:cNvSpPr/>
          <p:nvPr/>
        </p:nvSpPr>
        <p:spPr>
          <a:xfrm>
            <a:off x="609600" y="434340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38"/>
          <p:cNvSpPr/>
          <p:nvPr/>
        </p:nvSpPr>
        <p:spPr>
          <a:xfrm>
            <a:off x="731043" y="4476750"/>
            <a:ext cx="214276" cy="190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0" y="5038"/>
                </a:moveTo>
                <a:cubicBezTo>
                  <a:pt x="484" y="4574"/>
                  <a:pt x="0" y="3701"/>
                  <a:pt x="0" y="2700"/>
                </a:cubicBezTo>
                <a:cubicBezTo>
                  <a:pt x="0" y="1211"/>
                  <a:pt x="1076" y="0"/>
                  <a:pt x="2400" y="0"/>
                </a:cubicBezTo>
                <a:cubicBezTo>
                  <a:pt x="3289" y="0"/>
                  <a:pt x="4066" y="544"/>
                  <a:pt x="4478" y="1350"/>
                </a:cubicBezTo>
                <a:lnTo>
                  <a:pt x="17122" y="1350"/>
                </a:lnTo>
                <a:cubicBezTo>
                  <a:pt x="17538" y="544"/>
                  <a:pt x="18311" y="0"/>
                  <a:pt x="19200" y="0"/>
                </a:cubicBezTo>
                <a:cubicBezTo>
                  <a:pt x="20524" y="0"/>
                  <a:pt x="21600" y="1211"/>
                  <a:pt x="21600" y="2700"/>
                </a:cubicBezTo>
                <a:cubicBezTo>
                  <a:pt x="21600" y="3701"/>
                  <a:pt x="21116" y="4574"/>
                  <a:pt x="20400" y="5038"/>
                </a:cubicBezTo>
                <a:lnTo>
                  <a:pt x="20400" y="16562"/>
                </a:lnTo>
                <a:cubicBezTo>
                  <a:pt x="21116" y="17030"/>
                  <a:pt x="21600" y="17899"/>
                  <a:pt x="21600" y="18899"/>
                </a:cubicBezTo>
                <a:cubicBezTo>
                  <a:pt x="21600" y="20389"/>
                  <a:pt x="20524" y="21600"/>
                  <a:pt x="19200" y="21600"/>
                </a:cubicBezTo>
                <a:cubicBezTo>
                  <a:pt x="18311" y="21600"/>
                  <a:pt x="17534" y="21056"/>
                  <a:pt x="17122" y="20250"/>
                </a:cubicBezTo>
                <a:lnTo>
                  <a:pt x="4478" y="20250"/>
                </a:lnTo>
                <a:cubicBezTo>
                  <a:pt x="4062" y="21056"/>
                  <a:pt x="3289" y="21600"/>
                  <a:pt x="2400" y="21600"/>
                </a:cubicBezTo>
                <a:cubicBezTo>
                  <a:pt x="1076" y="21600"/>
                  <a:pt x="0" y="20389"/>
                  <a:pt x="0" y="18899"/>
                </a:cubicBezTo>
                <a:cubicBezTo>
                  <a:pt x="0" y="17899"/>
                  <a:pt x="484" y="17026"/>
                  <a:pt x="1200" y="16562"/>
                </a:cubicBezTo>
                <a:lnTo>
                  <a:pt x="1200" y="5038"/>
                </a:lnTo>
                <a:close/>
                <a:moveTo>
                  <a:pt x="18003" y="5038"/>
                </a:moveTo>
                <a:cubicBezTo>
                  <a:pt x="17639" y="4802"/>
                  <a:pt x="17336" y="4460"/>
                  <a:pt x="17125" y="4051"/>
                </a:cubicBezTo>
                <a:lnTo>
                  <a:pt x="4478" y="4051"/>
                </a:lnTo>
                <a:cubicBezTo>
                  <a:pt x="4268" y="4460"/>
                  <a:pt x="3964" y="4802"/>
                  <a:pt x="3601" y="5038"/>
                </a:cubicBezTo>
                <a:lnTo>
                  <a:pt x="3601" y="16562"/>
                </a:lnTo>
                <a:cubicBezTo>
                  <a:pt x="3964" y="16798"/>
                  <a:pt x="4268" y="17140"/>
                  <a:pt x="4478" y="17549"/>
                </a:cubicBezTo>
                <a:lnTo>
                  <a:pt x="17122" y="17549"/>
                </a:lnTo>
                <a:cubicBezTo>
                  <a:pt x="17332" y="17140"/>
                  <a:pt x="17636" y="16798"/>
                  <a:pt x="17999" y="16562"/>
                </a:cubicBezTo>
                <a:lnTo>
                  <a:pt x="17999" y="5038"/>
                </a:lnTo>
                <a:close/>
                <a:moveTo>
                  <a:pt x="5401" y="7426"/>
                </a:moveTo>
                <a:cubicBezTo>
                  <a:pt x="5401" y="6680"/>
                  <a:pt x="5937" y="6076"/>
                  <a:pt x="6601" y="6076"/>
                </a:cubicBezTo>
                <a:lnTo>
                  <a:pt x="10802" y="6076"/>
                </a:lnTo>
                <a:cubicBezTo>
                  <a:pt x="11466" y="6076"/>
                  <a:pt x="12002" y="6680"/>
                  <a:pt x="12002" y="7426"/>
                </a:cubicBezTo>
                <a:lnTo>
                  <a:pt x="12002" y="10127"/>
                </a:lnTo>
                <a:cubicBezTo>
                  <a:pt x="12002" y="10874"/>
                  <a:pt x="11466" y="11477"/>
                  <a:pt x="10802" y="11477"/>
                </a:cubicBezTo>
                <a:lnTo>
                  <a:pt x="6601" y="11477"/>
                </a:lnTo>
                <a:cubicBezTo>
                  <a:pt x="5937" y="11477"/>
                  <a:pt x="5401" y="10874"/>
                  <a:pt x="5401" y="10127"/>
                </a:cubicBezTo>
                <a:lnTo>
                  <a:pt x="5401" y="7426"/>
                </a:lnTo>
                <a:close/>
                <a:moveTo>
                  <a:pt x="9602" y="13503"/>
                </a:moveTo>
                <a:lnTo>
                  <a:pt x="10802" y="13503"/>
                </a:lnTo>
                <a:cubicBezTo>
                  <a:pt x="12460" y="13503"/>
                  <a:pt x="13802" y="11992"/>
                  <a:pt x="13802" y="10127"/>
                </a:cubicBezTo>
                <a:lnTo>
                  <a:pt x="15003" y="10127"/>
                </a:lnTo>
                <a:cubicBezTo>
                  <a:pt x="15667" y="10127"/>
                  <a:pt x="16203" y="10730"/>
                  <a:pt x="16203" y="11477"/>
                </a:cubicBezTo>
                <a:lnTo>
                  <a:pt x="16203" y="14178"/>
                </a:lnTo>
                <a:cubicBezTo>
                  <a:pt x="16203" y="14925"/>
                  <a:pt x="15667" y="15528"/>
                  <a:pt x="15003" y="15528"/>
                </a:cubicBezTo>
                <a:lnTo>
                  <a:pt x="10802" y="15528"/>
                </a:lnTo>
                <a:cubicBezTo>
                  <a:pt x="10138" y="15528"/>
                  <a:pt x="9602" y="14925"/>
                  <a:pt x="9602" y="14178"/>
                </a:cubicBezTo>
                <a:lnTo>
                  <a:pt x="9602" y="13503"/>
                </a:ln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39"/>
          <p:cNvSpPr txBox="1"/>
          <p:nvPr/>
        </p:nvSpPr>
        <p:spPr>
          <a:xfrm>
            <a:off x="1219200" y="4367305"/>
            <a:ext cx="4705350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Clustering Patterns</a:t>
            </a:r>
          </a:p>
        </p:txBody>
      </p:sp>
      <p:sp>
        <p:nvSpPr>
          <p:cNvPr id="140" name="Text 40"/>
          <p:cNvSpPr txBox="1"/>
          <p:nvPr/>
        </p:nvSpPr>
        <p:spPr>
          <a:xfrm>
            <a:off x="1219200" y="4709881"/>
            <a:ext cx="4667250" cy="44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Group similar data objects together without predefined categories (unsupervised learning)</a:t>
            </a:r>
          </a:p>
        </p:txBody>
      </p:sp>
      <p:sp>
        <p:nvSpPr>
          <p:cNvPr id="141" name="Shape 41"/>
          <p:cNvSpPr/>
          <p:nvPr/>
        </p:nvSpPr>
        <p:spPr>
          <a:xfrm>
            <a:off x="609600" y="5295900"/>
            <a:ext cx="5200650" cy="723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16" y="0"/>
                </a:moveTo>
                <a:lnTo>
                  <a:pt x="21284" y="0"/>
                </a:lnTo>
                <a:cubicBezTo>
                  <a:pt x="21458" y="0"/>
                  <a:pt x="21600" y="1019"/>
                  <a:pt x="21600" y="2274"/>
                </a:cubicBezTo>
                <a:lnTo>
                  <a:pt x="21600" y="19326"/>
                </a:lnTo>
                <a:cubicBezTo>
                  <a:pt x="21600" y="20581"/>
                  <a:pt x="21458" y="21600"/>
                  <a:pt x="21284" y="21600"/>
                </a:cubicBezTo>
                <a:lnTo>
                  <a:pt x="316" y="21600"/>
                </a:lnTo>
                <a:cubicBezTo>
                  <a:pt x="142" y="21600"/>
                  <a:pt x="0" y="20581"/>
                  <a:pt x="0" y="19326"/>
                </a:cubicBezTo>
                <a:lnTo>
                  <a:pt x="0" y="2274"/>
                </a:lnTo>
                <a:cubicBezTo>
                  <a:pt x="0" y="1019"/>
                  <a:pt x="142" y="0"/>
                  <a:pt x="31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42"/>
          <p:cNvSpPr txBox="1"/>
          <p:nvPr/>
        </p:nvSpPr>
        <p:spPr>
          <a:xfrm>
            <a:off x="723900" y="5438297"/>
            <a:ext cx="5038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E8B4B8"/>
                </a:solidFill>
              </a:defRPr>
            </a:lvl1pPr>
          </a:lstStyle>
          <a:p>
            <a:pPr/>
            <a:r>
              <a:t>Key Application</a:t>
            </a:r>
          </a:p>
        </p:txBody>
      </p:sp>
      <p:sp>
        <p:nvSpPr>
          <p:cNvPr id="143" name="Text 43"/>
          <p:cNvSpPr txBox="1"/>
          <p:nvPr/>
        </p:nvSpPr>
        <p:spPr>
          <a:xfrm>
            <a:off x="723900" y="5699187"/>
            <a:ext cx="5048250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Customer segmentation, document organization, image segmentation</a:t>
            </a:r>
          </a:p>
        </p:txBody>
      </p:sp>
      <p:sp>
        <p:nvSpPr>
          <p:cNvPr id="144" name="Shape 44"/>
          <p:cNvSpPr/>
          <p:nvPr/>
        </p:nvSpPr>
        <p:spPr>
          <a:xfrm>
            <a:off x="609600" y="6134100"/>
            <a:ext cx="752475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28" y="0"/>
                </a:moveTo>
                <a:lnTo>
                  <a:pt x="17772" y="0"/>
                </a:lnTo>
                <a:cubicBezTo>
                  <a:pt x="19885" y="0"/>
                  <a:pt x="21600" y="4839"/>
                  <a:pt x="21600" y="10800"/>
                </a:cubicBezTo>
                <a:cubicBezTo>
                  <a:pt x="21600" y="16761"/>
                  <a:pt x="19885" y="21600"/>
                  <a:pt x="17772" y="21600"/>
                </a:cubicBezTo>
                <a:lnTo>
                  <a:pt x="3828" y="21600"/>
                </a:lnTo>
                <a:cubicBezTo>
                  <a:pt x="1715" y="21600"/>
                  <a:pt x="0" y="16761"/>
                  <a:pt x="0" y="10800"/>
                </a:cubicBezTo>
                <a:cubicBezTo>
                  <a:pt x="0" y="4839"/>
                  <a:pt x="1715" y="0"/>
                  <a:pt x="3828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45"/>
          <p:cNvSpPr txBox="1"/>
          <p:nvPr/>
        </p:nvSpPr>
        <p:spPr>
          <a:xfrm>
            <a:off x="685800" y="6162197"/>
            <a:ext cx="666750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E8B4B8"/>
                </a:solidFill>
              </a:defRPr>
            </a:lvl1pPr>
          </a:lstStyle>
          <a:p>
            <a:pPr/>
            <a:r>
              <a:t>K-Means</a:t>
            </a:r>
          </a:p>
        </p:txBody>
      </p:sp>
      <p:sp>
        <p:nvSpPr>
          <p:cNvPr id="146" name="Shape 46"/>
          <p:cNvSpPr/>
          <p:nvPr/>
        </p:nvSpPr>
        <p:spPr>
          <a:xfrm>
            <a:off x="1438200" y="6134100"/>
            <a:ext cx="914401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150" y="0"/>
                </a:moveTo>
                <a:lnTo>
                  <a:pt x="18450" y="0"/>
                </a:lnTo>
                <a:cubicBezTo>
                  <a:pt x="20189" y="0"/>
                  <a:pt x="21600" y="4839"/>
                  <a:pt x="21600" y="10800"/>
                </a:cubicBezTo>
                <a:cubicBezTo>
                  <a:pt x="21600" y="16761"/>
                  <a:pt x="20189" y="21600"/>
                  <a:pt x="18450" y="21600"/>
                </a:cubicBezTo>
                <a:lnTo>
                  <a:pt x="3150" y="21600"/>
                </a:lnTo>
                <a:cubicBezTo>
                  <a:pt x="1411" y="21600"/>
                  <a:pt x="0" y="16761"/>
                  <a:pt x="0" y="10800"/>
                </a:cubicBezTo>
                <a:cubicBezTo>
                  <a:pt x="0" y="4839"/>
                  <a:pt x="1411" y="0"/>
                  <a:pt x="315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47"/>
          <p:cNvSpPr txBox="1"/>
          <p:nvPr/>
        </p:nvSpPr>
        <p:spPr>
          <a:xfrm>
            <a:off x="1514400" y="6162197"/>
            <a:ext cx="8286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E8B4B8"/>
                </a:solidFill>
              </a:defRPr>
            </a:lvl1pPr>
          </a:lstStyle>
          <a:p>
            <a:pPr/>
            <a:r>
              <a:t>Hierarchical</a:t>
            </a:r>
          </a:p>
        </p:txBody>
      </p:sp>
      <p:sp>
        <p:nvSpPr>
          <p:cNvPr id="148" name="Shape 48"/>
          <p:cNvSpPr/>
          <p:nvPr/>
        </p:nvSpPr>
        <p:spPr>
          <a:xfrm>
            <a:off x="2431925" y="6134100"/>
            <a:ext cx="73342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27" y="0"/>
                </a:moveTo>
                <a:lnTo>
                  <a:pt x="17673" y="0"/>
                </a:lnTo>
                <a:cubicBezTo>
                  <a:pt x="19840" y="0"/>
                  <a:pt x="21600" y="4839"/>
                  <a:pt x="21600" y="10800"/>
                </a:cubicBezTo>
                <a:cubicBezTo>
                  <a:pt x="21600" y="16761"/>
                  <a:pt x="19840" y="21600"/>
                  <a:pt x="17673" y="21600"/>
                </a:cubicBezTo>
                <a:lnTo>
                  <a:pt x="3927" y="21600"/>
                </a:lnTo>
                <a:cubicBezTo>
                  <a:pt x="1760" y="21600"/>
                  <a:pt x="0" y="16761"/>
                  <a:pt x="0" y="10800"/>
                </a:cubicBezTo>
                <a:cubicBezTo>
                  <a:pt x="0" y="4839"/>
                  <a:pt x="1760" y="0"/>
                  <a:pt x="3927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49"/>
          <p:cNvSpPr txBox="1"/>
          <p:nvPr/>
        </p:nvSpPr>
        <p:spPr>
          <a:xfrm>
            <a:off x="2508125" y="6162197"/>
            <a:ext cx="6477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E8B4B8"/>
                </a:solidFill>
              </a:defRPr>
            </a:lvl1pPr>
          </a:lstStyle>
          <a:p>
            <a:pPr/>
            <a:r>
              <a:t>DBSCAN</a:t>
            </a:r>
          </a:p>
        </p:txBody>
      </p:sp>
      <p:sp>
        <p:nvSpPr>
          <p:cNvPr id="150" name="Shape 50"/>
          <p:cNvSpPr/>
          <p:nvPr/>
        </p:nvSpPr>
        <p:spPr>
          <a:xfrm>
            <a:off x="6210300" y="4152900"/>
            <a:ext cx="5600700" cy="266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7" y="0"/>
                </a:moveTo>
                <a:lnTo>
                  <a:pt x="21012" y="0"/>
                </a:lnTo>
                <a:cubicBezTo>
                  <a:pt x="21337" y="0"/>
                  <a:pt x="21600" y="553"/>
                  <a:pt x="21600" y="1234"/>
                </a:cubicBezTo>
                <a:lnTo>
                  <a:pt x="21600" y="20366"/>
                </a:lnTo>
                <a:cubicBezTo>
                  <a:pt x="21600" y="21047"/>
                  <a:pt x="21337" y="21600"/>
                  <a:pt x="21012" y="21600"/>
                </a:cubicBezTo>
                <a:lnTo>
                  <a:pt x="147" y="21600"/>
                </a:lnTo>
                <a:cubicBezTo>
                  <a:pt x="66" y="21600"/>
                  <a:pt x="0" y="21462"/>
                  <a:pt x="0" y="21291"/>
                </a:cubicBezTo>
                <a:lnTo>
                  <a:pt x="0" y="309"/>
                </a:lnTo>
                <a:cubicBezTo>
                  <a:pt x="0" y="138"/>
                  <a:pt x="66" y="0"/>
                  <a:pt x="14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" name="Shape 51"/>
          <p:cNvSpPr/>
          <p:nvPr/>
        </p:nvSpPr>
        <p:spPr>
          <a:xfrm>
            <a:off x="6210300" y="4152900"/>
            <a:ext cx="38100" cy="266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462"/>
                  <a:pt x="0" y="21291"/>
                </a:cubicBezTo>
                <a:lnTo>
                  <a:pt x="0" y="309"/>
                </a:lnTo>
                <a:cubicBezTo>
                  <a:pt x="0" y="138"/>
                  <a:pt x="9679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52"/>
          <p:cNvSpPr/>
          <p:nvPr/>
        </p:nvSpPr>
        <p:spPr>
          <a:xfrm>
            <a:off x="6419850" y="434340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53"/>
          <p:cNvSpPr/>
          <p:nvPr/>
        </p:nvSpPr>
        <p:spPr>
          <a:xfrm>
            <a:off x="6553200" y="4500562"/>
            <a:ext cx="190500" cy="142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800"/>
                </a:moveTo>
                <a:cubicBezTo>
                  <a:pt x="0" y="804"/>
                  <a:pt x="603" y="0"/>
                  <a:pt x="1350" y="0"/>
                </a:cubicBezTo>
                <a:lnTo>
                  <a:pt x="17550" y="0"/>
                </a:lnTo>
                <a:cubicBezTo>
                  <a:pt x="18297" y="0"/>
                  <a:pt x="18900" y="804"/>
                  <a:pt x="18900" y="1800"/>
                </a:cubicBezTo>
                <a:cubicBezTo>
                  <a:pt x="18900" y="2796"/>
                  <a:pt x="18297" y="3600"/>
                  <a:pt x="17550" y="3600"/>
                </a:cubicBezTo>
                <a:lnTo>
                  <a:pt x="1350" y="3600"/>
                </a:lnTo>
                <a:cubicBezTo>
                  <a:pt x="603" y="3600"/>
                  <a:pt x="0" y="2796"/>
                  <a:pt x="0" y="1800"/>
                </a:cubicBezTo>
                <a:close/>
                <a:moveTo>
                  <a:pt x="2700" y="10800"/>
                </a:moveTo>
                <a:cubicBezTo>
                  <a:pt x="2700" y="9804"/>
                  <a:pt x="3303" y="9000"/>
                  <a:pt x="4050" y="9000"/>
                </a:cubicBezTo>
                <a:lnTo>
                  <a:pt x="20250" y="9000"/>
                </a:lnTo>
                <a:cubicBezTo>
                  <a:pt x="20997" y="9000"/>
                  <a:pt x="21600" y="9804"/>
                  <a:pt x="21600" y="10800"/>
                </a:cubicBezTo>
                <a:cubicBezTo>
                  <a:pt x="21600" y="11796"/>
                  <a:pt x="20997" y="12600"/>
                  <a:pt x="20250" y="12600"/>
                </a:cubicBezTo>
                <a:lnTo>
                  <a:pt x="4050" y="12600"/>
                </a:lnTo>
                <a:cubicBezTo>
                  <a:pt x="3303" y="12600"/>
                  <a:pt x="2700" y="11796"/>
                  <a:pt x="2700" y="10800"/>
                </a:cubicBezTo>
                <a:close/>
                <a:moveTo>
                  <a:pt x="18900" y="19800"/>
                </a:moveTo>
                <a:cubicBezTo>
                  <a:pt x="18900" y="20796"/>
                  <a:pt x="18297" y="21600"/>
                  <a:pt x="17550" y="21600"/>
                </a:cubicBezTo>
                <a:lnTo>
                  <a:pt x="1350" y="21600"/>
                </a:lnTo>
                <a:cubicBezTo>
                  <a:pt x="603" y="21600"/>
                  <a:pt x="0" y="20796"/>
                  <a:pt x="0" y="19800"/>
                </a:cubicBezTo>
                <a:cubicBezTo>
                  <a:pt x="0" y="18804"/>
                  <a:pt x="603" y="18000"/>
                  <a:pt x="1350" y="18000"/>
                </a:cubicBezTo>
                <a:lnTo>
                  <a:pt x="17550" y="18000"/>
                </a:lnTo>
                <a:cubicBezTo>
                  <a:pt x="18297" y="18000"/>
                  <a:pt x="18900" y="18804"/>
                  <a:pt x="18900" y="1980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54"/>
          <p:cNvSpPr txBox="1"/>
          <p:nvPr/>
        </p:nvSpPr>
        <p:spPr>
          <a:xfrm>
            <a:off x="7029450" y="4367305"/>
            <a:ext cx="4705350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Sequential Patterns</a:t>
            </a:r>
          </a:p>
        </p:txBody>
      </p:sp>
      <p:sp>
        <p:nvSpPr>
          <p:cNvPr id="155" name="Text 55"/>
          <p:cNvSpPr txBox="1"/>
          <p:nvPr/>
        </p:nvSpPr>
        <p:spPr>
          <a:xfrm>
            <a:off x="7029450" y="4709881"/>
            <a:ext cx="4667250" cy="44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Discover ordered events or itemsets that occur frequently in sequences over time</a:t>
            </a:r>
          </a:p>
        </p:txBody>
      </p:sp>
      <p:sp>
        <p:nvSpPr>
          <p:cNvPr id="156" name="Shape 56"/>
          <p:cNvSpPr/>
          <p:nvPr/>
        </p:nvSpPr>
        <p:spPr>
          <a:xfrm>
            <a:off x="6419850" y="5295900"/>
            <a:ext cx="5200650" cy="952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16" y="0"/>
                </a:moveTo>
                <a:lnTo>
                  <a:pt x="21284" y="0"/>
                </a:lnTo>
                <a:cubicBezTo>
                  <a:pt x="21458" y="0"/>
                  <a:pt x="21600" y="774"/>
                  <a:pt x="21600" y="1728"/>
                </a:cubicBezTo>
                <a:lnTo>
                  <a:pt x="21600" y="19872"/>
                </a:lnTo>
                <a:cubicBezTo>
                  <a:pt x="21600" y="20826"/>
                  <a:pt x="21458" y="21600"/>
                  <a:pt x="21284" y="21600"/>
                </a:cubicBezTo>
                <a:lnTo>
                  <a:pt x="316" y="21600"/>
                </a:lnTo>
                <a:cubicBezTo>
                  <a:pt x="142" y="21600"/>
                  <a:pt x="0" y="20826"/>
                  <a:pt x="0" y="19872"/>
                </a:cubicBezTo>
                <a:lnTo>
                  <a:pt x="0" y="1728"/>
                </a:lnTo>
                <a:cubicBezTo>
                  <a:pt x="0" y="774"/>
                  <a:pt x="142" y="0"/>
                  <a:pt x="31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57"/>
          <p:cNvSpPr txBox="1"/>
          <p:nvPr/>
        </p:nvSpPr>
        <p:spPr>
          <a:xfrm>
            <a:off x="6534150" y="5438297"/>
            <a:ext cx="5038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Key Application</a:t>
            </a:r>
          </a:p>
        </p:txBody>
      </p:sp>
      <p:sp>
        <p:nvSpPr>
          <p:cNvPr id="158" name="Text 58"/>
          <p:cNvSpPr txBox="1"/>
          <p:nvPr/>
        </p:nvSpPr>
        <p:spPr>
          <a:xfrm>
            <a:off x="6534150" y="5813487"/>
            <a:ext cx="5048250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Web clickstream analysis, purchase sequence prediction, DNA sequence analysis</a:t>
            </a:r>
          </a:p>
        </p:txBody>
      </p:sp>
      <p:sp>
        <p:nvSpPr>
          <p:cNvPr id="159" name="Shape 59"/>
          <p:cNvSpPr/>
          <p:nvPr/>
        </p:nvSpPr>
        <p:spPr>
          <a:xfrm>
            <a:off x="6419850" y="6362700"/>
            <a:ext cx="466725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171" y="0"/>
                </a:moveTo>
                <a:lnTo>
                  <a:pt x="15429" y="0"/>
                </a:lnTo>
                <a:cubicBezTo>
                  <a:pt x="18835" y="0"/>
                  <a:pt x="21600" y="4839"/>
                  <a:pt x="21600" y="10800"/>
                </a:cubicBezTo>
                <a:cubicBezTo>
                  <a:pt x="21600" y="16761"/>
                  <a:pt x="18835" y="21600"/>
                  <a:pt x="15429" y="21600"/>
                </a:cubicBezTo>
                <a:lnTo>
                  <a:pt x="6171" y="21600"/>
                </a:lnTo>
                <a:cubicBezTo>
                  <a:pt x="2765" y="21600"/>
                  <a:pt x="0" y="16761"/>
                  <a:pt x="0" y="10800"/>
                </a:cubicBezTo>
                <a:cubicBezTo>
                  <a:pt x="0" y="4839"/>
                  <a:pt x="2765" y="0"/>
                  <a:pt x="6171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60"/>
          <p:cNvSpPr txBox="1"/>
          <p:nvPr/>
        </p:nvSpPr>
        <p:spPr>
          <a:xfrm>
            <a:off x="6496050" y="6390797"/>
            <a:ext cx="381000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B9E89"/>
                </a:solidFill>
              </a:defRPr>
            </a:lvl1pPr>
          </a:lstStyle>
          <a:p>
            <a:pPr/>
            <a:r>
              <a:t>GSP</a:t>
            </a:r>
          </a:p>
        </p:txBody>
      </p:sp>
      <p:sp>
        <p:nvSpPr>
          <p:cNvPr id="161" name="Shape 61"/>
          <p:cNvSpPr/>
          <p:nvPr/>
        </p:nvSpPr>
        <p:spPr>
          <a:xfrm>
            <a:off x="6958310" y="6362700"/>
            <a:ext cx="84772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98" y="0"/>
                </a:moveTo>
                <a:lnTo>
                  <a:pt x="18202" y="0"/>
                </a:lnTo>
                <a:cubicBezTo>
                  <a:pt x="20078" y="0"/>
                  <a:pt x="21600" y="4839"/>
                  <a:pt x="21600" y="10800"/>
                </a:cubicBezTo>
                <a:cubicBezTo>
                  <a:pt x="21600" y="16761"/>
                  <a:pt x="20078" y="21600"/>
                  <a:pt x="18202" y="21600"/>
                </a:cubicBezTo>
                <a:lnTo>
                  <a:pt x="3398" y="21600"/>
                </a:lnTo>
                <a:cubicBezTo>
                  <a:pt x="1522" y="21600"/>
                  <a:pt x="0" y="16761"/>
                  <a:pt x="0" y="10800"/>
                </a:cubicBezTo>
                <a:cubicBezTo>
                  <a:pt x="0" y="4839"/>
                  <a:pt x="1522" y="0"/>
                  <a:pt x="3398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62"/>
          <p:cNvSpPr txBox="1"/>
          <p:nvPr/>
        </p:nvSpPr>
        <p:spPr>
          <a:xfrm>
            <a:off x="7034510" y="6390797"/>
            <a:ext cx="7620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B9E89"/>
                </a:solidFill>
              </a:defRPr>
            </a:lvl1pPr>
          </a:lstStyle>
          <a:p>
            <a:pPr/>
            <a:r>
              <a:t>PrefixSpan</a:t>
            </a:r>
          </a:p>
        </p:txBody>
      </p:sp>
      <p:sp>
        <p:nvSpPr>
          <p:cNvPr id="163" name="Shape 63"/>
          <p:cNvSpPr/>
          <p:nvPr/>
        </p:nvSpPr>
        <p:spPr>
          <a:xfrm>
            <a:off x="7878142" y="6362700"/>
            <a:ext cx="619126" cy="266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52" y="0"/>
                </a:moveTo>
                <a:lnTo>
                  <a:pt x="16948" y="0"/>
                </a:lnTo>
                <a:cubicBezTo>
                  <a:pt x="19515" y="0"/>
                  <a:pt x="21600" y="4839"/>
                  <a:pt x="21600" y="10800"/>
                </a:cubicBezTo>
                <a:cubicBezTo>
                  <a:pt x="21600" y="16761"/>
                  <a:pt x="19515" y="21600"/>
                  <a:pt x="16948" y="21600"/>
                </a:cubicBezTo>
                <a:lnTo>
                  <a:pt x="4652" y="21600"/>
                </a:lnTo>
                <a:cubicBezTo>
                  <a:pt x="2085" y="21600"/>
                  <a:pt x="0" y="16761"/>
                  <a:pt x="0" y="10800"/>
                </a:cubicBezTo>
                <a:cubicBezTo>
                  <a:pt x="0" y="4839"/>
                  <a:pt x="2085" y="0"/>
                  <a:pt x="4652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64"/>
          <p:cNvSpPr txBox="1"/>
          <p:nvPr/>
        </p:nvSpPr>
        <p:spPr>
          <a:xfrm>
            <a:off x="7954342" y="6390797"/>
            <a:ext cx="5334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B9E89"/>
                </a:solidFill>
              </a:defRPr>
            </a:lvl1pPr>
          </a:lstStyle>
          <a:p>
            <a:pPr/>
            <a:r>
              <a:t>SPADE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hape 1"/>
          <p:cNvSpPr/>
          <p:nvPr/>
        </p:nvSpPr>
        <p:spPr>
          <a:xfrm>
            <a:off x="520489" y="567388"/>
            <a:ext cx="178483" cy="1987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72" fill="norm" stroke="1" extrusionOk="0">
                <a:moveTo>
                  <a:pt x="9357" y="342"/>
                </a:moveTo>
                <a:cubicBezTo>
                  <a:pt x="10248" y="-114"/>
                  <a:pt x="11347" y="-114"/>
                  <a:pt x="12239" y="342"/>
                </a:cubicBezTo>
                <a:lnTo>
                  <a:pt x="20159" y="4404"/>
                </a:lnTo>
                <a:cubicBezTo>
                  <a:pt x="21051" y="4860"/>
                  <a:pt x="21600" y="5708"/>
                  <a:pt x="21600" y="6621"/>
                </a:cubicBezTo>
                <a:lnTo>
                  <a:pt x="21600" y="14744"/>
                </a:lnTo>
                <a:cubicBezTo>
                  <a:pt x="21600" y="15660"/>
                  <a:pt x="21051" y="16504"/>
                  <a:pt x="20159" y="16960"/>
                </a:cubicBezTo>
                <a:lnTo>
                  <a:pt x="12239" y="21030"/>
                </a:lnTo>
                <a:cubicBezTo>
                  <a:pt x="11347" y="21486"/>
                  <a:pt x="10248" y="21486"/>
                  <a:pt x="9357" y="21030"/>
                </a:cubicBezTo>
                <a:lnTo>
                  <a:pt x="1441" y="16968"/>
                </a:lnTo>
                <a:cubicBezTo>
                  <a:pt x="549" y="16512"/>
                  <a:pt x="0" y="15664"/>
                  <a:pt x="0" y="14751"/>
                </a:cubicBezTo>
                <a:lnTo>
                  <a:pt x="0" y="6628"/>
                </a:lnTo>
                <a:cubicBezTo>
                  <a:pt x="0" y="5712"/>
                  <a:pt x="549" y="4868"/>
                  <a:pt x="1441" y="4412"/>
                </a:cubicBezTo>
                <a:lnTo>
                  <a:pt x="9357" y="342"/>
                </a:lnTo>
                <a:close/>
                <a:moveTo>
                  <a:pt x="18714" y="14747"/>
                </a:moveTo>
                <a:lnTo>
                  <a:pt x="18714" y="8101"/>
                </a:lnTo>
                <a:lnTo>
                  <a:pt x="12239" y="11422"/>
                </a:lnTo>
                <a:lnTo>
                  <a:pt x="12239" y="18069"/>
                </a:lnTo>
                <a:lnTo>
                  <a:pt x="18714" y="1474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2"/>
          <p:cNvSpPr txBox="1"/>
          <p:nvPr/>
        </p:nvSpPr>
        <p:spPr>
          <a:xfrm>
            <a:off x="952500" y="409097"/>
            <a:ext cx="466725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52" sz="1000">
                <a:solidFill>
                  <a:srgbClr val="E8B4B8"/>
                </a:solidFill>
              </a:defRPr>
            </a:lvl1pPr>
          </a:lstStyle>
          <a:p>
            <a:pPr/>
            <a:r>
              <a:t>Data Structure</a:t>
            </a:r>
          </a:p>
        </p:txBody>
      </p:sp>
      <p:sp>
        <p:nvSpPr>
          <p:cNvPr id="169" name="Text 3"/>
          <p:cNvSpPr txBox="1"/>
          <p:nvPr/>
        </p:nvSpPr>
        <p:spPr>
          <a:xfrm>
            <a:off x="952500" y="572433"/>
            <a:ext cx="4772025" cy="379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700">
                <a:solidFill>
                  <a:srgbClr val="3D3D3D"/>
                </a:solidFill>
              </a:defRPr>
            </a:lvl1pPr>
          </a:lstStyle>
          <a:p>
            <a:pPr/>
            <a:r>
              <a:t>Data Objects &amp; Attribute Types</a:t>
            </a:r>
          </a:p>
        </p:txBody>
      </p:sp>
      <p:sp>
        <p:nvSpPr>
          <p:cNvPr id="170" name="Text 4"/>
          <p:cNvSpPr txBox="1"/>
          <p:nvPr/>
        </p:nvSpPr>
        <p:spPr>
          <a:xfrm>
            <a:off x="952500" y="1102056"/>
            <a:ext cx="10944225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Understanding the fundamental building blocks of data and their measurement properties</a:t>
            </a:r>
          </a:p>
        </p:txBody>
      </p:sp>
      <p:sp>
        <p:nvSpPr>
          <p:cNvPr id="171" name="Shape 5"/>
          <p:cNvSpPr/>
          <p:nvPr/>
        </p:nvSpPr>
        <p:spPr>
          <a:xfrm>
            <a:off x="385763" y="1490662"/>
            <a:ext cx="3990976" cy="5076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5" y="0"/>
                </a:moveTo>
                <a:lnTo>
                  <a:pt x="20775" y="0"/>
                </a:lnTo>
                <a:cubicBezTo>
                  <a:pt x="21231" y="0"/>
                  <a:pt x="21600" y="290"/>
                  <a:pt x="21600" y="648"/>
                </a:cubicBezTo>
                <a:lnTo>
                  <a:pt x="21600" y="20952"/>
                </a:lnTo>
                <a:cubicBezTo>
                  <a:pt x="21600" y="21310"/>
                  <a:pt x="21231" y="21600"/>
                  <a:pt x="20775" y="21600"/>
                </a:cubicBezTo>
                <a:lnTo>
                  <a:pt x="825" y="21600"/>
                </a:lnTo>
                <a:cubicBezTo>
                  <a:pt x="369" y="21600"/>
                  <a:pt x="0" y="21310"/>
                  <a:pt x="0" y="20952"/>
                </a:cubicBezTo>
                <a:lnTo>
                  <a:pt x="0" y="648"/>
                </a:lnTo>
                <a:cubicBezTo>
                  <a:pt x="0" y="291"/>
                  <a:pt x="370" y="0"/>
                  <a:pt x="82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Shape 6"/>
          <p:cNvSpPr/>
          <p:nvPr/>
        </p:nvSpPr>
        <p:spPr>
          <a:xfrm>
            <a:off x="581025" y="1685925"/>
            <a:ext cx="381000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7"/>
          <p:cNvSpPr/>
          <p:nvPr/>
        </p:nvSpPr>
        <p:spPr>
          <a:xfrm>
            <a:off x="698897" y="1790700"/>
            <a:ext cx="15002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3"/>
                  <a:pt x="13972" y="10800"/>
                  <a:pt x="10800" y="10800"/>
                </a:cubicBezTo>
                <a:cubicBezTo>
                  <a:pt x="7627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8"/>
          <p:cNvSpPr txBox="1"/>
          <p:nvPr/>
        </p:nvSpPr>
        <p:spPr>
          <a:xfrm>
            <a:off x="581025" y="2205130"/>
            <a:ext cx="3714750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Data Objects</a:t>
            </a:r>
          </a:p>
        </p:txBody>
      </p:sp>
      <p:sp>
        <p:nvSpPr>
          <p:cNvPr id="175" name="Text 9"/>
          <p:cNvSpPr txBox="1"/>
          <p:nvPr/>
        </p:nvSpPr>
        <p:spPr>
          <a:xfrm>
            <a:off x="581025" y="2575958"/>
            <a:ext cx="3676650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Also known as records, points, cases, samples, entities, or instances</a:t>
            </a:r>
          </a:p>
        </p:txBody>
      </p:sp>
      <p:sp>
        <p:nvSpPr>
          <p:cNvPr id="176" name="Shape 10"/>
          <p:cNvSpPr/>
          <p:nvPr/>
        </p:nvSpPr>
        <p:spPr>
          <a:xfrm>
            <a:off x="581025" y="3171825"/>
            <a:ext cx="3600450" cy="106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6" y="0"/>
                </a:moveTo>
                <a:lnTo>
                  <a:pt x="20914" y="0"/>
                </a:lnTo>
                <a:cubicBezTo>
                  <a:pt x="21293" y="0"/>
                  <a:pt x="21600" y="1036"/>
                  <a:pt x="21600" y="2314"/>
                </a:cubicBezTo>
                <a:lnTo>
                  <a:pt x="21600" y="19286"/>
                </a:lnTo>
                <a:cubicBezTo>
                  <a:pt x="21600" y="20564"/>
                  <a:pt x="21293" y="21600"/>
                  <a:pt x="20914" y="21600"/>
                </a:cubicBezTo>
                <a:lnTo>
                  <a:pt x="686" y="21600"/>
                </a:lnTo>
                <a:cubicBezTo>
                  <a:pt x="307" y="21600"/>
                  <a:pt x="0" y="20564"/>
                  <a:pt x="0" y="19286"/>
                </a:cubicBezTo>
                <a:lnTo>
                  <a:pt x="0" y="2314"/>
                </a:lnTo>
                <a:cubicBezTo>
                  <a:pt x="0" y="1036"/>
                  <a:pt x="307" y="0"/>
                  <a:pt x="68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11"/>
          <p:cNvSpPr txBox="1"/>
          <p:nvPr/>
        </p:nvSpPr>
        <p:spPr>
          <a:xfrm>
            <a:off x="733425" y="3352322"/>
            <a:ext cx="33623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Definition</a:t>
            </a:r>
          </a:p>
        </p:txBody>
      </p:sp>
      <p:sp>
        <p:nvSpPr>
          <p:cNvPr id="178" name="Text 12"/>
          <p:cNvSpPr txBox="1"/>
          <p:nvPr/>
        </p:nvSpPr>
        <p:spPr>
          <a:xfrm>
            <a:off x="733425" y="3614506"/>
            <a:ext cx="3371850" cy="44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A collection of attributes that describe a single entity or observation in the dataset</a:t>
            </a:r>
          </a:p>
        </p:txBody>
      </p:sp>
      <p:sp>
        <p:nvSpPr>
          <p:cNvPr id="179" name="Shape 13"/>
          <p:cNvSpPr/>
          <p:nvPr/>
        </p:nvSpPr>
        <p:spPr>
          <a:xfrm>
            <a:off x="581025" y="4391025"/>
            <a:ext cx="3600450" cy="1981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6" y="0"/>
                </a:moveTo>
                <a:lnTo>
                  <a:pt x="20914" y="0"/>
                </a:lnTo>
                <a:cubicBezTo>
                  <a:pt x="21293" y="0"/>
                  <a:pt x="21600" y="558"/>
                  <a:pt x="21600" y="1246"/>
                </a:cubicBezTo>
                <a:lnTo>
                  <a:pt x="21600" y="20354"/>
                </a:lnTo>
                <a:cubicBezTo>
                  <a:pt x="21600" y="21042"/>
                  <a:pt x="21293" y="21600"/>
                  <a:pt x="20914" y="21600"/>
                </a:cubicBezTo>
                <a:lnTo>
                  <a:pt x="686" y="21600"/>
                </a:lnTo>
                <a:cubicBezTo>
                  <a:pt x="307" y="21600"/>
                  <a:pt x="0" y="21042"/>
                  <a:pt x="0" y="20354"/>
                </a:cubicBezTo>
                <a:lnTo>
                  <a:pt x="0" y="1246"/>
                </a:lnTo>
                <a:cubicBezTo>
                  <a:pt x="0" y="558"/>
                  <a:pt x="307" y="0"/>
                  <a:pt x="686" y="0"/>
                </a:cubicBezTo>
                <a:close/>
              </a:path>
            </a:pathLst>
          </a:custGeom>
          <a:solidFill>
            <a:srgbClr val="E8B4B8">
              <a:alpha val="50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14"/>
          <p:cNvSpPr txBox="1"/>
          <p:nvPr/>
        </p:nvSpPr>
        <p:spPr>
          <a:xfrm>
            <a:off x="733425" y="4571522"/>
            <a:ext cx="33623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E8B4B8"/>
                </a:solidFill>
              </a:defRPr>
            </a:lvl1pPr>
          </a:lstStyle>
          <a:p>
            <a:pPr/>
            <a:r>
              <a:t>Example</a:t>
            </a:r>
          </a:p>
        </p:txBody>
      </p:sp>
      <p:sp>
        <p:nvSpPr>
          <p:cNvPr id="181" name="Shape 15"/>
          <p:cNvSpPr/>
          <p:nvPr/>
        </p:nvSpPr>
        <p:spPr>
          <a:xfrm>
            <a:off x="733425" y="4810125"/>
            <a:ext cx="3295650" cy="1409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99" y="0"/>
                </a:moveTo>
                <a:lnTo>
                  <a:pt x="21101" y="0"/>
                </a:lnTo>
                <a:cubicBezTo>
                  <a:pt x="21376" y="0"/>
                  <a:pt x="21600" y="523"/>
                  <a:pt x="21600" y="1167"/>
                </a:cubicBezTo>
                <a:lnTo>
                  <a:pt x="21600" y="20433"/>
                </a:lnTo>
                <a:cubicBezTo>
                  <a:pt x="21600" y="21077"/>
                  <a:pt x="21376" y="21600"/>
                  <a:pt x="21101" y="21600"/>
                </a:cubicBezTo>
                <a:lnTo>
                  <a:pt x="499" y="21600"/>
                </a:lnTo>
                <a:cubicBezTo>
                  <a:pt x="224" y="21600"/>
                  <a:pt x="0" y="21077"/>
                  <a:pt x="0" y="20433"/>
                </a:cubicBezTo>
                <a:lnTo>
                  <a:pt x="0" y="1167"/>
                </a:lnTo>
                <a:cubicBezTo>
                  <a:pt x="0" y="523"/>
                  <a:pt x="224" y="0"/>
                  <a:pt x="49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6"/>
          <p:cNvSpPr txBox="1"/>
          <p:nvPr/>
        </p:nvSpPr>
        <p:spPr>
          <a:xfrm>
            <a:off x="847725" y="4950141"/>
            <a:ext cx="1081237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Customer Object:</a:t>
            </a:r>
          </a:p>
        </p:txBody>
      </p:sp>
      <p:sp>
        <p:nvSpPr>
          <p:cNvPr id="183" name="Text 17"/>
          <p:cNvSpPr txBox="1"/>
          <p:nvPr/>
        </p:nvSpPr>
        <p:spPr>
          <a:xfrm>
            <a:off x="847725" y="5181122"/>
            <a:ext cx="3133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• ID: 1001</a:t>
            </a:r>
          </a:p>
        </p:txBody>
      </p:sp>
      <p:sp>
        <p:nvSpPr>
          <p:cNvPr id="184" name="Text 18"/>
          <p:cNvSpPr txBox="1"/>
          <p:nvPr/>
        </p:nvSpPr>
        <p:spPr>
          <a:xfrm>
            <a:off x="847725" y="5371622"/>
            <a:ext cx="3133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• Name: John Smith</a:t>
            </a:r>
          </a:p>
        </p:txBody>
      </p:sp>
      <p:sp>
        <p:nvSpPr>
          <p:cNvPr id="185" name="Text 19"/>
          <p:cNvSpPr txBox="1"/>
          <p:nvPr/>
        </p:nvSpPr>
        <p:spPr>
          <a:xfrm>
            <a:off x="847725" y="5562122"/>
            <a:ext cx="3133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• Age: 28</a:t>
            </a:r>
          </a:p>
        </p:txBody>
      </p:sp>
      <p:sp>
        <p:nvSpPr>
          <p:cNvPr id="186" name="Text 20"/>
          <p:cNvSpPr txBox="1"/>
          <p:nvPr/>
        </p:nvSpPr>
        <p:spPr>
          <a:xfrm>
            <a:off x="847725" y="5752622"/>
            <a:ext cx="3133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• Income: $50,000</a:t>
            </a:r>
          </a:p>
        </p:txBody>
      </p:sp>
      <p:sp>
        <p:nvSpPr>
          <p:cNvPr id="187" name="Text 21"/>
          <p:cNvSpPr txBox="1"/>
          <p:nvPr/>
        </p:nvSpPr>
        <p:spPr>
          <a:xfrm>
            <a:off x="847725" y="5943122"/>
            <a:ext cx="3133725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• City: New York</a:t>
            </a:r>
          </a:p>
        </p:txBody>
      </p:sp>
      <p:sp>
        <p:nvSpPr>
          <p:cNvPr id="188" name="Shape 22"/>
          <p:cNvSpPr/>
          <p:nvPr/>
        </p:nvSpPr>
        <p:spPr>
          <a:xfrm>
            <a:off x="4591050" y="1485900"/>
            <a:ext cx="7219950" cy="11906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4" y="0"/>
                </a:moveTo>
                <a:lnTo>
                  <a:pt x="21258" y="0"/>
                </a:lnTo>
                <a:cubicBezTo>
                  <a:pt x="21447" y="0"/>
                  <a:pt x="21600" y="929"/>
                  <a:pt x="21600" y="2074"/>
                </a:cubicBezTo>
                <a:lnTo>
                  <a:pt x="21600" y="19526"/>
                </a:lnTo>
                <a:cubicBezTo>
                  <a:pt x="21600" y="20671"/>
                  <a:pt x="21447" y="21600"/>
                  <a:pt x="21258" y="21600"/>
                </a:cubicBezTo>
                <a:lnTo>
                  <a:pt x="114" y="21600"/>
                </a:lnTo>
                <a:cubicBezTo>
                  <a:pt x="51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51" y="0"/>
                  <a:pt x="114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Shape 23"/>
          <p:cNvSpPr/>
          <p:nvPr/>
        </p:nvSpPr>
        <p:spPr>
          <a:xfrm>
            <a:off x="4591050" y="1485900"/>
            <a:ext cx="38100" cy="11906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9679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24"/>
          <p:cNvSpPr/>
          <p:nvPr/>
        </p:nvSpPr>
        <p:spPr>
          <a:xfrm>
            <a:off x="4762500" y="1812131"/>
            <a:ext cx="533400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25"/>
          <p:cNvSpPr txBox="1"/>
          <p:nvPr/>
        </p:nvSpPr>
        <p:spPr>
          <a:xfrm>
            <a:off x="4948683" y="1950336"/>
            <a:ext cx="276226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7B9E89"/>
                </a:solidFill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92" name="Text 26"/>
          <p:cNvSpPr txBox="1"/>
          <p:nvPr/>
        </p:nvSpPr>
        <p:spPr>
          <a:xfrm>
            <a:off x="5448300" y="1670127"/>
            <a:ext cx="790575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Nominal</a:t>
            </a:r>
          </a:p>
        </p:txBody>
      </p:sp>
      <p:sp>
        <p:nvSpPr>
          <p:cNvPr id="193" name="Shape 27"/>
          <p:cNvSpPr/>
          <p:nvPr/>
        </p:nvSpPr>
        <p:spPr>
          <a:xfrm>
            <a:off x="6254353" y="1678781"/>
            <a:ext cx="704851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68" y="0"/>
                </a:moveTo>
                <a:lnTo>
                  <a:pt x="20432" y="0"/>
                </a:lnTo>
                <a:cubicBezTo>
                  <a:pt x="21077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21077" y="21600"/>
                  <a:pt x="20432" y="21600"/>
                </a:cubicBezTo>
                <a:lnTo>
                  <a:pt x="1168" y="21600"/>
                </a:lnTo>
                <a:cubicBezTo>
                  <a:pt x="523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523" y="0"/>
                  <a:pt x="1168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8"/>
          <p:cNvSpPr txBox="1"/>
          <p:nvPr/>
        </p:nvSpPr>
        <p:spPr>
          <a:xfrm>
            <a:off x="6311503" y="1693908"/>
            <a:ext cx="647701" cy="16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7B9E89"/>
                </a:solidFill>
              </a:defRPr>
            </a:lvl1pPr>
          </a:lstStyle>
          <a:p>
            <a:pPr/>
            <a:r>
              <a:t>Categorical</a:t>
            </a:r>
          </a:p>
        </p:txBody>
      </p:sp>
      <p:sp>
        <p:nvSpPr>
          <p:cNvPr id="195" name="Text 29"/>
          <p:cNvSpPr txBox="1"/>
          <p:nvPr/>
        </p:nvSpPr>
        <p:spPr>
          <a:xfrm>
            <a:off x="5448300" y="1967768"/>
            <a:ext cx="6286500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Names/categories only. Properties: </a:t>
            </a:r>
            <a:r>
              <a:rPr b="1"/>
              <a:t>Distinctness (=, ≠)</a:t>
            </a:r>
          </a:p>
        </p:txBody>
      </p:sp>
      <p:sp>
        <p:nvSpPr>
          <p:cNvPr id="196" name="Shape 30"/>
          <p:cNvSpPr/>
          <p:nvPr/>
        </p:nvSpPr>
        <p:spPr>
          <a:xfrm>
            <a:off x="5448300" y="2250281"/>
            <a:ext cx="704850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68" y="0"/>
                </a:moveTo>
                <a:lnTo>
                  <a:pt x="20432" y="0"/>
                </a:lnTo>
                <a:cubicBezTo>
                  <a:pt x="21077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1077" y="21600"/>
                  <a:pt x="20432" y="21600"/>
                </a:cubicBezTo>
                <a:lnTo>
                  <a:pt x="1168" y="21600"/>
                </a:lnTo>
                <a:cubicBezTo>
                  <a:pt x="523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523" y="0"/>
                  <a:pt x="1168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31"/>
          <p:cNvSpPr txBox="1"/>
          <p:nvPr/>
        </p:nvSpPr>
        <p:spPr>
          <a:xfrm>
            <a:off x="5486400" y="2278378"/>
            <a:ext cx="695325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Eye Color</a:t>
            </a:r>
          </a:p>
        </p:txBody>
      </p:sp>
      <p:sp>
        <p:nvSpPr>
          <p:cNvPr id="198" name="Shape 32"/>
          <p:cNvSpPr/>
          <p:nvPr/>
        </p:nvSpPr>
        <p:spPr>
          <a:xfrm>
            <a:off x="6231954" y="2250281"/>
            <a:ext cx="733426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2" y="0"/>
                </a:moveTo>
                <a:lnTo>
                  <a:pt x="20478" y="0"/>
                </a:lnTo>
                <a:cubicBezTo>
                  <a:pt x="2109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1097" y="21600"/>
                  <a:pt x="20478" y="21600"/>
                </a:cubicBezTo>
                <a:lnTo>
                  <a:pt x="1122" y="21600"/>
                </a:lnTo>
                <a:cubicBezTo>
                  <a:pt x="50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503" y="0"/>
                  <a:pt x="1122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33"/>
          <p:cNvSpPr txBox="1"/>
          <p:nvPr/>
        </p:nvSpPr>
        <p:spPr>
          <a:xfrm>
            <a:off x="6270054" y="2278378"/>
            <a:ext cx="7239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ZIP Codes</a:t>
            </a:r>
          </a:p>
        </p:txBody>
      </p:sp>
      <p:sp>
        <p:nvSpPr>
          <p:cNvPr id="200" name="Shape 34"/>
          <p:cNvSpPr/>
          <p:nvPr/>
        </p:nvSpPr>
        <p:spPr>
          <a:xfrm>
            <a:off x="7038901" y="2250281"/>
            <a:ext cx="581026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16" y="0"/>
                </a:moveTo>
                <a:lnTo>
                  <a:pt x="20184" y="0"/>
                </a:lnTo>
                <a:cubicBezTo>
                  <a:pt x="20966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0965" y="21600"/>
                  <a:pt x="20184" y="21600"/>
                </a:cubicBezTo>
                <a:lnTo>
                  <a:pt x="1416" y="21600"/>
                </a:lnTo>
                <a:cubicBezTo>
                  <a:pt x="634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635" y="0"/>
                  <a:pt x="141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35"/>
          <p:cNvSpPr txBox="1"/>
          <p:nvPr/>
        </p:nvSpPr>
        <p:spPr>
          <a:xfrm>
            <a:off x="7077001" y="2278378"/>
            <a:ext cx="5715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Gender</a:t>
            </a:r>
          </a:p>
        </p:txBody>
      </p:sp>
      <p:sp>
        <p:nvSpPr>
          <p:cNvPr id="202" name="Shape 36"/>
          <p:cNvSpPr/>
          <p:nvPr/>
        </p:nvSpPr>
        <p:spPr>
          <a:xfrm>
            <a:off x="4591050" y="2786063"/>
            <a:ext cx="7219950" cy="1190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4" y="0"/>
                </a:moveTo>
                <a:lnTo>
                  <a:pt x="21258" y="0"/>
                </a:lnTo>
                <a:cubicBezTo>
                  <a:pt x="21447" y="0"/>
                  <a:pt x="21600" y="929"/>
                  <a:pt x="21600" y="2074"/>
                </a:cubicBezTo>
                <a:lnTo>
                  <a:pt x="21600" y="19526"/>
                </a:lnTo>
                <a:cubicBezTo>
                  <a:pt x="21600" y="20671"/>
                  <a:pt x="21447" y="21600"/>
                  <a:pt x="21258" y="21600"/>
                </a:cubicBezTo>
                <a:lnTo>
                  <a:pt x="114" y="21600"/>
                </a:lnTo>
                <a:cubicBezTo>
                  <a:pt x="51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51" y="0"/>
                  <a:pt x="114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Shape 37"/>
          <p:cNvSpPr/>
          <p:nvPr/>
        </p:nvSpPr>
        <p:spPr>
          <a:xfrm>
            <a:off x="4591050" y="2786063"/>
            <a:ext cx="38100" cy="1190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9679" y="0"/>
                  <a:pt x="2160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38"/>
          <p:cNvSpPr/>
          <p:nvPr/>
        </p:nvSpPr>
        <p:spPr>
          <a:xfrm>
            <a:off x="4762500" y="3112293"/>
            <a:ext cx="533400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39"/>
          <p:cNvSpPr txBox="1"/>
          <p:nvPr/>
        </p:nvSpPr>
        <p:spPr>
          <a:xfrm>
            <a:off x="4942730" y="3250499"/>
            <a:ext cx="285751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B8A9C9"/>
                </a:solidFill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06" name="Text 40"/>
          <p:cNvSpPr txBox="1"/>
          <p:nvPr/>
        </p:nvSpPr>
        <p:spPr>
          <a:xfrm>
            <a:off x="5448300" y="2970290"/>
            <a:ext cx="704850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Ordinal</a:t>
            </a:r>
          </a:p>
        </p:txBody>
      </p:sp>
      <p:sp>
        <p:nvSpPr>
          <p:cNvPr id="207" name="Shape 41"/>
          <p:cNvSpPr/>
          <p:nvPr/>
        </p:nvSpPr>
        <p:spPr>
          <a:xfrm>
            <a:off x="6171307" y="2978943"/>
            <a:ext cx="704851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68" y="0"/>
                </a:moveTo>
                <a:lnTo>
                  <a:pt x="20432" y="0"/>
                </a:lnTo>
                <a:cubicBezTo>
                  <a:pt x="21077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21077" y="21600"/>
                  <a:pt x="20432" y="21600"/>
                </a:cubicBezTo>
                <a:lnTo>
                  <a:pt x="1168" y="21600"/>
                </a:lnTo>
                <a:cubicBezTo>
                  <a:pt x="523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523" y="0"/>
                  <a:pt x="1168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42"/>
          <p:cNvSpPr txBox="1"/>
          <p:nvPr/>
        </p:nvSpPr>
        <p:spPr>
          <a:xfrm>
            <a:off x="6228457" y="2994071"/>
            <a:ext cx="647701" cy="16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B8A9C9"/>
                </a:solidFill>
              </a:defRPr>
            </a:lvl1pPr>
          </a:lstStyle>
          <a:p>
            <a:pPr/>
            <a:r>
              <a:t>Categorical</a:t>
            </a:r>
          </a:p>
        </p:txBody>
      </p:sp>
      <p:sp>
        <p:nvSpPr>
          <p:cNvPr id="209" name="Text 43"/>
          <p:cNvSpPr txBox="1"/>
          <p:nvPr/>
        </p:nvSpPr>
        <p:spPr>
          <a:xfrm>
            <a:off x="5448300" y="3267930"/>
            <a:ext cx="6286500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Ordered categories. Properties: </a:t>
            </a:r>
            <a:r>
              <a:rPr b="1"/>
              <a:t>Distinctness + Order (&lt;, &gt;)</a:t>
            </a:r>
          </a:p>
        </p:txBody>
      </p:sp>
      <p:sp>
        <p:nvSpPr>
          <p:cNvPr id="210" name="Shape 44"/>
          <p:cNvSpPr/>
          <p:nvPr/>
        </p:nvSpPr>
        <p:spPr>
          <a:xfrm>
            <a:off x="5448300" y="3550444"/>
            <a:ext cx="1047750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85" y="0"/>
                </a:moveTo>
                <a:lnTo>
                  <a:pt x="20815" y="0"/>
                </a:lnTo>
                <a:cubicBezTo>
                  <a:pt x="2124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248" y="21600"/>
                  <a:pt x="20815" y="21600"/>
                </a:cubicBezTo>
                <a:lnTo>
                  <a:pt x="785" y="21600"/>
                </a:lnTo>
                <a:cubicBezTo>
                  <a:pt x="35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352" y="0"/>
                  <a:pt x="785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45"/>
          <p:cNvSpPr txBox="1"/>
          <p:nvPr/>
        </p:nvSpPr>
        <p:spPr>
          <a:xfrm>
            <a:off x="5486400" y="3578541"/>
            <a:ext cx="1038225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Grades (A, B, C)</a:t>
            </a:r>
          </a:p>
        </p:txBody>
      </p:sp>
      <p:sp>
        <p:nvSpPr>
          <p:cNvPr id="212" name="Shape 46"/>
          <p:cNvSpPr/>
          <p:nvPr/>
        </p:nvSpPr>
        <p:spPr>
          <a:xfrm>
            <a:off x="6576492" y="3550444"/>
            <a:ext cx="666751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34" y="0"/>
                </a:moveTo>
                <a:lnTo>
                  <a:pt x="20366" y="0"/>
                </a:lnTo>
                <a:cubicBezTo>
                  <a:pt x="21047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1047" y="21600"/>
                  <a:pt x="20366" y="21600"/>
                </a:cubicBezTo>
                <a:lnTo>
                  <a:pt x="1234" y="21600"/>
                </a:lnTo>
                <a:cubicBezTo>
                  <a:pt x="553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553" y="0"/>
                  <a:pt x="1234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47"/>
          <p:cNvSpPr txBox="1"/>
          <p:nvPr/>
        </p:nvSpPr>
        <p:spPr>
          <a:xfrm>
            <a:off x="6614592" y="3578541"/>
            <a:ext cx="65722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Rankings</a:t>
            </a:r>
          </a:p>
        </p:txBody>
      </p:sp>
      <p:sp>
        <p:nvSpPr>
          <p:cNvPr id="214" name="Shape 48"/>
          <p:cNvSpPr/>
          <p:nvPr/>
        </p:nvSpPr>
        <p:spPr>
          <a:xfrm>
            <a:off x="7316092" y="3550444"/>
            <a:ext cx="876301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39" y="0"/>
                </a:moveTo>
                <a:lnTo>
                  <a:pt x="20661" y="0"/>
                </a:lnTo>
                <a:cubicBezTo>
                  <a:pt x="21180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180" y="21600"/>
                  <a:pt x="20661" y="21600"/>
                </a:cubicBezTo>
                <a:lnTo>
                  <a:pt x="939" y="21600"/>
                </a:lnTo>
                <a:cubicBezTo>
                  <a:pt x="420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421" y="0"/>
                  <a:pt x="939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49"/>
          <p:cNvSpPr txBox="1"/>
          <p:nvPr/>
        </p:nvSpPr>
        <p:spPr>
          <a:xfrm>
            <a:off x="7354192" y="3578541"/>
            <a:ext cx="8667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Size (S, M, L)</a:t>
            </a:r>
          </a:p>
        </p:txBody>
      </p:sp>
      <p:sp>
        <p:nvSpPr>
          <p:cNvPr id="216" name="Shape 50"/>
          <p:cNvSpPr/>
          <p:nvPr/>
        </p:nvSpPr>
        <p:spPr>
          <a:xfrm>
            <a:off x="4591050" y="4086225"/>
            <a:ext cx="7219950" cy="11906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4" y="0"/>
                </a:moveTo>
                <a:lnTo>
                  <a:pt x="21258" y="0"/>
                </a:lnTo>
                <a:cubicBezTo>
                  <a:pt x="21447" y="0"/>
                  <a:pt x="21600" y="929"/>
                  <a:pt x="21600" y="2074"/>
                </a:cubicBezTo>
                <a:lnTo>
                  <a:pt x="21600" y="19526"/>
                </a:lnTo>
                <a:cubicBezTo>
                  <a:pt x="21600" y="20671"/>
                  <a:pt x="21447" y="21600"/>
                  <a:pt x="21258" y="21600"/>
                </a:cubicBezTo>
                <a:lnTo>
                  <a:pt x="114" y="21600"/>
                </a:lnTo>
                <a:cubicBezTo>
                  <a:pt x="51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51" y="0"/>
                  <a:pt x="114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Shape 51"/>
          <p:cNvSpPr/>
          <p:nvPr/>
        </p:nvSpPr>
        <p:spPr>
          <a:xfrm>
            <a:off x="4591050" y="4086225"/>
            <a:ext cx="38100" cy="11906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9679" y="0"/>
                  <a:pt x="2160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52"/>
          <p:cNvSpPr/>
          <p:nvPr/>
        </p:nvSpPr>
        <p:spPr>
          <a:xfrm>
            <a:off x="4762500" y="4412455"/>
            <a:ext cx="533400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53"/>
          <p:cNvSpPr txBox="1"/>
          <p:nvPr/>
        </p:nvSpPr>
        <p:spPr>
          <a:xfrm>
            <a:off x="4997946" y="4550661"/>
            <a:ext cx="180976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E8B4B8"/>
                </a:solidFill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20" name="Text 54"/>
          <p:cNvSpPr txBox="1"/>
          <p:nvPr/>
        </p:nvSpPr>
        <p:spPr>
          <a:xfrm>
            <a:off x="5448300" y="4270452"/>
            <a:ext cx="714375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Interval</a:t>
            </a:r>
          </a:p>
        </p:txBody>
      </p:sp>
      <p:sp>
        <p:nvSpPr>
          <p:cNvPr id="221" name="Shape 55"/>
          <p:cNvSpPr/>
          <p:nvPr/>
        </p:nvSpPr>
        <p:spPr>
          <a:xfrm>
            <a:off x="6184031" y="4279105"/>
            <a:ext cx="571501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" y="0"/>
                </a:moveTo>
                <a:lnTo>
                  <a:pt x="20160" y="0"/>
                </a:lnTo>
                <a:cubicBezTo>
                  <a:pt x="20955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20955" y="21600"/>
                  <a:pt x="20160" y="21600"/>
                </a:cubicBezTo>
                <a:lnTo>
                  <a:pt x="1440" y="21600"/>
                </a:lnTo>
                <a:cubicBezTo>
                  <a:pt x="645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645" y="0"/>
                  <a:pt x="144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56"/>
          <p:cNvSpPr txBox="1"/>
          <p:nvPr/>
        </p:nvSpPr>
        <p:spPr>
          <a:xfrm>
            <a:off x="6241181" y="4294233"/>
            <a:ext cx="514351" cy="16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E8B4B8"/>
                </a:solidFill>
              </a:defRPr>
            </a:lvl1pPr>
          </a:lstStyle>
          <a:p>
            <a:pPr/>
            <a:r>
              <a:t>Numeric</a:t>
            </a:r>
          </a:p>
        </p:txBody>
      </p:sp>
      <p:sp>
        <p:nvSpPr>
          <p:cNvPr id="223" name="Text 57"/>
          <p:cNvSpPr txBox="1"/>
          <p:nvPr/>
        </p:nvSpPr>
        <p:spPr>
          <a:xfrm>
            <a:off x="5448300" y="4568092"/>
            <a:ext cx="6286500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Equal intervals, no true zero. Properties: </a:t>
            </a:r>
            <a:r>
              <a:rPr b="1"/>
              <a:t>+ Addition (+, -)</a:t>
            </a:r>
          </a:p>
        </p:txBody>
      </p:sp>
      <p:sp>
        <p:nvSpPr>
          <p:cNvPr id="224" name="Shape 58"/>
          <p:cNvSpPr/>
          <p:nvPr/>
        </p:nvSpPr>
        <p:spPr>
          <a:xfrm>
            <a:off x="5448300" y="4850605"/>
            <a:ext cx="1143000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0" y="0"/>
                </a:moveTo>
                <a:lnTo>
                  <a:pt x="20880" y="0"/>
                </a:lnTo>
                <a:cubicBezTo>
                  <a:pt x="2127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278" y="21600"/>
                  <a:pt x="20880" y="21600"/>
                </a:cubicBezTo>
                <a:lnTo>
                  <a:pt x="720" y="21600"/>
                </a:lnTo>
                <a:cubicBezTo>
                  <a:pt x="32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323" y="0"/>
                  <a:pt x="720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59"/>
          <p:cNvSpPr txBox="1"/>
          <p:nvPr/>
        </p:nvSpPr>
        <p:spPr>
          <a:xfrm>
            <a:off x="5486400" y="4878703"/>
            <a:ext cx="1133475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Temperature (°C)</a:t>
            </a:r>
          </a:p>
        </p:txBody>
      </p:sp>
      <p:sp>
        <p:nvSpPr>
          <p:cNvPr id="226" name="Shape 60"/>
          <p:cNvSpPr/>
          <p:nvPr/>
        </p:nvSpPr>
        <p:spPr>
          <a:xfrm>
            <a:off x="6670923" y="4850605"/>
            <a:ext cx="1028701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00" y="0"/>
                </a:moveTo>
                <a:lnTo>
                  <a:pt x="20800" y="0"/>
                </a:lnTo>
                <a:cubicBezTo>
                  <a:pt x="2124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242" y="21600"/>
                  <a:pt x="20800" y="21600"/>
                </a:cubicBezTo>
                <a:lnTo>
                  <a:pt x="800" y="21600"/>
                </a:lnTo>
                <a:cubicBezTo>
                  <a:pt x="35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358" y="0"/>
                  <a:pt x="800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61"/>
          <p:cNvSpPr txBox="1"/>
          <p:nvPr/>
        </p:nvSpPr>
        <p:spPr>
          <a:xfrm>
            <a:off x="6709023" y="4878703"/>
            <a:ext cx="101917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Calendar Dates</a:t>
            </a:r>
          </a:p>
        </p:txBody>
      </p:sp>
      <p:sp>
        <p:nvSpPr>
          <p:cNvPr id="228" name="Shape 62"/>
          <p:cNvSpPr/>
          <p:nvPr/>
        </p:nvSpPr>
        <p:spPr>
          <a:xfrm>
            <a:off x="7778054" y="4850605"/>
            <a:ext cx="714376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2" y="0"/>
                </a:moveTo>
                <a:lnTo>
                  <a:pt x="20448" y="0"/>
                </a:lnTo>
                <a:cubicBezTo>
                  <a:pt x="21084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1084" y="21600"/>
                  <a:pt x="20448" y="21600"/>
                </a:cubicBezTo>
                <a:lnTo>
                  <a:pt x="1152" y="21600"/>
                </a:lnTo>
                <a:cubicBezTo>
                  <a:pt x="516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516" y="0"/>
                  <a:pt x="1152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63"/>
          <p:cNvSpPr txBox="1"/>
          <p:nvPr/>
        </p:nvSpPr>
        <p:spPr>
          <a:xfrm>
            <a:off x="7816154" y="4878703"/>
            <a:ext cx="70485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IQ Scores</a:t>
            </a:r>
          </a:p>
        </p:txBody>
      </p:sp>
      <p:sp>
        <p:nvSpPr>
          <p:cNvPr id="230" name="Shape 64"/>
          <p:cNvSpPr/>
          <p:nvPr/>
        </p:nvSpPr>
        <p:spPr>
          <a:xfrm>
            <a:off x="4591050" y="5386387"/>
            <a:ext cx="7219950" cy="1190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4" y="0"/>
                </a:moveTo>
                <a:lnTo>
                  <a:pt x="21258" y="0"/>
                </a:lnTo>
                <a:cubicBezTo>
                  <a:pt x="21447" y="0"/>
                  <a:pt x="21600" y="929"/>
                  <a:pt x="21600" y="2074"/>
                </a:cubicBezTo>
                <a:lnTo>
                  <a:pt x="21600" y="19526"/>
                </a:lnTo>
                <a:cubicBezTo>
                  <a:pt x="21600" y="20671"/>
                  <a:pt x="21447" y="21600"/>
                  <a:pt x="21258" y="21600"/>
                </a:cubicBezTo>
                <a:lnTo>
                  <a:pt x="114" y="21600"/>
                </a:lnTo>
                <a:cubicBezTo>
                  <a:pt x="51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51" y="0"/>
                  <a:pt x="114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" name="Shape 65"/>
          <p:cNvSpPr/>
          <p:nvPr/>
        </p:nvSpPr>
        <p:spPr>
          <a:xfrm>
            <a:off x="4591050" y="5386387"/>
            <a:ext cx="38100" cy="1190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9679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66"/>
          <p:cNvSpPr/>
          <p:nvPr/>
        </p:nvSpPr>
        <p:spPr>
          <a:xfrm>
            <a:off x="4762500" y="5712619"/>
            <a:ext cx="533400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67"/>
          <p:cNvSpPr txBox="1"/>
          <p:nvPr/>
        </p:nvSpPr>
        <p:spPr>
          <a:xfrm>
            <a:off x="4961185" y="5850824"/>
            <a:ext cx="247651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7B9E89"/>
                </a:solidFill>
              </a:defRPr>
            </a:lvl1pPr>
          </a:lstStyle>
          <a:p>
            <a:pPr/>
            <a:r>
              <a:t>R</a:t>
            </a:r>
          </a:p>
        </p:txBody>
      </p:sp>
      <p:sp>
        <p:nvSpPr>
          <p:cNvPr id="234" name="Text 68"/>
          <p:cNvSpPr txBox="1"/>
          <p:nvPr/>
        </p:nvSpPr>
        <p:spPr>
          <a:xfrm>
            <a:off x="5448300" y="5570615"/>
            <a:ext cx="514350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Ratio</a:t>
            </a:r>
          </a:p>
        </p:txBody>
      </p:sp>
      <p:sp>
        <p:nvSpPr>
          <p:cNvPr id="235" name="Shape 69"/>
          <p:cNvSpPr/>
          <p:nvPr/>
        </p:nvSpPr>
        <p:spPr>
          <a:xfrm>
            <a:off x="5980434" y="5579269"/>
            <a:ext cx="571501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" y="0"/>
                </a:moveTo>
                <a:lnTo>
                  <a:pt x="20160" y="0"/>
                </a:lnTo>
                <a:cubicBezTo>
                  <a:pt x="20955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20955" y="21600"/>
                  <a:pt x="20160" y="21600"/>
                </a:cubicBezTo>
                <a:lnTo>
                  <a:pt x="1440" y="21600"/>
                </a:lnTo>
                <a:cubicBezTo>
                  <a:pt x="645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645" y="0"/>
                  <a:pt x="144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70"/>
          <p:cNvSpPr txBox="1"/>
          <p:nvPr/>
        </p:nvSpPr>
        <p:spPr>
          <a:xfrm>
            <a:off x="6037584" y="5594396"/>
            <a:ext cx="514351" cy="16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7B9E89"/>
                </a:solidFill>
              </a:defRPr>
            </a:lvl1pPr>
          </a:lstStyle>
          <a:p>
            <a:pPr/>
            <a:r>
              <a:t>Numeric</a:t>
            </a:r>
          </a:p>
        </p:txBody>
      </p:sp>
      <p:sp>
        <p:nvSpPr>
          <p:cNvPr id="237" name="Text 71"/>
          <p:cNvSpPr txBox="1"/>
          <p:nvPr/>
        </p:nvSpPr>
        <p:spPr>
          <a:xfrm>
            <a:off x="5448300" y="5868256"/>
            <a:ext cx="6286500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True zero point, ratios meaningful. Properties: </a:t>
            </a:r>
            <a:r>
              <a:rPr b="1"/>
              <a:t>+ Multiplication (×, ÷)</a:t>
            </a:r>
          </a:p>
        </p:txBody>
      </p:sp>
      <p:sp>
        <p:nvSpPr>
          <p:cNvPr id="238" name="Shape 72"/>
          <p:cNvSpPr/>
          <p:nvPr/>
        </p:nvSpPr>
        <p:spPr>
          <a:xfrm>
            <a:off x="5448300" y="6150769"/>
            <a:ext cx="523875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1" y="0"/>
                </a:moveTo>
                <a:lnTo>
                  <a:pt x="20029" y="0"/>
                </a:lnTo>
                <a:cubicBezTo>
                  <a:pt x="20897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0896" y="21600"/>
                  <a:pt x="20029" y="21600"/>
                </a:cubicBezTo>
                <a:lnTo>
                  <a:pt x="1571" y="21600"/>
                </a:lnTo>
                <a:cubicBezTo>
                  <a:pt x="703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704" y="0"/>
                  <a:pt x="1571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73"/>
          <p:cNvSpPr txBox="1"/>
          <p:nvPr/>
        </p:nvSpPr>
        <p:spPr>
          <a:xfrm>
            <a:off x="5486400" y="6178866"/>
            <a:ext cx="514350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240" name="Shape 74"/>
          <p:cNvSpPr/>
          <p:nvPr/>
        </p:nvSpPr>
        <p:spPr>
          <a:xfrm>
            <a:off x="6052020" y="6150769"/>
            <a:ext cx="581026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16" y="0"/>
                </a:moveTo>
                <a:lnTo>
                  <a:pt x="20184" y="0"/>
                </a:lnTo>
                <a:cubicBezTo>
                  <a:pt x="20966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0965" y="21600"/>
                  <a:pt x="20184" y="21600"/>
                </a:cubicBezTo>
                <a:lnTo>
                  <a:pt x="1416" y="21600"/>
                </a:lnTo>
                <a:cubicBezTo>
                  <a:pt x="634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635" y="0"/>
                  <a:pt x="1416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75"/>
          <p:cNvSpPr txBox="1"/>
          <p:nvPr/>
        </p:nvSpPr>
        <p:spPr>
          <a:xfrm>
            <a:off x="6090120" y="6178866"/>
            <a:ext cx="57150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Weight</a:t>
            </a:r>
          </a:p>
        </p:txBody>
      </p:sp>
      <p:sp>
        <p:nvSpPr>
          <p:cNvPr id="242" name="Shape 76"/>
          <p:cNvSpPr/>
          <p:nvPr/>
        </p:nvSpPr>
        <p:spPr>
          <a:xfrm>
            <a:off x="6706045" y="6150769"/>
            <a:ext cx="371476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5" y="0"/>
                </a:moveTo>
                <a:lnTo>
                  <a:pt x="19385" y="0"/>
                </a:lnTo>
                <a:cubicBezTo>
                  <a:pt x="2060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608" y="21600"/>
                  <a:pt x="19385" y="21600"/>
                </a:cubicBezTo>
                <a:lnTo>
                  <a:pt x="2215" y="21600"/>
                </a:lnTo>
                <a:cubicBezTo>
                  <a:pt x="99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993" y="0"/>
                  <a:pt x="2215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77"/>
          <p:cNvSpPr txBox="1"/>
          <p:nvPr/>
        </p:nvSpPr>
        <p:spPr>
          <a:xfrm>
            <a:off x="6744145" y="6178866"/>
            <a:ext cx="361951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Age</a:t>
            </a:r>
          </a:p>
        </p:txBody>
      </p:sp>
      <p:sp>
        <p:nvSpPr>
          <p:cNvPr id="244" name="Shape 78"/>
          <p:cNvSpPr/>
          <p:nvPr/>
        </p:nvSpPr>
        <p:spPr>
          <a:xfrm>
            <a:off x="7156995" y="6150769"/>
            <a:ext cx="590551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94" y="0"/>
                </a:moveTo>
                <a:lnTo>
                  <a:pt x="20206" y="0"/>
                </a:lnTo>
                <a:cubicBezTo>
                  <a:pt x="20976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7"/>
                  <a:pt x="20976" y="21600"/>
                  <a:pt x="20206" y="21600"/>
                </a:cubicBezTo>
                <a:lnTo>
                  <a:pt x="1394" y="21600"/>
                </a:lnTo>
                <a:cubicBezTo>
                  <a:pt x="624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624" y="0"/>
                  <a:pt x="1394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79"/>
          <p:cNvSpPr txBox="1"/>
          <p:nvPr/>
        </p:nvSpPr>
        <p:spPr>
          <a:xfrm>
            <a:off x="7195095" y="6178866"/>
            <a:ext cx="581026" cy="21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Income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Shape 1"/>
          <p:cNvSpPr/>
          <p:nvPr/>
        </p:nvSpPr>
        <p:spPr>
          <a:xfrm>
            <a:off x="514350" y="583406"/>
            <a:ext cx="190500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0"/>
                </a:moveTo>
                <a:cubicBezTo>
                  <a:pt x="2097" y="0"/>
                  <a:pt x="2700" y="690"/>
                  <a:pt x="2700" y="1543"/>
                </a:cubicBezTo>
                <a:lnTo>
                  <a:pt x="2700" y="17743"/>
                </a:lnTo>
                <a:cubicBezTo>
                  <a:pt x="2700" y="18167"/>
                  <a:pt x="3004" y="18514"/>
                  <a:pt x="3375" y="18514"/>
                </a:cubicBezTo>
                <a:lnTo>
                  <a:pt x="20250" y="18514"/>
                </a:lnTo>
                <a:cubicBezTo>
                  <a:pt x="20997" y="18514"/>
                  <a:pt x="21600" y="19204"/>
                  <a:pt x="21600" y="20057"/>
                </a:cubicBezTo>
                <a:cubicBezTo>
                  <a:pt x="21600" y="20910"/>
                  <a:pt x="20997" y="21600"/>
                  <a:pt x="20250" y="21600"/>
                </a:cubicBezTo>
                <a:lnTo>
                  <a:pt x="3375" y="21600"/>
                </a:lnTo>
                <a:cubicBezTo>
                  <a:pt x="1510" y="21600"/>
                  <a:pt x="0" y="19874"/>
                  <a:pt x="0" y="17743"/>
                </a:cubicBezTo>
                <a:lnTo>
                  <a:pt x="0" y="1543"/>
                </a:lnTo>
                <a:cubicBezTo>
                  <a:pt x="0" y="690"/>
                  <a:pt x="603" y="0"/>
                  <a:pt x="1350" y="0"/>
                </a:cubicBezTo>
                <a:close/>
                <a:moveTo>
                  <a:pt x="5400" y="3086"/>
                </a:moveTo>
                <a:cubicBezTo>
                  <a:pt x="5400" y="2232"/>
                  <a:pt x="6003" y="1543"/>
                  <a:pt x="6750" y="1543"/>
                </a:cubicBezTo>
                <a:lnTo>
                  <a:pt x="14850" y="1543"/>
                </a:lnTo>
                <a:cubicBezTo>
                  <a:pt x="15597" y="1543"/>
                  <a:pt x="16200" y="2232"/>
                  <a:pt x="16200" y="3086"/>
                </a:cubicBezTo>
                <a:cubicBezTo>
                  <a:pt x="16200" y="3939"/>
                  <a:pt x="15597" y="4629"/>
                  <a:pt x="14850" y="4629"/>
                </a:cubicBezTo>
                <a:lnTo>
                  <a:pt x="6750" y="4629"/>
                </a:lnTo>
                <a:cubicBezTo>
                  <a:pt x="6003" y="4629"/>
                  <a:pt x="5400" y="3939"/>
                  <a:pt x="5400" y="3086"/>
                </a:cubicBezTo>
                <a:close/>
                <a:moveTo>
                  <a:pt x="6750" y="6943"/>
                </a:moveTo>
                <a:lnTo>
                  <a:pt x="12150" y="6943"/>
                </a:lnTo>
                <a:cubicBezTo>
                  <a:pt x="12897" y="6943"/>
                  <a:pt x="13500" y="7632"/>
                  <a:pt x="13500" y="8486"/>
                </a:cubicBezTo>
                <a:cubicBezTo>
                  <a:pt x="13500" y="9339"/>
                  <a:pt x="12897" y="10029"/>
                  <a:pt x="12150" y="10029"/>
                </a:cubicBezTo>
                <a:lnTo>
                  <a:pt x="6750" y="10029"/>
                </a:lnTo>
                <a:cubicBezTo>
                  <a:pt x="6003" y="10029"/>
                  <a:pt x="5400" y="9339"/>
                  <a:pt x="5400" y="8486"/>
                </a:cubicBezTo>
                <a:cubicBezTo>
                  <a:pt x="5400" y="7632"/>
                  <a:pt x="6003" y="6943"/>
                  <a:pt x="6750" y="6943"/>
                </a:cubicBezTo>
                <a:close/>
                <a:moveTo>
                  <a:pt x="6750" y="12343"/>
                </a:moveTo>
                <a:lnTo>
                  <a:pt x="17550" y="12343"/>
                </a:lnTo>
                <a:cubicBezTo>
                  <a:pt x="18297" y="12343"/>
                  <a:pt x="18900" y="13032"/>
                  <a:pt x="18900" y="13886"/>
                </a:cubicBezTo>
                <a:cubicBezTo>
                  <a:pt x="18900" y="14739"/>
                  <a:pt x="18297" y="15429"/>
                  <a:pt x="17550" y="15429"/>
                </a:cubicBezTo>
                <a:lnTo>
                  <a:pt x="6750" y="15429"/>
                </a:lnTo>
                <a:cubicBezTo>
                  <a:pt x="6003" y="15429"/>
                  <a:pt x="5400" y="14739"/>
                  <a:pt x="5400" y="13886"/>
                </a:cubicBezTo>
                <a:cubicBezTo>
                  <a:pt x="5400" y="13032"/>
                  <a:pt x="6003" y="12343"/>
                  <a:pt x="6750" y="1234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2"/>
          <p:cNvSpPr txBox="1"/>
          <p:nvPr/>
        </p:nvSpPr>
        <p:spPr>
          <a:xfrm>
            <a:off x="952500" y="409097"/>
            <a:ext cx="268605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52" sz="1000">
                <a:solidFill>
                  <a:srgbClr val="7B9E89"/>
                </a:solidFill>
              </a:defRPr>
            </a:lvl1pPr>
          </a:lstStyle>
          <a:p>
            <a:pPr/>
            <a:r>
              <a:t>Visual Analytics</a:t>
            </a:r>
          </a:p>
        </p:txBody>
      </p:sp>
      <p:sp>
        <p:nvSpPr>
          <p:cNvPr id="250" name="Text 3"/>
          <p:cNvSpPr txBox="1"/>
          <p:nvPr/>
        </p:nvSpPr>
        <p:spPr>
          <a:xfrm>
            <a:off x="952500" y="572433"/>
            <a:ext cx="2790825" cy="379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700">
                <a:solidFill>
                  <a:srgbClr val="3D3D3D"/>
                </a:solidFill>
              </a:defRPr>
            </a:lvl1pPr>
          </a:lstStyle>
          <a:p>
            <a:pPr/>
            <a:r>
              <a:t>Data Visualization</a:t>
            </a:r>
          </a:p>
        </p:txBody>
      </p:sp>
      <p:sp>
        <p:nvSpPr>
          <p:cNvPr id="251" name="Text 4"/>
          <p:cNvSpPr txBox="1"/>
          <p:nvPr/>
        </p:nvSpPr>
        <p:spPr>
          <a:xfrm>
            <a:off x="952500" y="1102056"/>
            <a:ext cx="10944225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Transforming raw data into visual representations for pattern discovery and insight communication</a:t>
            </a:r>
          </a:p>
        </p:txBody>
      </p:sp>
      <p:sp>
        <p:nvSpPr>
          <p:cNvPr id="252" name="Shape 5"/>
          <p:cNvSpPr/>
          <p:nvPr/>
        </p:nvSpPr>
        <p:spPr>
          <a:xfrm>
            <a:off x="385763" y="1490662"/>
            <a:ext cx="3695701" cy="195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8" y="0"/>
                </a:moveTo>
                <a:lnTo>
                  <a:pt x="20932" y="0"/>
                </a:lnTo>
                <a:cubicBezTo>
                  <a:pt x="21301" y="0"/>
                  <a:pt x="21600" y="566"/>
                  <a:pt x="21600" y="1264"/>
                </a:cubicBezTo>
                <a:lnTo>
                  <a:pt x="21600" y="20336"/>
                </a:lnTo>
                <a:cubicBezTo>
                  <a:pt x="21600" y="21034"/>
                  <a:pt x="21301" y="21600"/>
                  <a:pt x="20932" y="21600"/>
                </a:cubicBezTo>
                <a:lnTo>
                  <a:pt x="668" y="21600"/>
                </a:lnTo>
                <a:cubicBezTo>
                  <a:pt x="299" y="21600"/>
                  <a:pt x="0" y="21034"/>
                  <a:pt x="0" y="20336"/>
                </a:cubicBezTo>
                <a:lnTo>
                  <a:pt x="0" y="1264"/>
                </a:lnTo>
                <a:cubicBezTo>
                  <a:pt x="0" y="567"/>
                  <a:pt x="299" y="0"/>
                  <a:pt x="6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" name="Shape 6"/>
          <p:cNvSpPr/>
          <p:nvPr/>
        </p:nvSpPr>
        <p:spPr>
          <a:xfrm>
            <a:off x="542925" y="1647825"/>
            <a:ext cx="381000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Shape 7"/>
          <p:cNvSpPr/>
          <p:nvPr/>
        </p:nvSpPr>
        <p:spPr>
          <a:xfrm>
            <a:off x="650081" y="1763316"/>
            <a:ext cx="171451" cy="150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1543"/>
                </a:moveTo>
                <a:cubicBezTo>
                  <a:pt x="2700" y="689"/>
                  <a:pt x="2097" y="0"/>
                  <a:pt x="1350" y="0"/>
                </a:cubicBezTo>
                <a:cubicBezTo>
                  <a:pt x="603" y="0"/>
                  <a:pt x="0" y="689"/>
                  <a:pt x="0" y="1543"/>
                </a:cubicBezTo>
                <a:lnTo>
                  <a:pt x="0" y="17743"/>
                </a:lnTo>
                <a:cubicBezTo>
                  <a:pt x="0" y="19874"/>
                  <a:pt x="1510" y="21600"/>
                  <a:pt x="3375" y="21600"/>
                </a:cubicBezTo>
                <a:lnTo>
                  <a:pt x="20250" y="21600"/>
                </a:lnTo>
                <a:cubicBezTo>
                  <a:pt x="20997" y="21600"/>
                  <a:pt x="21600" y="20911"/>
                  <a:pt x="21600" y="20057"/>
                </a:cubicBezTo>
                <a:cubicBezTo>
                  <a:pt x="21600" y="19204"/>
                  <a:pt x="20997" y="18514"/>
                  <a:pt x="20250" y="18514"/>
                </a:cubicBezTo>
                <a:lnTo>
                  <a:pt x="3375" y="18514"/>
                </a:lnTo>
                <a:cubicBezTo>
                  <a:pt x="3004" y="18514"/>
                  <a:pt x="2700" y="18167"/>
                  <a:pt x="2700" y="17743"/>
                </a:cubicBezTo>
                <a:lnTo>
                  <a:pt x="2700" y="1543"/>
                </a:lnTo>
                <a:close/>
                <a:moveTo>
                  <a:pt x="19853" y="5718"/>
                </a:moveTo>
                <a:cubicBezTo>
                  <a:pt x="20381" y="5116"/>
                  <a:pt x="20381" y="4137"/>
                  <a:pt x="19853" y="3534"/>
                </a:cubicBezTo>
                <a:cubicBezTo>
                  <a:pt x="19326" y="2931"/>
                  <a:pt x="18470" y="2931"/>
                  <a:pt x="17942" y="3534"/>
                </a:cubicBezTo>
                <a:lnTo>
                  <a:pt x="13500" y="8616"/>
                </a:lnTo>
                <a:lnTo>
                  <a:pt x="11078" y="5853"/>
                </a:lnTo>
                <a:cubicBezTo>
                  <a:pt x="10551" y="5250"/>
                  <a:pt x="9695" y="5250"/>
                  <a:pt x="9167" y="5853"/>
                </a:cubicBezTo>
                <a:lnTo>
                  <a:pt x="5117" y="10482"/>
                </a:lnTo>
                <a:cubicBezTo>
                  <a:pt x="4590" y="11085"/>
                  <a:pt x="4590" y="12063"/>
                  <a:pt x="5117" y="12666"/>
                </a:cubicBezTo>
                <a:cubicBezTo>
                  <a:pt x="5645" y="13269"/>
                  <a:pt x="6501" y="13269"/>
                  <a:pt x="7028" y="12666"/>
                </a:cubicBezTo>
                <a:lnTo>
                  <a:pt x="10125" y="9127"/>
                </a:lnTo>
                <a:lnTo>
                  <a:pt x="12547" y="11894"/>
                </a:lnTo>
                <a:cubicBezTo>
                  <a:pt x="13074" y="12497"/>
                  <a:pt x="13930" y="12497"/>
                  <a:pt x="14458" y="11894"/>
                </a:cubicBezTo>
                <a:lnTo>
                  <a:pt x="19858" y="5723"/>
                </a:ln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8"/>
          <p:cNvSpPr txBox="1"/>
          <p:nvPr/>
        </p:nvSpPr>
        <p:spPr>
          <a:xfrm>
            <a:off x="1038225" y="1740231"/>
            <a:ext cx="914400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Line Charts</a:t>
            </a:r>
          </a:p>
        </p:txBody>
      </p:sp>
      <p:sp>
        <p:nvSpPr>
          <p:cNvPr id="256" name="Text 9"/>
          <p:cNvSpPr txBox="1"/>
          <p:nvPr/>
        </p:nvSpPr>
        <p:spPr>
          <a:xfrm>
            <a:off x="542925" y="2165412"/>
            <a:ext cx="3457575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Show trends and changes over time</a:t>
            </a:r>
          </a:p>
        </p:txBody>
      </p:sp>
      <p:sp>
        <p:nvSpPr>
          <p:cNvPr id="257" name="Shape 10"/>
          <p:cNvSpPr/>
          <p:nvPr/>
        </p:nvSpPr>
        <p:spPr>
          <a:xfrm>
            <a:off x="542925" y="2447925"/>
            <a:ext cx="3381375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" y="0"/>
                </a:moveTo>
                <a:lnTo>
                  <a:pt x="21113" y="0"/>
                </a:lnTo>
                <a:cubicBezTo>
                  <a:pt x="2138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382" y="21600"/>
                  <a:pt x="21113" y="21600"/>
                </a:cubicBezTo>
                <a:lnTo>
                  <a:pt x="487" y="21600"/>
                </a:lnTo>
                <a:cubicBezTo>
                  <a:pt x="21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218" y="0"/>
                  <a:pt x="487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11"/>
          <p:cNvSpPr txBox="1"/>
          <p:nvPr/>
        </p:nvSpPr>
        <p:spPr>
          <a:xfrm>
            <a:off x="619125" y="2647472"/>
            <a:ext cx="329565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000">
                <a:solidFill>
                  <a:srgbClr val="3D3D3D">
                    <a:alpha val="60000"/>
                  </a:srgbClr>
                </a:solidFill>
              </a:defRPr>
            </a:pPr>
            <a:r>
              <a:t>Best for:</a:t>
            </a:r>
            <a:r>
              <a:rPr b="0"/>
              <a:t> Time series, monitoring metrics, tracking performance</a:t>
            </a:r>
          </a:p>
        </p:txBody>
      </p:sp>
      <p:sp>
        <p:nvSpPr>
          <p:cNvPr id="259" name="Shape 12"/>
          <p:cNvSpPr/>
          <p:nvPr/>
        </p:nvSpPr>
        <p:spPr>
          <a:xfrm>
            <a:off x="4246512" y="1490662"/>
            <a:ext cx="3695701" cy="195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8" y="0"/>
                </a:moveTo>
                <a:lnTo>
                  <a:pt x="20932" y="0"/>
                </a:lnTo>
                <a:cubicBezTo>
                  <a:pt x="21301" y="0"/>
                  <a:pt x="21600" y="566"/>
                  <a:pt x="21600" y="1264"/>
                </a:cubicBezTo>
                <a:lnTo>
                  <a:pt x="21600" y="20336"/>
                </a:lnTo>
                <a:cubicBezTo>
                  <a:pt x="21600" y="21034"/>
                  <a:pt x="21301" y="21600"/>
                  <a:pt x="20932" y="21600"/>
                </a:cubicBezTo>
                <a:lnTo>
                  <a:pt x="668" y="21600"/>
                </a:lnTo>
                <a:cubicBezTo>
                  <a:pt x="299" y="21600"/>
                  <a:pt x="0" y="21034"/>
                  <a:pt x="0" y="20336"/>
                </a:cubicBezTo>
                <a:lnTo>
                  <a:pt x="0" y="1264"/>
                </a:lnTo>
                <a:cubicBezTo>
                  <a:pt x="0" y="567"/>
                  <a:pt x="299" y="0"/>
                  <a:pt x="6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" name="Shape 13"/>
          <p:cNvSpPr/>
          <p:nvPr/>
        </p:nvSpPr>
        <p:spPr>
          <a:xfrm>
            <a:off x="4403675" y="1647825"/>
            <a:ext cx="381001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14"/>
          <p:cNvSpPr/>
          <p:nvPr/>
        </p:nvSpPr>
        <p:spPr>
          <a:xfrm>
            <a:off x="4510832" y="1763316"/>
            <a:ext cx="171451" cy="150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0"/>
                </a:moveTo>
                <a:cubicBezTo>
                  <a:pt x="2097" y="0"/>
                  <a:pt x="2700" y="689"/>
                  <a:pt x="2700" y="1543"/>
                </a:cubicBezTo>
                <a:lnTo>
                  <a:pt x="2700" y="17743"/>
                </a:lnTo>
                <a:cubicBezTo>
                  <a:pt x="2700" y="18167"/>
                  <a:pt x="3004" y="18514"/>
                  <a:pt x="3375" y="18514"/>
                </a:cubicBezTo>
                <a:lnTo>
                  <a:pt x="20250" y="18514"/>
                </a:lnTo>
                <a:cubicBezTo>
                  <a:pt x="20997" y="18514"/>
                  <a:pt x="21600" y="19204"/>
                  <a:pt x="21600" y="20057"/>
                </a:cubicBezTo>
                <a:cubicBezTo>
                  <a:pt x="21600" y="20911"/>
                  <a:pt x="20997" y="21600"/>
                  <a:pt x="20250" y="21600"/>
                </a:cubicBezTo>
                <a:lnTo>
                  <a:pt x="3375" y="21600"/>
                </a:lnTo>
                <a:cubicBezTo>
                  <a:pt x="1510" y="21600"/>
                  <a:pt x="0" y="19874"/>
                  <a:pt x="0" y="17743"/>
                </a:cubicBezTo>
                <a:lnTo>
                  <a:pt x="0" y="1543"/>
                </a:lnTo>
                <a:cubicBezTo>
                  <a:pt x="0" y="689"/>
                  <a:pt x="603" y="0"/>
                  <a:pt x="1350" y="0"/>
                </a:cubicBezTo>
                <a:close/>
                <a:moveTo>
                  <a:pt x="5400" y="3086"/>
                </a:moveTo>
                <a:cubicBezTo>
                  <a:pt x="5400" y="2232"/>
                  <a:pt x="6003" y="1543"/>
                  <a:pt x="6750" y="1543"/>
                </a:cubicBezTo>
                <a:lnTo>
                  <a:pt x="14850" y="1543"/>
                </a:lnTo>
                <a:cubicBezTo>
                  <a:pt x="15597" y="1543"/>
                  <a:pt x="16200" y="2232"/>
                  <a:pt x="16200" y="3086"/>
                </a:cubicBezTo>
                <a:cubicBezTo>
                  <a:pt x="16200" y="3939"/>
                  <a:pt x="15597" y="4629"/>
                  <a:pt x="14850" y="4629"/>
                </a:cubicBezTo>
                <a:lnTo>
                  <a:pt x="6750" y="4629"/>
                </a:lnTo>
                <a:cubicBezTo>
                  <a:pt x="6003" y="4629"/>
                  <a:pt x="5400" y="3939"/>
                  <a:pt x="5400" y="3086"/>
                </a:cubicBezTo>
                <a:close/>
                <a:moveTo>
                  <a:pt x="6750" y="6943"/>
                </a:moveTo>
                <a:lnTo>
                  <a:pt x="12150" y="6943"/>
                </a:lnTo>
                <a:cubicBezTo>
                  <a:pt x="12897" y="6943"/>
                  <a:pt x="13500" y="7632"/>
                  <a:pt x="13500" y="8486"/>
                </a:cubicBezTo>
                <a:cubicBezTo>
                  <a:pt x="13500" y="9339"/>
                  <a:pt x="12897" y="10029"/>
                  <a:pt x="12150" y="10029"/>
                </a:cubicBezTo>
                <a:lnTo>
                  <a:pt x="6750" y="10029"/>
                </a:lnTo>
                <a:cubicBezTo>
                  <a:pt x="6003" y="10029"/>
                  <a:pt x="5400" y="9339"/>
                  <a:pt x="5400" y="8486"/>
                </a:cubicBezTo>
                <a:cubicBezTo>
                  <a:pt x="5400" y="7632"/>
                  <a:pt x="6003" y="6943"/>
                  <a:pt x="6750" y="6943"/>
                </a:cubicBezTo>
                <a:close/>
                <a:moveTo>
                  <a:pt x="6750" y="12343"/>
                </a:moveTo>
                <a:lnTo>
                  <a:pt x="17550" y="12343"/>
                </a:lnTo>
                <a:cubicBezTo>
                  <a:pt x="18297" y="12343"/>
                  <a:pt x="18900" y="13032"/>
                  <a:pt x="18900" y="13886"/>
                </a:cubicBezTo>
                <a:cubicBezTo>
                  <a:pt x="18900" y="14739"/>
                  <a:pt x="18297" y="15429"/>
                  <a:pt x="17550" y="15429"/>
                </a:cubicBezTo>
                <a:lnTo>
                  <a:pt x="6750" y="15429"/>
                </a:lnTo>
                <a:cubicBezTo>
                  <a:pt x="6003" y="15429"/>
                  <a:pt x="5400" y="14739"/>
                  <a:pt x="5400" y="13886"/>
                </a:cubicBezTo>
                <a:cubicBezTo>
                  <a:pt x="5400" y="13032"/>
                  <a:pt x="6003" y="12343"/>
                  <a:pt x="6750" y="1234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15"/>
          <p:cNvSpPr txBox="1"/>
          <p:nvPr/>
        </p:nvSpPr>
        <p:spPr>
          <a:xfrm>
            <a:off x="4898975" y="1740231"/>
            <a:ext cx="847726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Bar Charts</a:t>
            </a:r>
          </a:p>
        </p:txBody>
      </p:sp>
      <p:sp>
        <p:nvSpPr>
          <p:cNvPr id="263" name="Text 16"/>
          <p:cNvSpPr txBox="1"/>
          <p:nvPr/>
        </p:nvSpPr>
        <p:spPr>
          <a:xfrm>
            <a:off x="4403675" y="2165412"/>
            <a:ext cx="345757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Compare quantities across categories</a:t>
            </a:r>
          </a:p>
        </p:txBody>
      </p:sp>
      <p:sp>
        <p:nvSpPr>
          <p:cNvPr id="264" name="Shape 17"/>
          <p:cNvSpPr/>
          <p:nvPr/>
        </p:nvSpPr>
        <p:spPr>
          <a:xfrm>
            <a:off x="4403675" y="2447925"/>
            <a:ext cx="3381376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" y="0"/>
                </a:moveTo>
                <a:lnTo>
                  <a:pt x="21113" y="0"/>
                </a:lnTo>
                <a:cubicBezTo>
                  <a:pt x="2138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382" y="21600"/>
                  <a:pt x="21113" y="21600"/>
                </a:cubicBezTo>
                <a:lnTo>
                  <a:pt x="487" y="21600"/>
                </a:lnTo>
                <a:cubicBezTo>
                  <a:pt x="21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218" y="0"/>
                  <a:pt x="487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18"/>
          <p:cNvSpPr txBox="1"/>
          <p:nvPr/>
        </p:nvSpPr>
        <p:spPr>
          <a:xfrm>
            <a:off x="4479875" y="2564192"/>
            <a:ext cx="3295651" cy="300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000">
                <a:solidFill>
                  <a:srgbClr val="3D3D3D">
                    <a:alpha val="60000"/>
                  </a:srgbClr>
                </a:solidFill>
              </a:defRPr>
            </a:pPr>
            <a:r>
              <a:t>Best for:</a:t>
            </a:r>
            <a:r>
              <a:rPr b="0"/>
              <a:t> Category comparisons, rankings, performance differences</a:t>
            </a:r>
          </a:p>
        </p:txBody>
      </p:sp>
      <p:sp>
        <p:nvSpPr>
          <p:cNvPr id="266" name="Shape 19"/>
          <p:cNvSpPr/>
          <p:nvPr/>
        </p:nvSpPr>
        <p:spPr>
          <a:xfrm>
            <a:off x="8107337" y="1490662"/>
            <a:ext cx="3695701" cy="195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8" y="0"/>
                </a:moveTo>
                <a:lnTo>
                  <a:pt x="20932" y="0"/>
                </a:lnTo>
                <a:cubicBezTo>
                  <a:pt x="21301" y="0"/>
                  <a:pt x="21600" y="566"/>
                  <a:pt x="21600" y="1264"/>
                </a:cubicBezTo>
                <a:lnTo>
                  <a:pt x="21600" y="20336"/>
                </a:lnTo>
                <a:cubicBezTo>
                  <a:pt x="21600" y="21034"/>
                  <a:pt x="21301" y="21600"/>
                  <a:pt x="20932" y="21600"/>
                </a:cubicBezTo>
                <a:lnTo>
                  <a:pt x="668" y="21600"/>
                </a:lnTo>
                <a:cubicBezTo>
                  <a:pt x="299" y="21600"/>
                  <a:pt x="0" y="21034"/>
                  <a:pt x="0" y="20336"/>
                </a:cubicBezTo>
                <a:lnTo>
                  <a:pt x="0" y="1264"/>
                </a:lnTo>
                <a:cubicBezTo>
                  <a:pt x="0" y="567"/>
                  <a:pt x="299" y="0"/>
                  <a:pt x="6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" name="Shape 20"/>
          <p:cNvSpPr/>
          <p:nvPr/>
        </p:nvSpPr>
        <p:spPr>
          <a:xfrm>
            <a:off x="8264500" y="1647825"/>
            <a:ext cx="381001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hape 21"/>
          <p:cNvSpPr/>
          <p:nvPr/>
        </p:nvSpPr>
        <p:spPr>
          <a:xfrm>
            <a:off x="8393087" y="1747241"/>
            <a:ext cx="128589" cy="182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00" y="6353"/>
                </a:moveTo>
                <a:cubicBezTo>
                  <a:pt x="6984" y="6353"/>
                  <a:pt x="9000" y="4930"/>
                  <a:pt x="9000" y="3176"/>
                </a:cubicBezTo>
                <a:cubicBezTo>
                  <a:pt x="9000" y="1423"/>
                  <a:pt x="6984" y="0"/>
                  <a:pt x="4500" y="0"/>
                </a:cubicBezTo>
                <a:cubicBezTo>
                  <a:pt x="2016" y="0"/>
                  <a:pt x="0" y="1423"/>
                  <a:pt x="0" y="3176"/>
                </a:cubicBezTo>
                <a:cubicBezTo>
                  <a:pt x="0" y="4930"/>
                  <a:pt x="2016" y="6353"/>
                  <a:pt x="4500" y="6353"/>
                </a:cubicBezTo>
                <a:close/>
                <a:moveTo>
                  <a:pt x="4500" y="13976"/>
                </a:moveTo>
                <a:cubicBezTo>
                  <a:pt x="6984" y="13976"/>
                  <a:pt x="9000" y="12553"/>
                  <a:pt x="9000" y="10800"/>
                </a:cubicBezTo>
                <a:cubicBezTo>
                  <a:pt x="9000" y="9047"/>
                  <a:pt x="6984" y="7624"/>
                  <a:pt x="4500" y="7624"/>
                </a:cubicBezTo>
                <a:cubicBezTo>
                  <a:pt x="2016" y="7624"/>
                  <a:pt x="0" y="9047"/>
                  <a:pt x="0" y="10800"/>
                </a:cubicBezTo>
                <a:cubicBezTo>
                  <a:pt x="0" y="12553"/>
                  <a:pt x="2016" y="13976"/>
                  <a:pt x="4500" y="13976"/>
                </a:cubicBezTo>
                <a:close/>
                <a:moveTo>
                  <a:pt x="4500" y="19376"/>
                </a:moveTo>
                <a:cubicBezTo>
                  <a:pt x="3752" y="19376"/>
                  <a:pt x="3150" y="18952"/>
                  <a:pt x="3150" y="18424"/>
                </a:cubicBezTo>
                <a:cubicBezTo>
                  <a:pt x="3150" y="17895"/>
                  <a:pt x="3752" y="17471"/>
                  <a:pt x="4500" y="17471"/>
                </a:cubicBezTo>
                <a:cubicBezTo>
                  <a:pt x="5248" y="17471"/>
                  <a:pt x="5850" y="17895"/>
                  <a:pt x="5850" y="18424"/>
                </a:cubicBezTo>
                <a:cubicBezTo>
                  <a:pt x="5850" y="18952"/>
                  <a:pt x="5248" y="19376"/>
                  <a:pt x="4500" y="19376"/>
                </a:cubicBezTo>
                <a:close/>
                <a:moveTo>
                  <a:pt x="4500" y="21600"/>
                </a:moveTo>
                <a:cubicBezTo>
                  <a:pt x="6986" y="21600"/>
                  <a:pt x="9000" y="20179"/>
                  <a:pt x="9000" y="18424"/>
                </a:cubicBezTo>
                <a:cubicBezTo>
                  <a:pt x="9000" y="16669"/>
                  <a:pt x="6986" y="15247"/>
                  <a:pt x="4500" y="15247"/>
                </a:cubicBezTo>
                <a:cubicBezTo>
                  <a:pt x="2014" y="15247"/>
                  <a:pt x="0" y="16669"/>
                  <a:pt x="0" y="18424"/>
                </a:cubicBezTo>
                <a:cubicBezTo>
                  <a:pt x="0" y="20179"/>
                  <a:pt x="2014" y="21600"/>
                  <a:pt x="4500" y="21600"/>
                </a:cubicBezTo>
                <a:close/>
                <a:moveTo>
                  <a:pt x="18450" y="18424"/>
                </a:moveTo>
                <a:cubicBezTo>
                  <a:pt x="18450" y="18952"/>
                  <a:pt x="17848" y="19376"/>
                  <a:pt x="17100" y="19376"/>
                </a:cubicBezTo>
                <a:cubicBezTo>
                  <a:pt x="16352" y="19376"/>
                  <a:pt x="15750" y="18952"/>
                  <a:pt x="15750" y="18424"/>
                </a:cubicBezTo>
                <a:cubicBezTo>
                  <a:pt x="15750" y="17895"/>
                  <a:pt x="16352" y="17471"/>
                  <a:pt x="17100" y="17471"/>
                </a:cubicBezTo>
                <a:cubicBezTo>
                  <a:pt x="17848" y="17471"/>
                  <a:pt x="18450" y="17895"/>
                  <a:pt x="18450" y="18424"/>
                </a:cubicBezTo>
                <a:close/>
                <a:moveTo>
                  <a:pt x="21600" y="18424"/>
                </a:moveTo>
                <a:cubicBezTo>
                  <a:pt x="21600" y="16669"/>
                  <a:pt x="19586" y="15247"/>
                  <a:pt x="17100" y="15247"/>
                </a:cubicBezTo>
                <a:cubicBezTo>
                  <a:pt x="14614" y="15247"/>
                  <a:pt x="12600" y="16669"/>
                  <a:pt x="12600" y="18424"/>
                </a:cubicBezTo>
                <a:cubicBezTo>
                  <a:pt x="12600" y="20179"/>
                  <a:pt x="14614" y="21600"/>
                  <a:pt x="17100" y="21600"/>
                </a:cubicBezTo>
                <a:cubicBezTo>
                  <a:pt x="19586" y="21600"/>
                  <a:pt x="21600" y="20179"/>
                  <a:pt x="21600" y="18424"/>
                </a:cubicBezTo>
                <a:close/>
                <a:moveTo>
                  <a:pt x="17100" y="9847"/>
                </a:moveTo>
                <a:cubicBezTo>
                  <a:pt x="17845" y="9847"/>
                  <a:pt x="18450" y="10274"/>
                  <a:pt x="18450" y="10800"/>
                </a:cubicBezTo>
                <a:cubicBezTo>
                  <a:pt x="18450" y="11326"/>
                  <a:pt x="17845" y="11753"/>
                  <a:pt x="17100" y="11753"/>
                </a:cubicBezTo>
                <a:cubicBezTo>
                  <a:pt x="16355" y="11753"/>
                  <a:pt x="15750" y="11326"/>
                  <a:pt x="15750" y="10800"/>
                </a:cubicBezTo>
                <a:cubicBezTo>
                  <a:pt x="15750" y="10274"/>
                  <a:pt x="16355" y="9847"/>
                  <a:pt x="17100" y="9847"/>
                </a:cubicBezTo>
                <a:close/>
                <a:moveTo>
                  <a:pt x="17100" y="13976"/>
                </a:moveTo>
                <a:cubicBezTo>
                  <a:pt x="19584" y="13976"/>
                  <a:pt x="21600" y="12553"/>
                  <a:pt x="21600" y="10800"/>
                </a:cubicBezTo>
                <a:cubicBezTo>
                  <a:pt x="21600" y="9047"/>
                  <a:pt x="19584" y="7624"/>
                  <a:pt x="17100" y="7624"/>
                </a:cubicBezTo>
                <a:cubicBezTo>
                  <a:pt x="14616" y="7624"/>
                  <a:pt x="12600" y="9047"/>
                  <a:pt x="12600" y="10800"/>
                </a:cubicBezTo>
                <a:cubicBezTo>
                  <a:pt x="12600" y="12553"/>
                  <a:pt x="14616" y="13976"/>
                  <a:pt x="17100" y="13976"/>
                </a:cubicBezTo>
                <a:close/>
                <a:moveTo>
                  <a:pt x="17100" y="6353"/>
                </a:moveTo>
                <a:cubicBezTo>
                  <a:pt x="19584" y="6353"/>
                  <a:pt x="21600" y="4930"/>
                  <a:pt x="21600" y="3176"/>
                </a:cubicBezTo>
                <a:cubicBezTo>
                  <a:pt x="21600" y="1423"/>
                  <a:pt x="19584" y="0"/>
                  <a:pt x="17100" y="0"/>
                </a:cubicBezTo>
                <a:cubicBezTo>
                  <a:pt x="14616" y="0"/>
                  <a:pt x="12600" y="1423"/>
                  <a:pt x="12600" y="3176"/>
                </a:cubicBezTo>
                <a:cubicBezTo>
                  <a:pt x="12600" y="4930"/>
                  <a:pt x="14616" y="6353"/>
                  <a:pt x="17100" y="6353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22"/>
          <p:cNvSpPr txBox="1"/>
          <p:nvPr/>
        </p:nvSpPr>
        <p:spPr>
          <a:xfrm>
            <a:off x="8759800" y="1740231"/>
            <a:ext cx="1009651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Scatter Plots</a:t>
            </a:r>
          </a:p>
        </p:txBody>
      </p:sp>
      <p:sp>
        <p:nvSpPr>
          <p:cNvPr id="270" name="Text 23"/>
          <p:cNvSpPr txBox="1"/>
          <p:nvPr/>
        </p:nvSpPr>
        <p:spPr>
          <a:xfrm>
            <a:off x="8264500" y="2165412"/>
            <a:ext cx="345757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Reveal relationships between two variables</a:t>
            </a:r>
          </a:p>
        </p:txBody>
      </p:sp>
      <p:sp>
        <p:nvSpPr>
          <p:cNvPr id="271" name="Shape 24"/>
          <p:cNvSpPr/>
          <p:nvPr/>
        </p:nvSpPr>
        <p:spPr>
          <a:xfrm>
            <a:off x="8264500" y="2447925"/>
            <a:ext cx="3381376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" y="0"/>
                </a:moveTo>
                <a:lnTo>
                  <a:pt x="21113" y="0"/>
                </a:lnTo>
                <a:cubicBezTo>
                  <a:pt x="2138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382" y="21600"/>
                  <a:pt x="21113" y="21600"/>
                </a:cubicBezTo>
                <a:lnTo>
                  <a:pt x="487" y="21600"/>
                </a:lnTo>
                <a:cubicBezTo>
                  <a:pt x="21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218" y="0"/>
                  <a:pt x="487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25"/>
          <p:cNvSpPr txBox="1"/>
          <p:nvPr/>
        </p:nvSpPr>
        <p:spPr>
          <a:xfrm>
            <a:off x="8340700" y="2564192"/>
            <a:ext cx="3295651" cy="300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000">
                <a:solidFill>
                  <a:srgbClr val="3D3D3D">
                    <a:alpha val="60000"/>
                  </a:srgbClr>
                </a:solidFill>
              </a:defRPr>
            </a:pPr>
            <a:r>
              <a:t>Best for:</a:t>
            </a:r>
            <a:r>
              <a:rPr b="0"/>
              <a:t> Correlation analysis, outlier detection, clustering validation</a:t>
            </a:r>
          </a:p>
        </p:txBody>
      </p:sp>
      <p:sp>
        <p:nvSpPr>
          <p:cNvPr id="273" name="Shape 26"/>
          <p:cNvSpPr/>
          <p:nvPr/>
        </p:nvSpPr>
        <p:spPr>
          <a:xfrm>
            <a:off x="385763" y="3605212"/>
            <a:ext cx="3695701" cy="195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8" y="0"/>
                </a:moveTo>
                <a:lnTo>
                  <a:pt x="20932" y="0"/>
                </a:lnTo>
                <a:cubicBezTo>
                  <a:pt x="21301" y="0"/>
                  <a:pt x="21600" y="566"/>
                  <a:pt x="21600" y="1264"/>
                </a:cubicBezTo>
                <a:lnTo>
                  <a:pt x="21600" y="20336"/>
                </a:lnTo>
                <a:cubicBezTo>
                  <a:pt x="21600" y="21034"/>
                  <a:pt x="21301" y="21600"/>
                  <a:pt x="20932" y="21600"/>
                </a:cubicBezTo>
                <a:lnTo>
                  <a:pt x="668" y="21600"/>
                </a:lnTo>
                <a:cubicBezTo>
                  <a:pt x="299" y="21600"/>
                  <a:pt x="0" y="21034"/>
                  <a:pt x="0" y="20336"/>
                </a:cubicBezTo>
                <a:lnTo>
                  <a:pt x="0" y="1264"/>
                </a:lnTo>
                <a:cubicBezTo>
                  <a:pt x="0" y="567"/>
                  <a:pt x="299" y="0"/>
                  <a:pt x="6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Shape 27"/>
          <p:cNvSpPr/>
          <p:nvPr/>
        </p:nvSpPr>
        <p:spPr>
          <a:xfrm>
            <a:off x="542925" y="3762375"/>
            <a:ext cx="381000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Shape 28"/>
          <p:cNvSpPr/>
          <p:nvPr/>
        </p:nvSpPr>
        <p:spPr>
          <a:xfrm>
            <a:off x="650081" y="3877866"/>
            <a:ext cx="171451" cy="150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0"/>
                </a:moveTo>
                <a:cubicBezTo>
                  <a:pt x="2097" y="0"/>
                  <a:pt x="2700" y="689"/>
                  <a:pt x="2700" y="1543"/>
                </a:cubicBezTo>
                <a:lnTo>
                  <a:pt x="2700" y="17743"/>
                </a:lnTo>
                <a:cubicBezTo>
                  <a:pt x="2700" y="18167"/>
                  <a:pt x="3004" y="18514"/>
                  <a:pt x="3375" y="18514"/>
                </a:cubicBezTo>
                <a:lnTo>
                  <a:pt x="20250" y="18514"/>
                </a:lnTo>
                <a:cubicBezTo>
                  <a:pt x="20997" y="18514"/>
                  <a:pt x="21600" y="19204"/>
                  <a:pt x="21600" y="20057"/>
                </a:cubicBezTo>
                <a:cubicBezTo>
                  <a:pt x="21600" y="20911"/>
                  <a:pt x="20997" y="21600"/>
                  <a:pt x="20250" y="21600"/>
                </a:cubicBezTo>
                <a:lnTo>
                  <a:pt x="3375" y="21600"/>
                </a:lnTo>
                <a:cubicBezTo>
                  <a:pt x="1510" y="21600"/>
                  <a:pt x="0" y="19874"/>
                  <a:pt x="0" y="17743"/>
                </a:cubicBezTo>
                <a:lnTo>
                  <a:pt x="0" y="1543"/>
                </a:lnTo>
                <a:cubicBezTo>
                  <a:pt x="0" y="689"/>
                  <a:pt x="603" y="0"/>
                  <a:pt x="1350" y="0"/>
                </a:cubicBezTo>
                <a:close/>
                <a:moveTo>
                  <a:pt x="10125" y="3086"/>
                </a:moveTo>
                <a:cubicBezTo>
                  <a:pt x="10408" y="3086"/>
                  <a:pt x="10678" y="3221"/>
                  <a:pt x="10872" y="3462"/>
                </a:cubicBezTo>
                <a:lnTo>
                  <a:pt x="13871" y="7198"/>
                </a:lnTo>
                <a:lnTo>
                  <a:pt x="15820" y="4966"/>
                </a:lnTo>
                <a:cubicBezTo>
                  <a:pt x="16217" y="4513"/>
                  <a:pt x="16858" y="4513"/>
                  <a:pt x="17251" y="4966"/>
                </a:cubicBezTo>
                <a:lnTo>
                  <a:pt x="19950" y="8052"/>
                </a:lnTo>
                <a:cubicBezTo>
                  <a:pt x="20140" y="8269"/>
                  <a:pt x="20246" y="8563"/>
                  <a:pt x="20246" y="8871"/>
                </a:cubicBezTo>
                <a:lnTo>
                  <a:pt x="20246" y="14271"/>
                </a:lnTo>
                <a:cubicBezTo>
                  <a:pt x="20246" y="14913"/>
                  <a:pt x="19794" y="15429"/>
                  <a:pt x="19233" y="15429"/>
                </a:cubicBezTo>
                <a:lnTo>
                  <a:pt x="6408" y="15429"/>
                </a:lnTo>
                <a:cubicBezTo>
                  <a:pt x="5847" y="15429"/>
                  <a:pt x="5396" y="14913"/>
                  <a:pt x="5396" y="14271"/>
                </a:cubicBezTo>
                <a:lnTo>
                  <a:pt x="5396" y="8871"/>
                </a:lnTo>
                <a:cubicBezTo>
                  <a:pt x="5396" y="8582"/>
                  <a:pt x="5493" y="8302"/>
                  <a:pt x="5662" y="8090"/>
                </a:cubicBezTo>
                <a:lnTo>
                  <a:pt x="9374" y="3462"/>
                </a:lnTo>
                <a:cubicBezTo>
                  <a:pt x="9564" y="3221"/>
                  <a:pt x="9838" y="3086"/>
                  <a:pt x="10121" y="3086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29"/>
          <p:cNvSpPr txBox="1"/>
          <p:nvPr/>
        </p:nvSpPr>
        <p:spPr>
          <a:xfrm>
            <a:off x="1038225" y="3854781"/>
            <a:ext cx="923925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Histograms</a:t>
            </a:r>
          </a:p>
        </p:txBody>
      </p:sp>
      <p:sp>
        <p:nvSpPr>
          <p:cNvPr id="277" name="Text 30"/>
          <p:cNvSpPr txBox="1"/>
          <p:nvPr/>
        </p:nvSpPr>
        <p:spPr>
          <a:xfrm>
            <a:off x="542925" y="4279962"/>
            <a:ext cx="3457575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Display frequency distribution of values</a:t>
            </a:r>
          </a:p>
        </p:txBody>
      </p:sp>
      <p:sp>
        <p:nvSpPr>
          <p:cNvPr id="278" name="Shape 31"/>
          <p:cNvSpPr/>
          <p:nvPr/>
        </p:nvSpPr>
        <p:spPr>
          <a:xfrm>
            <a:off x="542925" y="4562475"/>
            <a:ext cx="3381375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" y="0"/>
                </a:moveTo>
                <a:lnTo>
                  <a:pt x="21113" y="0"/>
                </a:lnTo>
                <a:cubicBezTo>
                  <a:pt x="2138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382" y="21600"/>
                  <a:pt x="21113" y="21600"/>
                </a:cubicBezTo>
                <a:lnTo>
                  <a:pt x="487" y="21600"/>
                </a:lnTo>
                <a:cubicBezTo>
                  <a:pt x="21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218" y="0"/>
                  <a:pt x="487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32"/>
          <p:cNvSpPr txBox="1"/>
          <p:nvPr/>
        </p:nvSpPr>
        <p:spPr>
          <a:xfrm>
            <a:off x="619125" y="4762022"/>
            <a:ext cx="329565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000">
                <a:solidFill>
                  <a:srgbClr val="3D3D3D">
                    <a:alpha val="60000"/>
                  </a:srgbClr>
                </a:solidFill>
              </a:defRPr>
            </a:pPr>
            <a:r>
              <a:t>Best for:</a:t>
            </a:r>
            <a:r>
              <a:rPr b="0"/>
              <a:t> Data distribution, skewness detection, range analysis</a:t>
            </a:r>
          </a:p>
        </p:txBody>
      </p:sp>
      <p:sp>
        <p:nvSpPr>
          <p:cNvPr id="280" name="Shape 33"/>
          <p:cNvSpPr/>
          <p:nvPr/>
        </p:nvSpPr>
        <p:spPr>
          <a:xfrm>
            <a:off x="4246512" y="3605212"/>
            <a:ext cx="3695701" cy="195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8" y="0"/>
                </a:moveTo>
                <a:lnTo>
                  <a:pt x="20932" y="0"/>
                </a:lnTo>
                <a:cubicBezTo>
                  <a:pt x="21301" y="0"/>
                  <a:pt x="21600" y="566"/>
                  <a:pt x="21600" y="1264"/>
                </a:cubicBezTo>
                <a:lnTo>
                  <a:pt x="21600" y="20336"/>
                </a:lnTo>
                <a:cubicBezTo>
                  <a:pt x="21600" y="21034"/>
                  <a:pt x="21301" y="21600"/>
                  <a:pt x="20932" y="21600"/>
                </a:cubicBezTo>
                <a:lnTo>
                  <a:pt x="668" y="21600"/>
                </a:lnTo>
                <a:cubicBezTo>
                  <a:pt x="299" y="21600"/>
                  <a:pt x="0" y="21034"/>
                  <a:pt x="0" y="20336"/>
                </a:cubicBezTo>
                <a:lnTo>
                  <a:pt x="0" y="1264"/>
                </a:lnTo>
                <a:cubicBezTo>
                  <a:pt x="0" y="567"/>
                  <a:pt x="299" y="0"/>
                  <a:pt x="6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" name="Shape 34"/>
          <p:cNvSpPr/>
          <p:nvPr/>
        </p:nvSpPr>
        <p:spPr>
          <a:xfrm>
            <a:off x="4403675" y="3762375"/>
            <a:ext cx="381001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Shape 35"/>
          <p:cNvSpPr/>
          <p:nvPr/>
        </p:nvSpPr>
        <p:spPr>
          <a:xfrm>
            <a:off x="4521546" y="3872507"/>
            <a:ext cx="150020" cy="1553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0" y="5214"/>
                </a:moveTo>
                <a:lnTo>
                  <a:pt x="16157" y="2979"/>
                </a:lnTo>
                <a:lnTo>
                  <a:pt x="5448" y="2979"/>
                </a:lnTo>
                <a:lnTo>
                  <a:pt x="3794" y="5214"/>
                </a:lnTo>
                <a:lnTo>
                  <a:pt x="17810" y="5214"/>
                </a:lnTo>
                <a:close/>
                <a:moveTo>
                  <a:pt x="0" y="6168"/>
                </a:moveTo>
                <a:cubicBezTo>
                  <a:pt x="0" y="5549"/>
                  <a:pt x="202" y="4944"/>
                  <a:pt x="574" y="4436"/>
                </a:cubicBezTo>
                <a:lnTo>
                  <a:pt x="2936" y="1248"/>
                </a:lnTo>
                <a:cubicBezTo>
                  <a:pt x="3515" y="465"/>
                  <a:pt x="4450" y="0"/>
                  <a:pt x="5443" y="0"/>
                </a:cubicBezTo>
                <a:lnTo>
                  <a:pt x="16152" y="0"/>
                </a:lnTo>
                <a:cubicBezTo>
                  <a:pt x="17150" y="0"/>
                  <a:pt x="18085" y="465"/>
                  <a:pt x="18664" y="1248"/>
                </a:cubicBezTo>
                <a:lnTo>
                  <a:pt x="21021" y="4436"/>
                </a:lnTo>
                <a:cubicBezTo>
                  <a:pt x="21397" y="4944"/>
                  <a:pt x="21595" y="5549"/>
                  <a:pt x="21595" y="6168"/>
                </a:cubicBezTo>
                <a:lnTo>
                  <a:pt x="21600" y="18621"/>
                </a:lnTo>
                <a:cubicBezTo>
                  <a:pt x="21600" y="20264"/>
                  <a:pt x="20216" y="21600"/>
                  <a:pt x="18514" y="21600"/>
                </a:cubicBezTo>
                <a:lnTo>
                  <a:pt x="3086" y="21600"/>
                </a:lnTo>
                <a:cubicBezTo>
                  <a:pt x="1384" y="21600"/>
                  <a:pt x="0" y="20264"/>
                  <a:pt x="0" y="18621"/>
                </a:cubicBezTo>
                <a:lnTo>
                  <a:pt x="0" y="6168"/>
                </a:ln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36"/>
          <p:cNvSpPr txBox="1"/>
          <p:nvPr/>
        </p:nvSpPr>
        <p:spPr>
          <a:xfrm>
            <a:off x="4898975" y="3854781"/>
            <a:ext cx="762001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Box Plots</a:t>
            </a:r>
          </a:p>
        </p:txBody>
      </p:sp>
      <p:sp>
        <p:nvSpPr>
          <p:cNvPr id="284" name="Text 37"/>
          <p:cNvSpPr txBox="1"/>
          <p:nvPr/>
        </p:nvSpPr>
        <p:spPr>
          <a:xfrm>
            <a:off x="4403675" y="4279962"/>
            <a:ext cx="345757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Summarize distribution with quartiles and outliers</a:t>
            </a:r>
          </a:p>
        </p:txBody>
      </p:sp>
      <p:sp>
        <p:nvSpPr>
          <p:cNvPr id="285" name="Shape 38"/>
          <p:cNvSpPr/>
          <p:nvPr/>
        </p:nvSpPr>
        <p:spPr>
          <a:xfrm>
            <a:off x="4403675" y="4562475"/>
            <a:ext cx="3381376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" y="0"/>
                </a:moveTo>
                <a:lnTo>
                  <a:pt x="21113" y="0"/>
                </a:lnTo>
                <a:cubicBezTo>
                  <a:pt x="2138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382" y="21600"/>
                  <a:pt x="21113" y="21600"/>
                </a:cubicBezTo>
                <a:lnTo>
                  <a:pt x="487" y="21600"/>
                </a:lnTo>
                <a:cubicBezTo>
                  <a:pt x="21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218" y="0"/>
                  <a:pt x="487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39"/>
          <p:cNvSpPr txBox="1"/>
          <p:nvPr/>
        </p:nvSpPr>
        <p:spPr>
          <a:xfrm>
            <a:off x="4479875" y="4678742"/>
            <a:ext cx="3295651" cy="300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000">
                <a:solidFill>
                  <a:srgbClr val="3D3D3D">
                    <a:alpha val="60000"/>
                  </a:srgbClr>
                </a:solidFill>
              </a:defRPr>
            </a:pPr>
            <a:r>
              <a:t>Best for:</a:t>
            </a:r>
            <a:r>
              <a:rPr b="0"/>
              <a:t> Statistical summaries, outlier identification, group comparisons</a:t>
            </a:r>
          </a:p>
        </p:txBody>
      </p:sp>
      <p:sp>
        <p:nvSpPr>
          <p:cNvPr id="287" name="Shape 40"/>
          <p:cNvSpPr/>
          <p:nvPr/>
        </p:nvSpPr>
        <p:spPr>
          <a:xfrm>
            <a:off x="8107337" y="3605212"/>
            <a:ext cx="3695701" cy="195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8" y="0"/>
                </a:moveTo>
                <a:lnTo>
                  <a:pt x="20932" y="0"/>
                </a:lnTo>
                <a:cubicBezTo>
                  <a:pt x="21301" y="0"/>
                  <a:pt x="21600" y="566"/>
                  <a:pt x="21600" y="1264"/>
                </a:cubicBezTo>
                <a:lnTo>
                  <a:pt x="21600" y="20336"/>
                </a:lnTo>
                <a:cubicBezTo>
                  <a:pt x="21600" y="21034"/>
                  <a:pt x="21301" y="21600"/>
                  <a:pt x="20932" y="21600"/>
                </a:cubicBezTo>
                <a:lnTo>
                  <a:pt x="668" y="21600"/>
                </a:lnTo>
                <a:cubicBezTo>
                  <a:pt x="299" y="21600"/>
                  <a:pt x="0" y="21034"/>
                  <a:pt x="0" y="20336"/>
                </a:cubicBezTo>
                <a:lnTo>
                  <a:pt x="0" y="1264"/>
                </a:lnTo>
                <a:cubicBezTo>
                  <a:pt x="0" y="567"/>
                  <a:pt x="299" y="0"/>
                  <a:pt x="66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10196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Shape 41"/>
          <p:cNvSpPr/>
          <p:nvPr/>
        </p:nvSpPr>
        <p:spPr>
          <a:xfrm>
            <a:off x="8264500" y="3762375"/>
            <a:ext cx="381001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4" y="0"/>
                  <a:pt x="21600" y="1936"/>
                  <a:pt x="21600" y="4320"/>
                </a:cubicBezTo>
                <a:lnTo>
                  <a:pt x="21600" y="17280"/>
                </a:lnTo>
                <a:cubicBezTo>
                  <a:pt x="21600" y="19664"/>
                  <a:pt x="19664" y="21600"/>
                  <a:pt x="17280" y="21600"/>
                </a:cubicBezTo>
                <a:lnTo>
                  <a:pt x="4320" y="21600"/>
                </a:lnTo>
                <a:cubicBezTo>
                  <a:pt x="1936" y="21600"/>
                  <a:pt x="0" y="19664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Shape 42"/>
          <p:cNvSpPr/>
          <p:nvPr/>
        </p:nvSpPr>
        <p:spPr>
          <a:xfrm>
            <a:off x="8382372" y="3877866"/>
            <a:ext cx="150020" cy="150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3086"/>
                </a:moveTo>
                <a:lnTo>
                  <a:pt x="18514" y="6171"/>
                </a:lnTo>
                <a:lnTo>
                  <a:pt x="15429" y="6171"/>
                </a:lnTo>
                <a:lnTo>
                  <a:pt x="15429" y="3086"/>
                </a:lnTo>
                <a:lnTo>
                  <a:pt x="18514" y="3086"/>
                </a:lnTo>
                <a:close/>
                <a:moveTo>
                  <a:pt x="18514" y="9257"/>
                </a:moveTo>
                <a:lnTo>
                  <a:pt x="18514" y="12343"/>
                </a:lnTo>
                <a:lnTo>
                  <a:pt x="15429" y="12343"/>
                </a:lnTo>
                <a:lnTo>
                  <a:pt x="15429" y="9257"/>
                </a:lnTo>
                <a:lnTo>
                  <a:pt x="18514" y="9257"/>
                </a:lnTo>
                <a:close/>
                <a:moveTo>
                  <a:pt x="18514" y="15429"/>
                </a:moveTo>
                <a:lnTo>
                  <a:pt x="18514" y="18514"/>
                </a:lnTo>
                <a:lnTo>
                  <a:pt x="15429" y="18514"/>
                </a:lnTo>
                <a:lnTo>
                  <a:pt x="15429" y="15429"/>
                </a:lnTo>
                <a:lnTo>
                  <a:pt x="18514" y="15429"/>
                </a:lnTo>
                <a:close/>
                <a:moveTo>
                  <a:pt x="12343" y="12343"/>
                </a:moveTo>
                <a:lnTo>
                  <a:pt x="9257" y="12343"/>
                </a:lnTo>
                <a:lnTo>
                  <a:pt x="9257" y="9257"/>
                </a:lnTo>
                <a:lnTo>
                  <a:pt x="12343" y="9257"/>
                </a:lnTo>
                <a:lnTo>
                  <a:pt x="12343" y="12343"/>
                </a:lnTo>
                <a:close/>
                <a:moveTo>
                  <a:pt x="9257" y="15429"/>
                </a:moveTo>
                <a:lnTo>
                  <a:pt x="12343" y="15429"/>
                </a:lnTo>
                <a:lnTo>
                  <a:pt x="12343" y="18514"/>
                </a:lnTo>
                <a:lnTo>
                  <a:pt x="9257" y="18514"/>
                </a:lnTo>
                <a:lnTo>
                  <a:pt x="9257" y="15429"/>
                </a:lnTo>
                <a:close/>
                <a:moveTo>
                  <a:pt x="6171" y="12343"/>
                </a:moveTo>
                <a:lnTo>
                  <a:pt x="3086" y="12343"/>
                </a:lnTo>
                <a:lnTo>
                  <a:pt x="3086" y="9257"/>
                </a:lnTo>
                <a:lnTo>
                  <a:pt x="6171" y="9257"/>
                </a:lnTo>
                <a:lnTo>
                  <a:pt x="6171" y="12343"/>
                </a:lnTo>
                <a:close/>
                <a:moveTo>
                  <a:pt x="3086" y="15429"/>
                </a:moveTo>
                <a:lnTo>
                  <a:pt x="6171" y="15429"/>
                </a:lnTo>
                <a:lnTo>
                  <a:pt x="6171" y="18514"/>
                </a:lnTo>
                <a:lnTo>
                  <a:pt x="3086" y="18514"/>
                </a:lnTo>
                <a:lnTo>
                  <a:pt x="3086" y="15429"/>
                </a:lnTo>
                <a:close/>
                <a:moveTo>
                  <a:pt x="3086" y="6171"/>
                </a:moveTo>
                <a:lnTo>
                  <a:pt x="3086" y="3086"/>
                </a:lnTo>
                <a:lnTo>
                  <a:pt x="6171" y="3086"/>
                </a:lnTo>
                <a:lnTo>
                  <a:pt x="6171" y="6171"/>
                </a:lnTo>
                <a:lnTo>
                  <a:pt x="3086" y="6171"/>
                </a:lnTo>
                <a:close/>
                <a:moveTo>
                  <a:pt x="9257" y="6171"/>
                </a:moveTo>
                <a:lnTo>
                  <a:pt x="9257" y="3086"/>
                </a:lnTo>
                <a:lnTo>
                  <a:pt x="12343" y="3086"/>
                </a:lnTo>
                <a:lnTo>
                  <a:pt x="12343" y="6171"/>
                </a:lnTo>
                <a:lnTo>
                  <a:pt x="9257" y="6171"/>
                </a:lnTo>
                <a:close/>
                <a:moveTo>
                  <a:pt x="3086" y="0"/>
                </a:moveTo>
                <a:cubicBezTo>
                  <a:pt x="1384" y="0"/>
                  <a:pt x="0" y="1384"/>
                  <a:pt x="0" y="3086"/>
                </a:cubicBezTo>
                <a:lnTo>
                  <a:pt x="0" y="18514"/>
                </a:lnTo>
                <a:cubicBezTo>
                  <a:pt x="0" y="20216"/>
                  <a:pt x="1384" y="21600"/>
                  <a:pt x="3086" y="21600"/>
                </a:cubicBezTo>
                <a:lnTo>
                  <a:pt x="18514" y="21600"/>
                </a:lnTo>
                <a:cubicBezTo>
                  <a:pt x="20216" y="21600"/>
                  <a:pt x="21600" y="20216"/>
                  <a:pt x="21600" y="18514"/>
                </a:cubicBezTo>
                <a:lnTo>
                  <a:pt x="21600" y="3086"/>
                </a:lnTo>
                <a:cubicBezTo>
                  <a:pt x="21600" y="1384"/>
                  <a:pt x="20216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43"/>
          <p:cNvSpPr txBox="1"/>
          <p:nvPr/>
        </p:nvSpPr>
        <p:spPr>
          <a:xfrm>
            <a:off x="8759800" y="3854781"/>
            <a:ext cx="838201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Heatmaps</a:t>
            </a:r>
          </a:p>
        </p:txBody>
      </p:sp>
      <p:sp>
        <p:nvSpPr>
          <p:cNvPr id="291" name="Text 44"/>
          <p:cNvSpPr txBox="1"/>
          <p:nvPr/>
        </p:nvSpPr>
        <p:spPr>
          <a:xfrm>
            <a:off x="8264500" y="4279962"/>
            <a:ext cx="345757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Show magnitude using color intensity in matrices</a:t>
            </a:r>
          </a:p>
        </p:txBody>
      </p:sp>
      <p:sp>
        <p:nvSpPr>
          <p:cNvPr id="292" name="Shape 45"/>
          <p:cNvSpPr/>
          <p:nvPr/>
        </p:nvSpPr>
        <p:spPr>
          <a:xfrm>
            <a:off x="8264500" y="4562475"/>
            <a:ext cx="3381376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" y="0"/>
                </a:moveTo>
                <a:lnTo>
                  <a:pt x="21113" y="0"/>
                </a:lnTo>
                <a:cubicBezTo>
                  <a:pt x="21382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1382" y="21600"/>
                  <a:pt x="21113" y="21600"/>
                </a:cubicBezTo>
                <a:lnTo>
                  <a:pt x="487" y="21600"/>
                </a:lnTo>
                <a:cubicBezTo>
                  <a:pt x="218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218" y="0"/>
                  <a:pt x="487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46"/>
          <p:cNvSpPr txBox="1"/>
          <p:nvPr/>
        </p:nvSpPr>
        <p:spPr>
          <a:xfrm>
            <a:off x="8340700" y="4678742"/>
            <a:ext cx="3295651" cy="300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000">
                <a:solidFill>
                  <a:srgbClr val="3D3D3D">
                    <a:alpha val="60000"/>
                  </a:srgbClr>
                </a:solidFill>
              </a:defRPr>
            </a:pPr>
            <a:r>
              <a:t>Best for:</a:t>
            </a:r>
            <a:r>
              <a:rPr b="0"/>
              <a:t> Correlation matrices, pattern detection in large datasets</a:t>
            </a:r>
          </a:p>
        </p:txBody>
      </p:sp>
      <p:sp>
        <p:nvSpPr>
          <p:cNvPr id="294" name="Shape 47"/>
          <p:cNvSpPr/>
          <p:nvPr/>
        </p:nvSpPr>
        <p:spPr>
          <a:xfrm>
            <a:off x="400050" y="5715000"/>
            <a:ext cx="1141095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" y="0"/>
                </a:moveTo>
                <a:lnTo>
                  <a:pt x="21384" y="0"/>
                </a:lnTo>
                <a:cubicBezTo>
                  <a:pt x="21503" y="0"/>
                  <a:pt x="21600" y="1452"/>
                  <a:pt x="21600" y="3240"/>
                </a:cubicBezTo>
                <a:lnTo>
                  <a:pt x="21600" y="18360"/>
                </a:lnTo>
                <a:cubicBezTo>
                  <a:pt x="21600" y="20148"/>
                  <a:pt x="21503" y="21600"/>
                  <a:pt x="21384" y="21600"/>
                </a:cubicBezTo>
                <a:lnTo>
                  <a:pt x="72" y="21600"/>
                </a:lnTo>
                <a:cubicBezTo>
                  <a:pt x="32" y="21600"/>
                  <a:pt x="0" y="21116"/>
                  <a:pt x="0" y="20520"/>
                </a:cubicBezTo>
                <a:lnTo>
                  <a:pt x="0" y="1080"/>
                </a:lnTo>
                <a:cubicBezTo>
                  <a:pt x="0" y="484"/>
                  <a:pt x="32" y="0"/>
                  <a:pt x="72" y="0"/>
                </a:cubicBezTo>
                <a:close/>
              </a:path>
            </a:pathLst>
          </a:custGeom>
          <a:solidFill>
            <a:srgbClr val="7B9E89">
              <a:alpha val="50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48"/>
          <p:cNvSpPr/>
          <p:nvPr/>
        </p:nvSpPr>
        <p:spPr>
          <a:xfrm>
            <a:off x="400050" y="5715000"/>
            <a:ext cx="3810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116"/>
                  <a:pt x="0" y="20520"/>
                </a:cubicBezTo>
                <a:lnTo>
                  <a:pt x="0" y="1080"/>
                </a:lnTo>
                <a:cubicBezTo>
                  <a:pt x="0" y="484"/>
                  <a:pt x="9679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Shape 49"/>
          <p:cNvSpPr/>
          <p:nvPr/>
        </p:nvSpPr>
        <p:spPr>
          <a:xfrm>
            <a:off x="609600" y="5900737"/>
            <a:ext cx="114300" cy="1571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476" y="15709"/>
                </a:moveTo>
                <a:cubicBezTo>
                  <a:pt x="16886" y="14797"/>
                  <a:pt x="17707" y="13970"/>
                  <a:pt x="18636" y="13259"/>
                </a:cubicBezTo>
                <a:cubicBezTo>
                  <a:pt x="20475" y="11851"/>
                  <a:pt x="21600" y="9949"/>
                  <a:pt x="21600" y="7855"/>
                </a:cubicBezTo>
                <a:cubicBezTo>
                  <a:pt x="21600" y="3518"/>
                  <a:pt x="16763" y="0"/>
                  <a:pt x="10800" y="0"/>
                </a:cubicBezTo>
                <a:cubicBezTo>
                  <a:pt x="4837" y="0"/>
                  <a:pt x="0" y="3518"/>
                  <a:pt x="0" y="7855"/>
                </a:cubicBezTo>
                <a:cubicBezTo>
                  <a:pt x="0" y="9949"/>
                  <a:pt x="1125" y="11851"/>
                  <a:pt x="2964" y="13259"/>
                </a:cubicBezTo>
                <a:cubicBezTo>
                  <a:pt x="3893" y="13970"/>
                  <a:pt x="4719" y="14797"/>
                  <a:pt x="5124" y="15709"/>
                </a:cubicBezTo>
                <a:lnTo>
                  <a:pt x="16470" y="15709"/>
                </a:lnTo>
                <a:close/>
                <a:moveTo>
                  <a:pt x="16200" y="17673"/>
                </a:moveTo>
                <a:lnTo>
                  <a:pt x="5400" y="17673"/>
                </a:lnTo>
                <a:lnTo>
                  <a:pt x="5400" y="18327"/>
                </a:lnTo>
                <a:cubicBezTo>
                  <a:pt x="5400" y="20135"/>
                  <a:pt x="7414" y="21600"/>
                  <a:pt x="9900" y="21600"/>
                </a:cubicBezTo>
                <a:lnTo>
                  <a:pt x="11700" y="21600"/>
                </a:lnTo>
                <a:cubicBezTo>
                  <a:pt x="14186" y="21600"/>
                  <a:pt x="16200" y="20135"/>
                  <a:pt x="16200" y="18327"/>
                </a:cubicBezTo>
                <a:lnTo>
                  <a:pt x="16200" y="17673"/>
                </a:lnTo>
                <a:close/>
                <a:moveTo>
                  <a:pt x="10350" y="4582"/>
                </a:moveTo>
                <a:cubicBezTo>
                  <a:pt x="8111" y="4582"/>
                  <a:pt x="6300" y="5899"/>
                  <a:pt x="6300" y="7527"/>
                </a:cubicBezTo>
                <a:cubicBezTo>
                  <a:pt x="6300" y="8071"/>
                  <a:pt x="5698" y="8509"/>
                  <a:pt x="4950" y="8509"/>
                </a:cubicBezTo>
                <a:cubicBezTo>
                  <a:pt x="4202" y="8509"/>
                  <a:pt x="3600" y="8071"/>
                  <a:pt x="3600" y="7527"/>
                </a:cubicBezTo>
                <a:cubicBezTo>
                  <a:pt x="3600" y="4815"/>
                  <a:pt x="6621" y="2618"/>
                  <a:pt x="10350" y="2618"/>
                </a:cubicBezTo>
                <a:cubicBezTo>
                  <a:pt x="11098" y="2618"/>
                  <a:pt x="11700" y="3056"/>
                  <a:pt x="11700" y="3600"/>
                </a:cubicBezTo>
                <a:cubicBezTo>
                  <a:pt x="11700" y="4144"/>
                  <a:pt x="11098" y="4582"/>
                  <a:pt x="10350" y="4582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50"/>
          <p:cNvSpPr txBox="1"/>
          <p:nvPr/>
        </p:nvSpPr>
        <p:spPr>
          <a:xfrm>
            <a:off x="819150" y="5881133"/>
            <a:ext cx="10915650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80000"/>
                  </a:srgbClr>
                </a:solidFill>
              </a:defRPr>
            </a:pPr>
            <a:r>
              <a:t>Key Insight:</a:t>
            </a:r>
            <a:r>
              <a:rPr b="0"/>
              <a:t> Well-designed visualizations can improve insight discovery time by nearly 30% compared to text-based analysis. The right technique reduces cognitive load and accelerates decision-making.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Shape 1"/>
          <p:cNvSpPr/>
          <p:nvPr/>
        </p:nvSpPr>
        <p:spPr>
          <a:xfrm>
            <a:off x="497241" y="554242"/>
            <a:ext cx="225030" cy="225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4" h="21434" fill="norm" stroke="1" extrusionOk="0">
                <a:moveTo>
                  <a:pt x="14101" y="9104"/>
                </a:moveTo>
                <a:cubicBezTo>
                  <a:pt x="14533" y="8987"/>
                  <a:pt x="14987" y="9192"/>
                  <a:pt x="15182" y="9593"/>
                </a:cubicBezTo>
                <a:lnTo>
                  <a:pt x="15841" y="10925"/>
                </a:lnTo>
                <a:cubicBezTo>
                  <a:pt x="16206" y="10975"/>
                  <a:pt x="16564" y="11074"/>
                  <a:pt x="16900" y="11212"/>
                </a:cubicBezTo>
                <a:lnTo>
                  <a:pt x="18141" y="10387"/>
                </a:lnTo>
                <a:cubicBezTo>
                  <a:pt x="18513" y="10139"/>
                  <a:pt x="19005" y="10188"/>
                  <a:pt x="19321" y="10504"/>
                </a:cubicBezTo>
                <a:lnTo>
                  <a:pt x="20001" y="11184"/>
                </a:lnTo>
                <a:cubicBezTo>
                  <a:pt x="20317" y="11499"/>
                  <a:pt x="20366" y="11996"/>
                  <a:pt x="20118" y="12364"/>
                </a:cubicBezTo>
                <a:lnTo>
                  <a:pt x="19292" y="13601"/>
                </a:lnTo>
                <a:cubicBezTo>
                  <a:pt x="19360" y="13767"/>
                  <a:pt x="19420" y="13941"/>
                  <a:pt x="19470" y="14122"/>
                </a:cubicBezTo>
                <a:cubicBezTo>
                  <a:pt x="19519" y="14303"/>
                  <a:pt x="19551" y="14480"/>
                  <a:pt x="19576" y="14661"/>
                </a:cubicBezTo>
                <a:lnTo>
                  <a:pt x="20912" y="15320"/>
                </a:lnTo>
                <a:cubicBezTo>
                  <a:pt x="21312" y="15518"/>
                  <a:pt x="21518" y="15972"/>
                  <a:pt x="21401" y="16401"/>
                </a:cubicBezTo>
                <a:lnTo>
                  <a:pt x="21153" y="17329"/>
                </a:lnTo>
                <a:cubicBezTo>
                  <a:pt x="21036" y="17758"/>
                  <a:pt x="20636" y="18049"/>
                  <a:pt x="20189" y="18020"/>
                </a:cubicBezTo>
                <a:lnTo>
                  <a:pt x="18701" y="17924"/>
                </a:lnTo>
                <a:cubicBezTo>
                  <a:pt x="18477" y="18212"/>
                  <a:pt x="18219" y="18477"/>
                  <a:pt x="17924" y="18704"/>
                </a:cubicBezTo>
                <a:lnTo>
                  <a:pt x="18020" y="20189"/>
                </a:lnTo>
                <a:cubicBezTo>
                  <a:pt x="18049" y="20636"/>
                  <a:pt x="17758" y="21040"/>
                  <a:pt x="17329" y="21153"/>
                </a:cubicBezTo>
                <a:lnTo>
                  <a:pt x="16401" y="21401"/>
                </a:lnTo>
                <a:cubicBezTo>
                  <a:pt x="15968" y="21518"/>
                  <a:pt x="15518" y="21312"/>
                  <a:pt x="15320" y="20912"/>
                </a:cubicBezTo>
                <a:lnTo>
                  <a:pt x="14661" y="19580"/>
                </a:lnTo>
                <a:cubicBezTo>
                  <a:pt x="14296" y="19530"/>
                  <a:pt x="13938" y="19431"/>
                  <a:pt x="13601" y="19292"/>
                </a:cubicBezTo>
                <a:lnTo>
                  <a:pt x="12361" y="20118"/>
                </a:lnTo>
                <a:cubicBezTo>
                  <a:pt x="11989" y="20366"/>
                  <a:pt x="11496" y="20317"/>
                  <a:pt x="11180" y="20001"/>
                </a:cubicBezTo>
                <a:lnTo>
                  <a:pt x="10500" y="19321"/>
                </a:lnTo>
                <a:cubicBezTo>
                  <a:pt x="10185" y="19005"/>
                  <a:pt x="10135" y="18513"/>
                  <a:pt x="10383" y="18141"/>
                </a:cubicBezTo>
                <a:lnTo>
                  <a:pt x="11209" y="16900"/>
                </a:lnTo>
                <a:cubicBezTo>
                  <a:pt x="11141" y="16734"/>
                  <a:pt x="11081" y="16560"/>
                  <a:pt x="11032" y="16379"/>
                </a:cubicBezTo>
                <a:cubicBezTo>
                  <a:pt x="10982" y="16199"/>
                  <a:pt x="10950" y="16018"/>
                  <a:pt x="10925" y="15841"/>
                </a:cubicBezTo>
                <a:lnTo>
                  <a:pt x="9589" y="15182"/>
                </a:lnTo>
                <a:cubicBezTo>
                  <a:pt x="9189" y="14983"/>
                  <a:pt x="8987" y="14529"/>
                  <a:pt x="9100" y="14101"/>
                </a:cubicBezTo>
                <a:lnTo>
                  <a:pt x="9348" y="13172"/>
                </a:lnTo>
                <a:cubicBezTo>
                  <a:pt x="9465" y="12743"/>
                  <a:pt x="9866" y="12453"/>
                  <a:pt x="10312" y="12481"/>
                </a:cubicBezTo>
                <a:lnTo>
                  <a:pt x="11797" y="12577"/>
                </a:lnTo>
                <a:cubicBezTo>
                  <a:pt x="12020" y="12290"/>
                  <a:pt x="12279" y="12024"/>
                  <a:pt x="12573" y="11797"/>
                </a:cubicBezTo>
                <a:lnTo>
                  <a:pt x="12478" y="10316"/>
                </a:lnTo>
                <a:cubicBezTo>
                  <a:pt x="12449" y="9869"/>
                  <a:pt x="12740" y="9465"/>
                  <a:pt x="13169" y="9352"/>
                </a:cubicBezTo>
                <a:lnTo>
                  <a:pt x="14097" y="9104"/>
                </a:lnTo>
                <a:close/>
                <a:moveTo>
                  <a:pt x="15252" y="13693"/>
                </a:moveTo>
                <a:cubicBezTo>
                  <a:pt x="14392" y="13694"/>
                  <a:pt x="13694" y="14394"/>
                  <a:pt x="13695" y="15254"/>
                </a:cubicBezTo>
                <a:cubicBezTo>
                  <a:pt x="13696" y="16115"/>
                  <a:pt x="14395" y="16813"/>
                  <a:pt x="15256" y="16812"/>
                </a:cubicBezTo>
                <a:cubicBezTo>
                  <a:pt x="16117" y="16811"/>
                  <a:pt x="16814" y="16111"/>
                  <a:pt x="16814" y="15251"/>
                </a:cubicBezTo>
                <a:cubicBezTo>
                  <a:pt x="16813" y="14390"/>
                  <a:pt x="16113" y="13692"/>
                  <a:pt x="15252" y="13693"/>
                </a:cubicBezTo>
                <a:close/>
                <a:moveTo>
                  <a:pt x="7332" y="31"/>
                </a:moveTo>
                <a:lnTo>
                  <a:pt x="8260" y="279"/>
                </a:lnTo>
                <a:cubicBezTo>
                  <a:pt x="8689" y="396"/>
                  <a:pt x="8980" y="800"/>
                  <a:pt x="8951" y="1243"/>
                </a:cubicBezTo>
                <a:lnTo>
                  <a:pt x="8856" y="2725"/>
                </a:lnTo>
                <a:cubicBezTo>
                  <a:pt x="9150" y="2952"/>
                  <a:pt x="9409" y="3214"/>
                  <a:pt x="9632" y="3504"/>
                </a:cubicBezTo>
                <a:lnTo>
                  <a:pt x="11120" y="3409"/>
                </a:lnTo>
                <a:cubicBezTo>
                  <a:pt x="11563" y="3380"/>
                  <a:pt x="11967" y="3671"/>
                  <a:pt x="12084" y="4100"/>
                </a:cubicBezTo>
                <a:lnTo>
                  <a:pt x="12332" y="5028"/>
                </a:lnTo>
                <a:cubicBezTo>
                  <a:pt x="12446" y="5457"/>
                  <a:pt x="12244" y="5911"/>
                  <a:pt x="11843" y="6109"/>
                </a:cubicBezTo>
                <a:lnTo>
                  <a:pt x="10507" y="6768"/>
                </a:lnTo>
                <a:cubicBezTo>
                  <a:pt x="10482" y="6949"/>
                  <a:pt x="10447" y="7130"/>
                  <a:pt x="10401" y="7307"/>
                </a:cubicBezTo>
                <a:cubicBezTo>
                  <a:pt x="10355" y="7484"/>
                  <a:pt x="10291" y="7661"/>
                  <a:pt x="10224" y="7828"/>
                </a:cubicBezTo>
                <a:lnTo>
                  <a:pt x="11049" y="9068"/>
                </a:lnTo>
                <a:cubicBezTo>
                  <a:pt x="11297" y="9440"/>
                  <a:pt x="11248" y="9933"/>
                  <a:pt x="10932" y="10248"/>
                </a:cubicBezTo>
                <a:lnTo>
                  <a:pt x="10252" y="10929"/>
                </a:lnTo>
                <a:cubicBezTo>
                  <a:pt x="9937" y="11244"/>
                  <a:pt x="9444" y="11294"/>
                  <a:pt x="9072" y="11046"/>
                </a:cubicBezTo>
                <a:lnTo>
                  <a:pt x="7832" y="10220"/>
                </a:lnTo>
                <a:cubicBezTo>
                  <a:pt x="7495" y="10358"/>
                  <a:pt x="7137" y="10458"/>
                  <a:pt x="6772" y="10507"/>
                </a:cubicBezTo>
                <a:lnTo>
                  <a:pt x="6113" y="11840"/>
                </a:lnTo>
                <a:cubicBezTo>
                  <a:pt x="5914" y="12240"/>
                  <a:pt x="5461" y="12442"/>
                  <a:pt x="5032" y="12329"/>
                </a:cubicBezTo>
                <a:lnTo>
                  <a:pt x="4103" y="12081"/>
                </a:lnTo>
                <a:cubicBezTo>
                  <a:pt x="3671" y="11964"/>
                  <a:pt x="3384" y="11560"/>
                  <a:pt x="3412" y="11117"/>
                </a:cubicBezTo>
                <a:lnTo>
                  <a:pt x="3508" y="9632"/>
                </a:lnTo>
                <a:cubicBezTo>
                  <a:pt x="3214" y="9405"/>
                  <a:pt x="2955" y="9143"/>
                  <a:pt x="2732" y="8852"/>
                </a:cubicBezTo>
                <a:lnTo>
                  <a:pt x="1243" y="8948"/>
                </a:lnTo>
                <a:cubicBezTo>
                  <a:pt x="800" y="8976"/>
                  <a:pt x="396" y="8686"/>
                  <a:pt x="279" y="8257"/>
                </a:cubicBezTo>
                <a:lnTo>
                  <a:pt x="31" y="7328"/>
                </a:lnTo>
                <a:cubicBezTo>
                  <a:pt x="-82" y="6899"/>
                  <a:pt x="120" y="6446"/>
                  <a:pt x="520" y="6247"/>
                </a:cubicBezTo>
                <a:lnTo>
                  <a:pt x="1856" y="5588"/>
                </a:lnTo>
                <a:cubicBezTo>
                  <a:pt x="1881" y="5408"/>
                  <a:pt x="1917" y="5230"/>
                  <a:pt x="1963" y="5050"/>
                </a:cubicBezTo>
                <a:cubicBezTo>
                  <a:pt x="2012" y="4869"/>
                  <a:pt x="2069" y="4695"/>
                  <a:pt x="2140" y="4529"/>
                </a:cubicBezTo>
                <a:lnTo>
                  <a:pt x="1314" y="3292"/>
                </a:lnTo>
                <a:cubicBezTo>
                  <a:pt x="1066" y="2920"/>
                  <a:pt x="1116" y="2427"/>
                  <a:pt x="1431" y="2112"/>
                </a:cubicBezTo>
                <a:lnTo>
                  <a:pt x="2112" y="1431"/>
                </a:lnTo>
                <a:cubicBezTo>
                  <a:pt x="2427" y="1116"/>
                  <a:pt x="2920" y="1066"/>
                  <a:pt x="3292" y="1314"/>
                </a:cubicBezTo>
                <a:lnTo>
                  <a:pt x="4532" y="2140"/>
                </a:lnTo>
                <a:cubicBezTo>
                  <a:pt x="4869" y="2002"/>
                  <a:pt x="5227" y="1903"/>
                  <a:pt x="5592" y="1853"/>
                </a:cubicBezTo>
                <a:lnTo>
                  <a:pt x="6251" y="520"/>
                </a:lnTo>
                <a:cubicBezTo>
                  <a:pt x="6449" y="120"/>
                  <a:pt x="6899" y="-82"/>
                  <a:pt x="7332" y="31"/>
                </a:cubicBezTo>
                <a:close/>
                <a:moveTo>
                  <a:pt x="6180" y="4621"/>
                </a:moveTo>
                <a:cubicBezTo>
                  <a:pt x="5319" y="4621"/>
                  <a:pt x="4621" y="5319"/>
                  <a:pt x="4621" y="6180"/>
                </a:cubicBezTo>
                <a:cubicBezTo>
                  <a:pt x="4621" y="7041"/>
                  <a:pt x="5319" y="7739"/>
                  <a:pt x="6180" y="7739"/>
                </a:cubicBezTo>
                <a:cubicBezTo>
                  <a:pt x="7041" y="7739"/>
                  <a:pt x="7739" y="7041"/>
                  <a:pt x="7739" y="6180"/>
                </a:cubicBezTo>
                <a:cubicBezTo>
                  <a:pt x="7739" y="5319"/>
                  <a:pt x="7041" y="4621"/>
                  <a:pt x="6180" y="462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2"/>
          <p:cNvSpPr txBox="1"/>
          <p:nvPr/>
        </p:nvSpPr>
        <p:spPr>
          <a:xfrm>
            <a:off x="952500" y="409097"/>
            <a:ext cx="880110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52" sz="1000">
                <a:solidFill>
                  <a:srgbClr val="B8A9C9"/>
                </a:solidFill>
              </a:defRPr>
            </a:lvl1pPr>
          </a:lstStyle>
          <a:p>
            <a:pPr/>
            <a:r>
              <a:t>Data Preparation</a:t>
            </a:r>
          </a:p>
        </p:txBody>
      </p:sp>
      <p:sp>
        <p:nvSpPr>
          <p:cNvPr id="302" name="Text 3"/>
          <p:cNvSpPr txBox="1"/>
          <p:nvPr/>
        </p:nvSpPr>
        <p:spPr>
          <a:xfrm>
            <a:off x="952500" y="394539"/>
            <a:ext cx="8905875" cy="734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700">
                <a:solidFill>
                  <a:srgbClr val="3D3D3D"/>
                </a:solidFill>
              </a:defRPr>
            </a:lvl1pPr>
          </a:lstStyle>
          <a:p>
            <a:pPr/>
            <a:r>
              <a:t>Data Preprocessing: Cleaning, Integration &amp; Transformation</a:t>
            </a:r>
          </a:p>
        </p:txBody>
      </p:sp>
      <p:sp>
        <p:nvSpPr>
          <p:cNvPr id="303" name="Text 4"/>
          <p:cNvSpPr txBox="1"/>
          <p:nvPr/>
        </p:nvSpPr>
        <p:spPr>
          <a:xfrm>
            <a:off x="952500" y="1102056"/>
            <a:ext cx="10944225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Essential steps to transform raw data into a usable format for mining</a:t>
            </a:r>
          </a:p>
        </p:txBody>
      </p:sp>
      <p:sp>
        <p:nvSpPr>
          <p:cNvPr id="304" name="Shape 5"/>
          <p:cNvSpPr/>
          <p:nvPr/>
        </p:nvSpPr>
        <p:spPr>
          <a:xfrm>
            <a:off x="381000" y="1504950"/>
            <a:ext cx="3686175" cy="4133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3" y="0"/>
                </a:moveTo>
                <a:lnTo>
                  <a:pt x="21377" y="0"/>
                </a:lnTo>
                <a:cubicBezTo>
                  <a:pt x="21500" y="0"/>
                  <a:pt x="21600" y="89"/>
                  <a:pt x="21600" y="199"/>
                </a:cubicBezTo>
                <a:lnTo>
                  <a:pt x="21600" y="20804"/>
                </a:lnTo>
                <a:cubicBezTo>
                  <a:pt x="21600" y="21244"/>
                  <a:pt x="21200" y="21600"/>
                  <a:pt x="20707" y="21600"/>
                </a:cubicBezTo>
                <a:lnTo>
                  <a:pt x="893" y="21600"/>
                </a:lnTo>
                <a:cubicBezTo>
                  <a:pt x="400" y="21600"/>
                  <a:pt x="0" y="21244"/>
                  <a:pt x="0" y="20804"/>
                </a:cubicBezTo>
                <a:lnTo>
                  <a:pt x="0" y="199"/>
                </a:lnTo>
                <a:cubicBezTo>
                  <a:pt x="0" y="89"/>
                  <a:pt x="100" y="0"/>
                  <a:pt x="22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Shape 6"/>
          <p:cNvSpPr/>
          <p:nvPr/>
        </p:nvSpPr>
        <p:spPr>
          <a:xfrm>
            <a:off x="381000" y="1504950"/>
            <a:ext cx="3686175" cy="3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3" y="0"/>
                </a:moveTo>
                <a:lnTo>
                  <a:pt x="21377" y="0"/>
                </a:lnTo>
                <a:cubicBezTo>
                  <a:pt x="21500" y="0"/>
                  <a:pt x="21600" y="9679"/>
                  <a:pt x="21600" y="21600"/>
                </a:cubicBezTo>
                <a:lnTo>
                  <a:pt x="0" y="21600"/>
                </a:lnTo>
                <a:cubicBezTo>
                  <a:pt x="0" y="9679"/>
                  <a:pt x="100" y="0"/>
                  <a:pt x="223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7"/>
          <p:cNvSpPr/>
          <p:nvPr/>
        </p:nvSpPr>
        <p:spPr>
          <a:xfrm>
            <a:off x="571500" y="1714500"/>
            <a:ext cx="4572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8"/>
          <p:cNvSpPr/>
          <p:nvPr/>
        </p:nvSpPr>
        <p:spPr>
          <a:xfrm>
            <a:off x="692943" y="1847821"/>
            <a:ext cx="214305" cy="190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3" h="21469" fill="norm" stroke="1" extrusionOk="0">
                <a:moveTo>
                  <a:pt x="21134" y="2292"/>
                </a:moveTo>
                <a:cubicBezTo>
                  <a:pt x="21600" y="1768"/>
                  <a:pt x="21600" y="917"/>
                  <a:pt x="21134" y="393"/>
                </a:cubicBezTo>
                <a:cubicBezTo>
                  <a:pt x="20667" y="-131"/>
                  <a:pt x="19910" y="-131"/>
                  <a:pt x="19444" y="393"/>
                </a:cubicBezTo>
                <a:lnTo>
                  <a:pt x="12283" y="8443"/>
                </a:lnTo>
                <a:lnTo>
                  <a:pt x="10988" y="6988"/>
                </a:lnTo>
                <a:cubicBezTo>
                  <a:pt x="10832" y="6812"/>
                  <a:pt x="10615" y="6711"/>
                  <a:pt x="10392" y="6711"/>
                </a:cubicBezTo>
                <a:cubicBezTo>
                  <a:pt x="9925" y="6711"/>
                  <a:pt x="9549" y="7135"/>
                  <a:pt x="9549" y="7659"/>
                </a:cubicBezTo>
                <a:lnTo>
                  <a:pt x="9549" y="8879"/>
                </a:lnTo>
                <a:lnTo>
                  <a:pt x="13588" y="13419"/>
                </a:lnTo>
                <a:lnTo>
                  <a:pt x="14673" y="13419"/>
                </a:lnTo>
                <a:cubicBezTo>
                  <a:pt x="15140" y="13419"/>
                  <a:pt x="15516" y="12996"/>
                  <a:pt x="15516" y="12472"/>
                </a:cubicBezTo>
                <a:cubicBezTo>
                  <a:pt x="15516" y="12220"/>
                  <a:pt x="15427" y="11977"/>
                  <a:pt x="15270" y="11801"/>
                </a:cubicBezTo>
                <a:lnTo>
                  <a:pt x="13976" y="10346"/>
                </a:lnTo>
                <a:lnTo>
                  <a:pt x="21137" y="2296"/>
                </a:lnTo>
                <a:close/>
                <a:moveTo>
                  <a:pt x="12723" y="14820"/>
                </a:moveTo>
                <a:lnTo>
                  <a:pt x="8303" y="9851"/>
                </a:lnTo>
                <a:cubicBezTo>
                  <a:pt x="6710" y="9696"/>
                  <a:pt x="5125" y="10342"/>
                  <a:pt x="3984" y="11625"/>
                </a:cubicBezTo>
                <a:lnTo>
                  <a:pt x="3685" y="11960"/>
                </a:lnTo>
                <a:cubicBezTo>
                  <a:pt x="2853" y="12895"/>
                  <a:pt x="2387" y="14161"/>
                  <a:pt x="2387" y="15482"/>
                </a:cubicBezTo>
                <a:cubicBezTo>
                  <a:pt x="2387" y="15767"/>
                  <a:pt x="2652" y="15952"/>
                  <a:pt x="2880" y="15826"/>
                </a:cubicBezTo>
                <a:lnTo>
                  <a:pt x="4786" y="14757"/>
                </a:lnTo>
                <a:cubicBezTo>
                  <a:pt x="4972" y="14652"/>
                  <a:pt x="5140" y="14929"/>
                  <a:pt x="4987" y="15088"/>
                </a:cubicBezTo>
                <a:lnTo>
                  <a:pt x="272" y="19851"/>
                </a:lnTo>
                <a:cubicBezTo>
                  <a:pt x="101" y="20027"/>
                  <a:pt x="0" y="20278"/>
                  <a:pt x="0" y="20542"/>
                </a:cubicBezTo>
                <a:cubicBezTo>
                  <a:pt x="0" y="21054"/>
                  <a:pt x="369" y="21469"/>
                  <a:pt x="824" y="21469"/>
                </a:cubicBezTo>
                <a:lnTo>
                  <a:pt x="7288" y="21469"/>
                </a:lnTo>
                <a:cubicBezTo>
                  <a:pt x="8735" y="21469"/>
                  <a:pt x="10119" y="20823"/>
                  <a:pt x="11145" y="19675"/>
                </a:cubicBezTo>
                <a:cubicBezTo>
                  <a:pt x="12286" y="18392"/>
                  <a:pt x="12857" y="16610"/>
                  <a:pt x="12723" y="1482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9"/>
          <p:cNvSpPr txBox="1"/>
          <p:nvPr/>
        </p:nvSpPr>
        <p:spPr>
          <a:xfrm>
            <a:off x="1143000" y="1814605"/>
            <a:ext cx="1476375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Data Cleaning</a:t>
            </a:r>
          </a:p>
        </p:txBody>
      </p:sp>
      <p:sp>
        <p:nvSpPr>
          <p:cNvPr id="309" name="Shape 10"/>
          <p:cNvSpPr/>
          <p:nvPr/>
        </p:nvSpPr>
        <p:spPr>
          <a:xfrm>
            <a:off x="571500" y="2324100"/>
            <a:ext cx="3305175" cy="1181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98" y="0"/>
                </a:moveTo>
                <a:lnTo>
                  <a:pt x="21102" y="0"/>
                </a:lnTo>
                <a:cubicBezTo>
                  <a:pt x="21377" y="0"/>
                  <a:pt x="21600" y="624"/>
                  <a:pt x="21600" y="1394"/>
                </a:cubicBezTo>
                <a:lnTo>
                  <a:pt x="21600" y="20206"/>
                </a:lnTo>
                <a:cubicBezTo>
                  <a:pt x="21600" y="20976"/>
                  <a:pt x="21377" y="21600"/>
                  <a:pt x="21102" y="21600"/>
                </a:cubicBezTo>
                <a:lnTo>
                  <a:pt x="498" y="21600"/>
                </a:lnTo>
                <a:cubicBezTo>
                  <a:pt x="223" y="21600"/>
                  <a:pt x="0" y="20976"/>
                  <a:pt x="0" y="20206"/>
                </a:cubicBezTo>
                <a:lnTo>
                  <a:pt x="0" y="1394"/>
                </a:lnTo>
                <a:cubicBezTo>
                  <a:pt x="0" y="624"/>
                  <a:pt x="223" y="0"/>
                  <a:pt x="498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1"/>
          <p:cNvSpPr txBox="1"/>
          <p:nvPr/>
        </p:nvSpPr>
        <p:spPr>
          <a:xfrm>
            <a:off x="685800" y="2466497"/>
            <a:ext cx="3143250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Purpose</a:t>
            </a:r>
          </a:p>
        </p:txBody>
      </p:sp>
      <p:sp>
        <p:nvSpPr>
          <p:cNvPr id="311" name="Text 12"/>
          <p:cNvSpPr txBox="1"/>
          <p:nvPr/>
        </p:nvSpPr>
        <p:spPr>
          <a:xfrm>
            <a:off x="685800" y="2833133"/>
            <a:ext cx="3152775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Handle missing values, remove duplicates, correct inconsistencies, and smooth noisy data</a:t>
            </a:r>
          </a:p>
        </p:txBody>
      </p:sp>
      <p:sp>
        <p:nvSpPr>
          <p:cNvPr id="312" name="Shape 13"/>
          <p:cNvSpPr/>
          <p:nvPr/>
        </p:nvSpPr>
        <p:spPr>
          <a:xfrm>
            <a:off x="581025" y="3657600"/>
            <a:ext cx="1333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14"/>
          <p:cNvSpPr txBox="1"/>
          <p:nvPr/>
        </p:nvSpPr>
        <p:spPr>
          <a:xfrm>
            <a:off x="803299" y="3633233"/>
            <a:ext cx="3143251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Missing Values:</a:t>
            </a:r>
            <a:r>
              <a:rPr b="0"/>
              <a:t> Imputation, deletion, or prediction</a:t>
            </a:r>
          </a:p>
        </p:txBody>
      </p:sp>
      <p:sp>
        <p:nvSpPr>
          <p:cNvPr id="314" name="Shape 15"/>
          <p:cNvSpPr/>
          <p:nvPr/>
        </p:nvSpPr>
        <p:spPr>
          <a:xfrm>
            <a:off x="590550" y="4191000"/>
            <a:ext cx="1333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16"/>
          <p:cNvSpPr txBox="1"/>
          <p:nvPr/>
        </p:nvSpPr>
        <p:spPr>
          <a:xfrm>
            <a:off x="814387" y="4175187"/>
            <a:ext cx="2343151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Duplicates:</a:t>
            </a:r>
            <a:r>
              <a:rPr b="0"/>
              <a:t> Detection and removal</a:t>
            </a:r>
          </a:p>
        </p:txBody>
      </p:sp>
      <p:sp>
        <p:nvSpPr>
          <p:cNvPr id="316" name="Shape 17"/>
          <p:cNvSpPr/>
          <p:nvPr/>
        </p:nvSpPr>
        <p:spPr>
          <a:xfrm>
            <a:off x="590550" y="4495800"/>
            <a:ext cx="1333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18"/>
          <p:cNvSpPr txBox="1"/>
          <p:nvPr/>
        </p:nvSpPr>
        <p:spPr>
          <a:xfrm>
            <a:off x="814387" y="4479987"/>
            <a:ext cx="240982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Outliers:</a:t>
            </a:r>
            <a:r>
              <a:rPr b="0"/>
              <a:t> Identification and handling</a:t>
            </a:r>
          </a:p>
        </p:txBody>
      </p:sp>
      <p:sp>
        <p:nvSpPr>
          <p:cNvPr id="318" name="Shape 19"/>
          <p:cNvSpPr/>
          <p:nvPr/>
        </p:nvSpPr>
        <p:spPr>
          <a:xfrm>
            <a:off x="590550" y="4800600"/>
            <a:ext cx="1333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0"/>
          <p:cNvSpPr txBox="1"/>
          <p:nvPr/>
        </p:nvSpPr>
        <p:spPr>
          <a:xfrm>
            <a:off x="814387" y="4784787"/>
            <a:ext cx="2667001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Inconsistencies:</a:t>
            </a:r>
            <a:r>
              <a:rPr b="0"/>
              <a:t> Format standardization</a:t>
            </a:r>
          </a:p>
        </p:txBody>
      </p:sp>
      <p:sp>
        <p:nvSpPr>
          <p:cNvPr id="320" name="Shape 21"/>
          <p:cNvSpPr/>
          <p:nvPr/>
        </p:nvSpPr>
        <p:spPr>
          <a:xfrm>
            <a:off x="4254474" y="1504950"/>
            <a:ext cx="3686176" cy="4133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3" y="0"/>
                </a:moveTo>
                <a:lnTo>
                  <a:pt x="21377" y="0"/>
                </a:lnTo>
                <a:cubicBezTo>
                  <a:pt x="21500" y="0"/>
                  <a:pt x="21600" y="89"/>
                  <a:pt x="21600" y="199"/>
                </a:cubicBezTo>
                <a:lnTo>
                  <a:pt x="21600" y="20804"/>
                </a:lnTo>
                <a:cubicBezTo>
                  <a:pt x="21600" y="21244"/>
                  <a:pt x="21200" y="21600"/>
                  <a:pt x="20707" y="21600"/>
                </a:cubicBezTo>
                <a:lnTo>
                  <a:pt x="893" y="21600"/>
                </a:lnTo>
                <a:cubicBezTo>
                  <a:pt x="400" y="21600"/>
                  <a:pt x="0" y="21244"/>
                  <a:pt x="0" y="20804"/>
                </a:cubicBezTo>
                <a:lnTo>
                  <a:pt x="0" y="199"/>
                </a:lnTo>
                <a:cubicBezTo>
                  <a:pt x="0" y="89"/>
                  <a:pt x="100" y="0"/>
                  <a:pt x="22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" name="Shape 22"/>
          <p:cNvSpPr/>
          <p:nvPr/>
        </p:nvSpPr>
        <p:spPr>
          <a:xfrm>
            <a:off x="4254474" y="1504950"/>
            <a:ext cx="3686176" cy="3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3" y="0"/>
                </a:moveTo>
                <a:lnTo>
                  <a:pt x="21377" y="0"/>
                </a:lnTo>
                <a:cubicBezTo>
                  <a:pt x="21500" y="0"/>
                  <a:pt x="21600" y="9679"/>
                  <a:pt x="21600" y="21600"/>
                </a:cubicBezTo>
                <a:lnTo>
                  <a:pt x="0" y="21600"/>
                </a:lnTo>
                <a:cubicBezTo>
                  <a:pt x="0" y="9679"/>
                  <a:pt x="100" y="0"/>
                  <a:pt x="223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Shape 23"/>
          <p:cNvSpPr/>
          <p:nvPr/>
        </p:nvSpPr>
        <p:spPr>
          <a:xfrm>
            <a:off x="4444974" y="1714500"/>
            <a:ext cx="457201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24"/>
          <p:cNvSpPr/>
          <p:nvPr/>
        </p:nvSpPr>
        <p:spPr>
          <a:xfrm>
            <a:off x="4578324" y="1847850"/>
            <a:ext cx="190501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50" y="0"/>
                </a:moveTo>
                <a:cubicBezTo>
                  <a:pt x="10939" y="0"/>
                  <a:pt x="12150" y="907"/>
                  <a:pt x="12150" y="2025"/>
                </a:cubicBezTo>
                <a:cubicBezTo>
                  <a:pt x="12150" y="2464"/>
                  <a:pt x="11964" y="2869"/>
                  <a:pt x="11644" y="3202"/>
                </a:cubicBezTo>
                <a:cubicBezTo>
                  <a:pt x="11365" y="3493"/>
                  <a:pt x="11138" y="3848"/>
                  <a:pt x="11138" y="4253"/>
                </a:cubicBezTo>
                <a:cubicBezTo>
                  <a:pt x="11138" y="4885"/>
                  <a:pt x="11652" y="5400"/>
                  <a:pt x="12285" y="5400"/>
                </a:cubicBezTo>
                <a:lnTo>
                  <a:pt x="14175" y="5400"/>
                </a:lnTo>
                <a:cubicBezTo>
                  <a:pt x="15293" y="5400"/>
                  <a:pt x="16200" y="6307"/>
                  <a:pt x="16200" y="7425"/>
                </a:cubicBezTo>
                <a:lnTo>
                  <a:pt x="16200" y="9315"/>
                </a:lnTo>
                <a:cubicBezTo>
                  <a:pt x="16200" y="9948"/>
                  <a:pt x="16715" y="10462"/>
                  <a:pt x="17347" y="10462"/>
                </a:cubicBezTo>
                <a:cubicBezTo>
                  <a:pt x="17748" y="10462"/>
                  <a:pt x="18107" y="10235"/>
                  <a:pt x="18398" y="9956"/>
                </a:cubicBezTo>
                <a:cubicBezTo>
                  <a:pt x="18731" y="9640"/>
                  <a:pt x="19136" y="9450"/>
                  <a:pt x="19575" y="9450"/>
                </a:cubicBezTo>
                <a:cubicBezTo>
                  <a:pt x="20693" y="9450"/>
                  <a:pt x="21600" y="10661"/>
                  <a:pt x="21600" y="12150"/>
                </a:cubicBezTo>
                <a:cubicBezTo>
                  <a:pt x="21600" y="13639"/>
                  <a:pt x="20693" y="14850"/>
                  <a:pt x="19575" y="14850"/>
                </a:cubicBezTo>
                <a:cubicBezTo>
                  <a:pt x="19136" y="14850"/>
                  <a:pt x="18727" y="14664"/>
                  <a:pt x="18398" y="14344"/>
                </a:cubicBezTo>
                <a:cubicBezTo>
                  <a:pt x="18107" y="14065"/>
                  <a:pt x="17752" y="13837"/>
                  <a:pt x="17347" y="13837"/>
                </a:cubicBezTo>
                <a:cubicBezTo>
                  <a:pt x="16715" y="13837"/>
                  <a:pt x="16200" y="14352"/>
                  <a:pt x="16200" y="14985"/>
                </a:cubicBezTo>
                <a:lnTo>
                  <a:pt x="16200" y="19575"/>
                </a:lnTo>
                <a:cubicBezTo>
                  <a:pt x="16200" y="20693"/>
                  <a:pt x="15293" y="21600"/>
                  <a:pt x="14175" y="21600"/>
                </a:cubicBezTo>
                <a:lnTo>
                  <a:pt x="11779" y="21600"/>
                </a:lnTo>
                <a:cubicBezTo>
                  <a:pt x="11239" y="21600"/>
                  <a:pt x="10800" y="21161"/>
                  <a:pt x="10800" y="20621"/>
                </a:cubicBezTo>
                <a:cubicBezTo>
                  <a:pt x="10800" y="20233"/>
                  <a:pt x="11045" y="19891"/>
                  <a:pt x="11357" y="19659"/>
                </a:cubicBezTo>
                <a:cubicBezTo>
                  <a:pt x="11846" y="19292"/>
                  <a:pt x="12150" y="18786"/>
                  <a:pt x="12150" y="18225"/>
                </a:cubicBezTo>
                <a:cubicBezTo>
                  <a:pt x="12150" y="17107"/>
                  <a:pt x="10939" y="16200"/>
                  <a:pt x="9450" y="16200"/>
                </a:cubicBezTo>
                <a:cubicBezTo>
                  <a:pt x="7961" y="16200"/>
                  <a:pt x="6750" y="17107"/>
                  <a:pt x="6750" y="18225"/>
                </a:cubicBezTo>
                <a:cubicBezTo>
                  <a:pt x="6750" y="18786"/>
                  <a:pt x="7054" y="19292"/>
                  <a:pt x="7543" y="19659"/>
                </a:cubicBezTo>
                <a:cubicBezTo>
                  <a:pt x="7855" y="19891"/>
                  <a:pt x="8100" y="20229"/>
                  <a:pt x="8100" y="20621"/>
                </a:cubicBezTo>
                <a:cubicBezTo>
                  <a:pt x="8100" y="21161"/>
                  <a:pt x="7661" y="21600"/>
                  <a:pt x="7121" y="21600"/>
                </a:cubicBezTo>
                <a:lnTo>
                  <a:pt x="2025" y="21600"/>
                </a:lnTo>
                <a:cubicBezTo>
                  <a:pt x="907" y="21600"/>
                  <a:pt x="0" y="20693"/>
                  <a:pt x="0" y="19575"/>
                </a:cubicBezTo>
                <a:lnTo>
                  <a:pt x="0" y="14479"/>
                </a:lnTo>
                <a:cubicBezTo>
                  <a:pt x="0" y="13939"/>
                  <a:pt x="439" y="13500"/>
                  <a:pt x="979" y="13500"/>
                </a:cubicBezTo>
                <a:cubicBezTo>
                  <a:pt x="1367" y="13500"/>
                  <a:pt x="1709" y="13745"/>
                  <a:pt x="1941" y="14057"/>
                </a:cubicBezTo>
                <a:cubicBezTo>
                  <a:pt x="2308" y="14546"/>
                  <a:pt x="2814" y="14850"/>
                  <a:pt x="3375" y="14850"/>
                </a:cubicBezTo>
                <a:cubicBezTo>
                  <a:pt x="4493" y="14850"/>
                  <a:pt x="5400" y="13639"/>
                  <a:pt x="5400" y="12150"/>
                </a:cubicBezTo>
                <a:cubicBezTo>
                  <a:pt x="5400" y="10661"/>
                  <a:pt x="4493" y="9450"/>
                  <a:pt x="3375" y="9450"/>
                </a:cubicBezTo>
                <a:cubicBezTo>
                  <a:pt x="2814" y="9450"/>
                  <a:pt x="2308" y="9754"/>
                  <a:pt x="1941" y="10243"/>
                </a:cubicBezTo>
                <a:cubicBezTo>
                  <a:pt x="1709" y="10555"/>
                  <a:pt x="1371" y="10800"/>
                  <a:pt x="979" y="10800"/>
                </a:cubicBezTo>
                <a:cubicBezTo>
                  <a:pt x="439" y="10800"/>
                  <a:pt x="0" y="10361"/>
                  <a:pt x="0" y="9821"/>
                </a:cubicBezTo>
                <a:lnTo>
                  <a:pt x="0" y="7425"/>
                </a:lnTo>
                <a:cubicBezTo>
                  <a:pt x="0" y="6307"/>
                  <a:pt x="907" y="5400"/>
                  <a:pt x="2025" y="5400"/>
                </a:cubicBezTo>
                <a:lnTo>
                  <a:pt x="6615" y="5400"/>
                </a:lnTo>
                <a:cubicBezTo>
                  <a:pt x="7248" y="5400"/>
                  <a:pt x="7763" y="4885"/>
                  <a:pt x="7763" y="4253"/>
                </a:cubicBezTo>
                <a:cubicBezTo>
                  <a:pt x="7763" y="3852"/>
                  <a:pt x="7535" y="3493"/>
                  <a:pt x="7256" y="3202"/>
                </a:cubicBezTo>
                <a:cubicBezTo>
                  <a:pt x="6940" y="2869"/>
                  <a:pt x="6750" y="2464"/>
                  <a:pt x="6750" y="2025"/>
                </a:cubicBezTo>
                <a:cubicBezTo>
                  <a:pt x="6750" y="907"/>
                  <a:pt x="7961" y="0"/>
                  <a:pt x="945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5"/>
          <p:cNvSpPr txBox="1"/>
          <p:nvPr/>
        </p:nvSpPr>
        <p:spPr>
          <a:xfrm>
            <a:off x="5016474" y="1814605"/>
            <a:ext cx="1695451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Data Integration</a:t>
            </a:r>
          </a:p>
        </p:txBody>
      </p:sp>
      <p:sp>
        <p:nvSpPr>
          <p:cNvPr id="325" name="Shape 26"/>
          <p:cNvSpPr/>
          <p:nvPr/>
        </p:nvSpPr>
        <p:spPr>
          <a:xfrm>
            <a:off x="4444974" y="2324100"/>
            <a:ext cx="3305176" cy="952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98" y="0"/>
                </a:moveTo>
                <a:lnTo>
                  <a:pt x="21102" y="0"/>
                </a:lnTo>
                <a:cubicBezTo>
                  <a:pt x="21377" y="0"/>
                  <a:pt x="21600" y="774"/>
                  <a:pt x="21600" y="1728"/>
                </a:cubicBezTo>
                <a:lnTo>
                  <a:pt x="21600" y="19872"/>
                </a:lnTo>
                <a:cubicBezTo>
                  <a:pt x="21600" y="20826"/>
                  <a:pt x="21377" y="21600"/>
                  <a:pt x="21102" y="21600"/>
                </a:cubicBezTo>
                <a:lnTo>
                  <a:pt x="498" y="21600"/>
                </a:lnTo>
                <a:cubicBezTo>
                  <a:pt x="223" y="21600"/>
                  <a:pt x="0" y="20826"/>
                  <a:pt x="0" y="19872"/>
                </a:cubicBezTo>
                <a:lnTo>
                  <a:pt x="0" y="1728"/>
                </a:lnTo>
                <a:cubicBezTo>
                  <a:pt x="0" y="774"/>
                  <a:pt x="223" y="0"/>
                  <a:pt x="498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27"/>
          <p:cNvSpPr txBox="1"/>
          <p:nvPr/>
        </p:nvSpPr>
        <p:spPr>
          <a:xfrm>
            <a:off x="4559274" y="2466497"/>
            <a:ext cx="314325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B8A9C9"/>
                </a:solidFill>
              </a:defRPr>
            </a:lvl1pPr>
          </a:lstStyle>
          <a:p>
            <a:pPr/>
            <a:r>
              <a:t>Purpose</a:t>
            </a:r>
          </a:p>
        </p:txBody>
      </p:sp>
      <p:sp>
        <p:nvSpPr>
          <p:cNvPr id="327" name="Text 28"/>
          <p:cNvSpPr txBox="1"/>
          <p:nvPr/>
        </p:nvSpPr>
        <p:spPr>
          <a:xfrm>
            <a:off x="4559274" y="2718833"/>
            <a:ext cx="3152776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Combine data from multiple sources into a coherent, unified data store</a:t>
            </a:r>
          </a:p>
        </p:txBody>
      </p:sp>
      <p:sp>
        <p:nvSpPr>
          <p:cNvPr id="328" name="Shape 29"/>
          <p:cNvSpPr/>
          <p:nvPr/>
        </p:nvSpPr>
        <p:spPr>
          <a:xfrm>
            <a:off x="4444974" y="34290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ext 30"/>
          <p:cNvSpPr txBox="1"/>
          <p:nvPr/>
        </p:nvSpPr>
        <p:spPr>
          <a:xfrm>
            <a:off x="4657873" y="3404633"/>
            <a:ext cx="3162301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Schema Integration:</a:t>
            </a:r>
            <a:r>
              <a:rPr b="0"/>
              <a:t> Match entities from different sources</a:t>
            </a:r>
          </a:p>
        </p:txBody>
      </p:sp>
      <p:sp>
        <p:nvSpPr>
          <p:cNvPr id="330" name="Shape 31"/>
          <p:cNvSpPr/>
          <p:nvPr/>
        </p:nvSpPr>
        <p:spPr>
          <a:xfrm>
            <a:off x="4454499" y="39624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32"/>
          <p:cNvSpPr txBox="1"/>
          <p:nvPr/>
        </p:nvSpPr>
        <p:spPr>
          <a:xfrm>
            <a:off x="4672757" y="3938033"/>
            <a:ext cx="3152776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Redundancy Detection:</a:t>
            </a:r>
            <a:r>
              <a:rPr b="0"/>
              <a:t> Identify duplicate attributes</a:t>
            </a:r>
          </a:p>
        </p:txBody>
      </p:sp>
      <p:sp>
        <p:nvSpPr>
          <p:cNvPr id="332" name="Shape 33"/>
          <p:cNvSpPr/>
          <p:nvPr/>
        </p:nvSpPr>
        <p:spPr>
          <a:xfrm>
            <a:off x="4459263" y="44958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34"/>
          <p:cNvSpPr txBox="1"/>
          <p:nvPr/>
        </p:nvSpPr>
        <p:spPr>
          <a:xfrm>
            <a:off x="4686598" y="4594287"/>
            <a:ext cx="313372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Conflict Resolution:</a:t>
            </a:r>
            <a:r>
              <a:rPr b="0"/>
              <a:t> Handle data value conflicts</a:t>
            </a:r>
          </a:p>
        </p:txBody>
      </p:sp>
      <p:sp>
        <p:nvSpPr>
          <p:cNvPr id="334" name="Shape 35"/>
          <p:cNvSpPr/>
          <p:nvPr/>
        </p:nvSpPr>
        <p:spPr>
          <a:xfrm>
            <a:off x="4449738" y="50292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36"/>
          <p:cNvSpPr txBox="1"/>
          <p:nvPr/>
        </p:nvSpPr>
        <p:spPr>
          <a:xfrm>
            <a:off x="4664124" y="5004833"/>
            <a:ext cx="3162301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Tuple Duplication:</a:t>
            </a:r>
            <a:r>
              <a:rPr b="0"/>
              <a:t> Detect and merge duplicate records</a:t>
            </a:r>
          </a:p>
        </p:txBody>
      </p:sp>
      <p:sp>
        <p:nvSpPr>
          <p:cNvPr id="336" name="Shape 37"/>
          <p:cNvSpPr/>
          <p:nvPr/>
        </p:nvSpPr>
        <p:spPr>
          <a:xfrm>
            <a:off x="8127949" y="1504950"/>
            <a:ext cx="3686176" cy="4133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3" y="0"/>
                </a:moveTo>
                <a:lnTo>
                  <a:pt x="21377" y="0"/>
                </a:lnTo>
                <a:cubicBezTo>
                  <a:pt x="21500" y="0"/>
                  <a:pt x="21600" y="89"/>
                  <a:pt x="21600" y="199"/>
                </a:cubicBezTo>
                <a:lnTo>
                  <a:pt x="21600" y="20804"/>
                </a:lnTo>
                <a:cubicBezTo>
                  <a:pt x="21600" y="21244"/>
                  <a:pt x="21200" y="21600"/>
                  <a:pt x="20707" y="21600"/>
                </a:cubicBezTo>
                <a:lnTo>
                  <a:pt x="893" y="21600"/>
                </a:lnTo>
                <a:cubicBezTo>
                  <a:pt x="400" y="21600"/>
                  <a:pt x="0" y="21244"/>
                  <a:pt x="0" y="20804"/>
                </a:cubicBezTo>
                <a:lnTo>
                  <a:pt x="0" y="199"/>
                </a:lnTo>
                <a:cubicBezTo>
                  <a:pt x="0" y="89"/>
                  <a:pt x="100" y="0"/>
                  <a:pt x="22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" name="Shape 38"/>
          <p:cNvSpPr/>
          <p:nvPr/>
        </p:nvSpPr>
        <p:spPr>
          <a:xfrm>
            <a:off x="8127949" y="1504950"/>
            <a:ext cx="3686176" cy="3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3" y="0"/>
                </a:moveTo>
                <a:lnTo>
                  <a:pt x="21377" y="0"/>
                </a:lnTo>
                <a:cubicBezTo>
                  <a:pt x="21500" y="0"/>
                  <a:pt x="21600" y="9679"/>
                  <a:pt x="21600" y="21600"/>
                </a:cubicBezTo>
                <a:lnTo>
                  <a:pt x="0" y="21600"/>
                </a:lnTo>
                <a:cubicBezTo>
                  <a:pt x="0" y="9679"/>
                  <a:pt x="100" y="0"/>
                  <a:pt x="223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hape 39"/>
          <p:cNvSpPr/>
          <p:nvPr/>
        </p:nvSpPr>
        <p:spPr>
          <a:xfrm>
            <a:off x="8318449" y="1714500"/>
            <a:ext cx="457201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hape 40"/>
          <p:cNvSpPr/>
          <p:nvPr/>
        </p:nvSpPr>
        <p:spPr>
          <a:xfrm>
            <a:off x="8451771" y="1847829"/>
            <a:ext cx="190558" cy="190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388" fill="norm" stroke="1" extrusionOk="0">
                <a:moveTo>
                  <a:pt x="20945" y="6292"/>
                </a:moveTo>
                <a:lnTo>
                  <a:pt x="16945" y="10301"/>
                </a:lnTo>
                <a:cubicBezTo>
                  <a:pt x="16562" y="10686"/>
                  <a:pt x="15991" y="10798"/>
                  <a:pt x="15491" y="10590"/>
                </a:cubicBezTo>
                <a:cubicBezTo>
                  <a:pt x="14991" y="10381"/>
                  <a:pt x="14670" y="9896"/>
                  <a:pt x="14670" y="9358"/>
                </a:cubicBezTo>
                <a:lnTo>
                  <a:pt x="14670" y="6685"/>
                </a:lnTo>
                <a:lnTo>
                  <a:pt x="1337" y="6685"/>
                </a:lnTo>
                <a:cubicBezTo>
                  <a:pt x="599" y="6685"/>
                  <a:pt x="3" y="6088"/>
                  <a:pt x="3" y="5348"/>
                </a:cubicBezTo>
                <a:cubicBezTo>
                  <a:pt x="3" y="4609"/>
                  <a:pt x="599" y="4012"/>
                  <a:pt x="1337" y="4012"/>
                </a:cubicBezTo>
                <a:lnTo>
                  <a:pt x="14670" y="4012"/>
                </a:lnTo>
                <a:lnTo>
                  <a:pt x="14670" y="1339"/>
                </a:lnTo>
                <a:cubicBezTo>
                  <a:pt x="14670" y="800"/>
                  <a:pt x="14995" y="312"/>
                  <a:pt x="15495" y="103"/>
                </a:cubicBezTo>
                <a:cubicBezTo>
                  <a:pt x="15995" y="-106"/>
                  <a:pt x="16566" y="11"/>
                  <a:pt x="16949" y="391"/>
                </a:cubicBezTo>
                <a:lnTo>
                  <a:pt x="20949" y="4400"/>
                </a:lnTo>
                <a:cubicBezTo>
                  <a:pt x="21470" y="4922"/>
                  <a:pt x="21470" y="5770"/>
                  <a:pt x="20949" y="6292"/>
                </a:cubicBezTo>
                <a:close/>
                <a:moveTo>
                  <a:pt x="4391" y="20993"/>
                </a:moveTo>
                <a:lnTo>
                  <a:pt x="391" y="16984"/>
                </a:lnTo>
                <a:cubicBezTo>
                  <a:pt x="-130" y="16462"/>
                  <a:pt x="-130" y="15614"/>
                  <a:pt x="391" y="15092"/>
                </a:cubicBezTo>
                <a:lnTo>
                  <a:pt x="4391" y="11082"/>
                </a:lnTo>
                <a:cubicBezTo>
                  <a:pt x="4774" y="10698"/>
                  <a:pt x="5345" y="10585"/>
                  <a:pt x="5845" y="10794"/>
                </a:cubicBezTo>
                <a:cubicBezTo>
                  <a:pt x="6345" y="11003"/>
                  <a:pt x="6670" y="11492"/>
                  <a:pt x="6670" y="12030"/>
                </a:cubicBezTo>
                <a:lnTo>
                  <a:pt x="6670" y="14703"/>
                </a:lnTo>
                <a:lnTo>
                  <a:pt x="20003" y="14703"/>
                </a:lnTo>
                <a:cubicBezTo>
                  <a:pt x="20741" y="14703"/>
                  <a:pt x="21337" y="15300"/>
                  <a:pt x="21337" y="16040"/>
                </a:cubicBezTo>
                <a:cubicBezTo>
                  <a:pt x="21337" y="16779"/>
                  <a:pt x="20741" y="17376"/>
                  <a:pt x="20003" y="17376"/>
                </a:cubicBezTo>
                <a:lnTo>
                  <a:pt x="6670" y="17376"/>
                </a:lnTo>
                <a:lnTo>
                  <a:pt x="6670" y="20049"/>
                </a:lnTo>
                <a:cubicBezTo>
                  <a:pt x="6670" y="20588"/>
                  <a:pt x="6345" y="21076"/>
                  <a:pt x="5845" y="21285"/>
                </a:cubicBezTo>
                <a:cubicBezTo>
                  <a:pt x="5345" y="21494"/>
                  <a:pt x="4774" y="21377"/>
                  <a:pt x="4391" y="20997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41"/>
          <p:cNvSpPr txBox="1"/>
          <p:nvPr/>
        </p:nvSpPr>
        <p:spPr>
          <a:xfrm>
            <a:off x="8889949" y="1814605"/>
            <a:ext cx="2133601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3D3D3D"/>
                </a:solidFill>
              </a:defRPr>
            </a:lvl1pPr>
          </a:lstStyle>
          <a:p>
            <a:pPr/>
            <a:r>
              <a:t>Data Transformation</a:t>
            </a:r>
          </a:p>
        </p:txBody>
      </p:sp>
      <p:sp>
        <p:nvSpPr>
          <p:cNvPr id="341" name="Shape 42"/>
          <p:cNvSpPr/>
          <p:nvPr/>
        </p:nvSpPr>
        <p:spPr>
          <a:xfrm>
            <a:off x="8318449" y="2324100"/>
            <a:ext cx="3305176" cy="952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98" y="0"/>
                </a:moveTo>
                <a:lnTo>
                  <a:pt x="21102" y="0"/>
                </a:lnTo>
                <a:cubicBezTo>
                  <a:pt x="21377" y="0"/>
                  <a:pt x="21600" y="774"/>
                  <a:pt x="21600" y="1728"/>
                </a:cubicBezTo>
                <a:lnTo>
                  <a:pt x="21600" y="19872"/>
                </a:lnTo>
                <a:cubicBezTo>
                  <a:pt x="21600" y="20826"/>
                  <a:pt x="21377" y="21600"/>
                  <a:pt x="21102" y="21600"/>
                </a:cubicBezTo>
                <a:lnTo>
                  <a:pt x="498" y="21600"/>
                </a:lnTo>
                <a:cubicBezTo>
                  <a:pt x="223" y="21600"/>
                  <a:pt x="0" y="20826"/>
                  <a:pt x="0" y="19872"/>
                </a:cubicBezTo>
                <a:lnTo>
                  <a:pt x="0" y="1728"/>
                </a:lnTo>
                <a:cubicBezTo>
                  <a:pt x="0" y="774"/>
                  <a:pt x="223" y="0"/>
                  <a:pt x="498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43"/>
          <p:cNvSpPr txBox="1"/>
          <p:nvPr/>
        </p:nvSpPr>
        <p:spPr>
          <a:xfrm>
            <a:off x="8432749" y="2466497"/>
            <a:ext cx="314325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E8B4B8"/>
                </a:solidFill>
              </a:defRPr>
            </a:lvl1pPr>
          </a:lstStyle>
          <a:p>
            <a:pPr/>
            <a:r>
              <a:t>Purpose</a:t>
            </a:r>
          </a:p>
        </p:txBody>
      </p:sp>
      <p:sp>
        <p:nvSpPr>
          <p:cNvPr id="343" name="Text 44"/>
          <p:cNvSpPr txBox="1"/>
          <p:nvPr/>
        </p:nvSpPr>
        <p:spPr>
          <a:xfrm>
            <a:off x="8432749" y="2718833"/>
            <a:ext cx="3152776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Convert data into appropriate forms suitable for mining algorithms</a:t>
            </a:r>
          </a:p>
        </p:txBody>
      </p:sp>
      <p:sp>
        <p:nvSpPr>
          <p:cNvPr id="344" name="Shape 45"/>
          <p:cNvSpPr/>
          <p:nvPr/>
        </p:nvSpPr>
        <p:spPr>
          <a:xfrm>
            <a:off x="8337499" y="34290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46"/>
          <p:cNvSpPr txBox="1"/>
          <p:nvPr/>
        </p:nvSpPr>
        <p:spPr>
          <a:xfrm>
            <a:off x="8561337" y="3413187"/>
            <a:ext cx="3086101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Normalization:</a:t>
            </a:r>
            <a:r>
              <a:rPr b="0"/>
              <a:t> Scale to range [0,1] or z-scores</a:t>
            </a:r>
          </a:p>
        </p:txBody>
      </p:sp>
      <p:sp>
        <p:nvSpPr>
          <p:cNvPr id="346" name="Shape 47"/>
          <p:cNvSpPr/>
          <p:nvPr/>
        </p:nvSpPr>
        <p:spPr>
          <a:xfrm>
            <a:off x="8337499" y="37338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48"/>
          <p:cNvSpPr txBox="1"/>
          <p:nvPr/>
        </p:nvSpPr>
        <p:spPr>
          <a:xfrm>
            <a:off x="8561337" y="3717987"/>
            <a:ext cx="2628901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Aggregation:</a:t>
            </a:r>
            <a:r>
              <a:rPr b="0"/>
              <a:t> Summarization and rollup</a:t>
            </a:r>
          </a:p>
        </p:txBody>
      </p:sp>
      <p:sp>
        <p:nvSpPr>
          <p:cNvPr id="348" name="Shape 49"/>
          <p:cNvSpPr/>
          <p:nvPr/>
        </p:nvSpPr>
        <p:spPr>
          <a:xfrm>
            <a:off x="8337499" y="40386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 50"/>
          <p:cNvSpPr txBox="1"/>
          <p:nvPr/>
        </p:nvSpPr>
        <p:spPr>
          <a:xfrm>
            <a:off x="8561337" y="4022787"/>
            <a:ext cx="279082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Encoding:</a:t>
            </a:r>
            <a:r>
              <a:rPr b="0"/>
              <a:t> Convert categorical to numeric</a:t>
            </a:r>
          </a:p>
        </p:txBody>
      </p:sp>
      <p:sp>
        <p:nvSpPr>
          <p:cNvPr id="350" name="Shape 51"/>
          <p:cNvSpPr/>
          <p:nvPr/>
        </p:nvSpPr>
        <p:spPr>
          <a:xfrm>
            <a:off x="8337499" y="4343400"/>
            <a:ext cx="133351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52"/>
          <p:cNvSpPr txBox="1"/>
          <p:nvPr/>
        </p:nvSpPr>
        <p:spPr>
          <a:xfrm>
            <a:off x="8561337" y="4327587"/>
            <a:ext cx="2466976" cy="18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70000"/>
                  </a:srgbClr>
                </a:solidFill>
              </a:defRPr>
            </a:pPr>
            <a:r>
              <a:t>Smoothing:</a:t>
            </a:r>
            <a:r>
              <a:rPr b="0"/>
              <a:t> Remove noise from data</a:t>
            </a:r>
          </a:p>
        </p:txBody>
      </p:sp>
      <p:sp>
        <p:nvSpPr>
          <p:cNvPr id="352" name="Shape 53"/>
          <p:cNvSpPr/>
          <p:nvPr/>
        </p:nvSpPr>
        <p:spPr>
          <a:xfrm>
            <a:off x="400050" y="5791200"/>
            <a:ext cx="1141095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" y="0"/>
                </a:moveTo>
                <a:lnTo>
                  <a:pt x="21384" y="0"/>
                </a:lnTo>
                <a:cubicBezTo>
                  <a:pt x="21503" y="0"/>
                  <a:pt x="21600" y="1452"/>
                  <a:pt x="21600" y="3240"/>
                </a:cubicBezTo>
                <a:lnTo>
                  <a:pt x="21600" y="18360"/>
                </a:lnTo>
                <a:cubicBezTo>
                  <a:pt x="21600" y="20148"/>
                  <a:pt x="21503" y="21600"/>
                  <a:pt x="21384" y="21600"/>
                </a:cubicBezTo>
                <a:lnTo>
                  <a:pt x="72" y="21600"/>
                </a:lnTo>
                <a:cubicBezTo>
                  <a:pt x="32" y="21600"/>
                  <a:pt x="0" y="21116"/>
                  <a:pt x="0" y="20520"/>
                </a:cubicBezTo>
                <a:lnTo>
                  <a:pt x="0" y="1080"/>
                </a:lnTo>
                <a:cubicBezTo>
                  <a:pt x="0" y="484"/>
                  <a:pt x="32" y="0"/>
                  <a:pt x="72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Shape 54"/>
          <p:cNvSpPr/>
          <p:nvPr/>
        </p:nvSpPr>
        <p:spPr>
          <a:xfrm>
            <a:off x="400050" y="5791200"/>
            <a:ext cx="3810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116"/>
                  <a:pt x="0" y="20520"/>
                </a:cubicBezTo>
                <a:lnTo>
                  <a:pt x="0" y="1080"/>
                </a:lnTo>
                <a:cubicBezTo>
                  <a:pt x="0" y="484"/>
                  <a:pt x="9679" y="0"/>
                  <a:pt x="2160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Shape 55"/>
          <p:cNvSpPr/>
          <p:nvPr/>
        </p:nvSpPr>
        <p:spPr>
          <a:xfrm>
            <a:off x="590532" y="5976937"/>
            <a:ext cx="152425" cy="142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4" h="21600" fill="norm" stroke="1" extrusionOk="0">
                <a:moveTo>
                  <a:pt x="10723" y="0"/>
                </a:moveTo>
                <a:cubicBezTo>
                  <a:pt x="11339" y="0"/>
                  <a:pt x="11904" y="364"/>
                  <a:pt x="12197" y="945"/>
                </a:cubicBezTo>
                <a:lnTo>
                  <a:pt x="21242" y="18945"/>
                </a:lnTo>
                <a:cubicBezTo>
                  <a:pt x="21523" y="19503"/>
                  <a:pt x="21510" y="20178"/>
                  <a:pt x="21209" y="20723"/>
                </a:cubicBezTo>
                <a:cubicBezTo>
                  <a:pt x="20907" y="21267"/>
                  <a:pt x="20359" y="21600"/>
                  <a:pt x="19768" y="21600"/>
                </a:cubicBezTo>
                <a:lnTo>
                  <a:pt x="1678" y="21600"/>
                </a:lnTo>
                <a:cubicBezTo>
                  <a:pt x="1087" y="21600"/>
                  <a:pt x="543" y="21267"/>
                  <a:pt x="237" y="20723"/>
                </a:cubicBezTo>
                <a:cubicBezTo>
                  <a:pt x="-69" y="20178"/>
                  <a:pt x="-77" y="19503"/>
                  <a:pt x="204" y="18945"/>
                </a:cubicBezTo>
                <a:lnTo>
                  <a:pt x="9249" y="945"/>
                </a:lnTo>
                <a:cubicBezTo>
                  <a:pt x="9542" y="364"/>
                  <a:pt x="10107" y="0"/>
                  <a:pt x="10723" y="0"/>
                </a:cubicBezTo>
                <a:close/>
                <a:moveTo>
                  <a:pt x="10723" y="7560"/>
                </a:moveTo>
                <a:cubicBezTo>
                  <a:pt x="10166" y="7560"/>
                  <a:pt x="9718" y="8041"/>
                  <a:pt x="9718" y="8640"/>
                </a:cubicBezTo>
                <a:lnTo>
                  <a:pt x="9718" y="13680"/>
                </a:lnTo>
                <a:cubicBezTo>
                  <a:pt x="9718" y="14278"/>
                  <a:pt x="10166" y="14760"/>
                  <a:pt x="10723" y="14760"/>
                </a:cubicBezTo>
                <a:cubicBezTo>
                  <a:pt x="11280" y="14760"/>
                  <a:pt x="11728" y="14278"/>
                  <a:pt x="11728" y="13680"/>
                </a:cubicBezTo>
                <a:lnTo>
                  <a:pt x="11728" y="8640"/>
                </a:lnTo>
                <a:cubicBezTo>
                  <a:pt x="11728" y="8041"/>
                  <a:pt x="11280" y="7560"/>
                  <a:pt x="10723" y="7560"/>
                </a:cubicBezTo>
                <a:close/>
                <a:moveTo>
                  <a:pt x="11841" y="17280"/>
                </a:moveTo>
                <a:cubicBezTo>
                  <a:pt x="11867" y="16834"/>
                  <a:pt x="11660" y="16410"/>
                  <a:pt x="11304" y="16178"/>
                </a:cubicBezTo>
                <a:cubicBezTo>
                  <a:pt x="10948" y="15947"/>
                  <a:pt x="10502" y="15947"/>
                  <a:pt x="10146" y="16178"/>
                </a:cubicBezTo>
                <a:cubicBezTo>
                  <a:pt x="9791" y="16410"/>
                  <a:pt x="9584" y="16834"/>
                  <a:pt x="9609" y="17280"/>
                </a:cubicBezTo>
                <a:cubicBezTo>
                  <a:pt x="9584" y="17726"/>
                  <a:pt x="9791" y="18150"/>
                  <a:pt x="10146" y="18382"/>
                </a:cubicBezTo>
                <a:cubicBezTo>
                  <a:pt x="10502" y="18613"/>
                  <a:pt x="10948" y="18613"/>
                  <a:pt x="11304" y="18382"/>
                </a:cubicBezTo>
                <a:cubicBezTo>
                  <a:pt x="11660" y="18150"/>
                  <a:pt x="11867" y="17726"/>
                  <a:pt x="11841" y="1728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56"/>
          <p:cNvSpPr txBox="1"/>
          <p:nvPr/>
        </p:nvSpPr>
        <p:spPr>
          <a:xfrm>
            <a:off x="819150" y="5957333"/>
            <a:ext cx="10915650" cy="42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3D3D3D">
                    <a:alpha val="80000"/>
                  </a:srgbClr>
                </a:solidFill>
              </a:defRPr>
            </a:pPr>
            <a:r>
              <a:t>Important:</a:t>
            </a:r>
            <a:r>
              <a:rPr b="0"/>
              <a:t> Data preparation activities account for approximately </a:t>
            </a:r>
            <a:r>
              <a:t>80% of analysts' time</a:t>
            </a:r>
            <a:r>
              <a:rPr b="0"/>
              <a:t>, leaving only 20% for actual analysis. Quality preprocessing directly impacts mining results.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342954" y="394397"/>
            <a:ext cx="411544" cy="4115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0"/>
                  <a:pt x="19180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20"/>
                  <a:pt x="2420" y="0"/>
                  <a:pt x="540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Shape 1"/>
          <p:cNvSpPr/>
          <p:nvPr/>
        </p:nvSpPr>
        <p:spPr>
          <a:xfrm>
            <a:off x="462987" y="514429"/>
            <a:ext cx="168974" cy="1714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4" h="21600" fill="norm" stroke="1" extrusionOk="0">
                <a:moveTo>
                  <a:pt x="8191" y="10800"/>
                </a:moveTo>
                <a:lnTo>
                  <a:pt x="6506" y="12466"/>
                </a:lnTo>
                <a:cubicBezTo>
                  <a:pt x="5969" y="12260"/>
                  <a:pt x="5388" y="12150"/>
                  <a:pt x="4778" y="12150"/>
                </a:cubicBezTo>
                <a:cubicBezTo>
                  <a:pt x="2137" y="12150"/>
                  <a:pt x="0" y="14264"/>
                  <a:pt x="0" y="16875"/>
                </a:cubicBezTo>
                <a:cubicBezTo>
                  <a:pt x="0" y="19486"/>
                  <a:pt x="2137" y="21600"/>
                  <a:pt x="4778" y="21600"/>
                </a:cubicBezTo>
                <a:cubicBezTo>
                  <a:pt x="7419" y="21600"/>
                  <a:pt x="9556" y="19486"/>
                  <a:pt x="9556" y="16875"/>
                </a:cubicBezTo>
                <a:cubicBezTo>
                  <a:pt x="9556" y="16272"/>
                  <a:pt x="9441" y="15698"/>
                  <a:pt x="9236" y="15166"/>
                </a:cubicBezTo>
                <a:lnTo>
                  <a:pt x="21297" y="3240"/>
                </a:lnTo>
                <a:cubicBezTo>
                  <a:pt x="21600" y="2941"/>
                  <a:pt x="21600" y="2460"/>
                  <a:pt x="21297" y="2160"/>
                </a:cubicBezTo>
                <a:cubicBezTo>
                  <a:pt x="20090" y="966"/>
                  <a:pt x="18136" y="966"/>
                  <a:pt x="16929" y="2160"/>
                </a:cubicBezTo>
                <a:lnTo>
                  <a:pt x="10922" y="8100"/>
                </a:lnTo>
                <a:lnTo>
                  <a:pt x="9236" y="6434"/>
                </a:lnTo>
                <a:cubicBezTo>
                  <a:pt x="9445" y="5902"/>
                  <a:pt x="9556" y="5328"/>
                  <a:pt x="9556" y="4725"/>
                </a:cubicBezTo>
                <a:cubicBezTo>
                  <a:pt x="9556" y="2114"/>
                  <a:pt x="7419" y="0"/>
                  <a:pt x="4778" y="0"/>
                </a:cubicBezTo>
                <a:cubicBezTo>
                  <a:pt x="2137" y="0"/>
                  <a:pt x="0" y="2114"/>
                  <a:pt x="0" y="4725"/>
                </a:cubicBezTo>
                <a:cubicBezTo>
                  <a:pt x="0" y="7336"/>
                  <a:pt x="2137" y="9450"/>
                  <a:pt x="4778" y="9450"/>
                </a:cubicBezTo>
                <a:cubicBezTo>
                  <a:pt x="5388" y="9450"/>
                  <a:pt x="5969" y="9336"/>
                  <a:pt x="6506" y="9134"/>
                </a:cubicBezTo>
                <a:lnTo>
                  <a:pt x="8191" y="10800"/>
                </a:lnTo>
                <a:close/>
                <a:moveTo>
                  <a:pt x="12368" y="14930"/>
                </a:moveTo>
                <a:lnTo>
                  <a:pt x="16929" y="19440"/>
                </a:lnTo>
                <a:cubicBezTo>
                  <a:pt x="18136" y="20634"/>
                  <a:pt x="20090" y="20634"/>
                  <a:pt x="21297" y="19440"/>
                </a:cubicBezTo>
                <a:cubicBezTo>
                  <a:pt x="21600" y="19140"/>
                  <a:pt x="21600" y="18659"/>
                  <a:pt x="21297" y="18360"/>
                </a:cubicBezTo>
                <a:lnTo>
                  <a:pt x="15098" y="12230"/>
                </a:lnTo>
                <a:lnTo>
                  <a:pt x="12368" y="14930"/>
                </a:lnTo>
                <a:close/>
                <a:moveTo>
                  <a:pt x="2730" y="4725"/>
                </a:moveTo>
                <a:cubicBezTo>
                  <a:pt x="2730" y="3607"/>
                  <a:pt x="3648" y="2700"/>
                  <a:pt x="4778" y="2700"/>
                </a:cubicBezTo>
                <a:cubicBezTo>
                  <a:pt x="5908" y="2700"/>
                  <a:pt x="6826" y="3607"/>
                  <a:pt x="6826" y="4725"/>
                </a:cubicBezTo>
                <a:cubicBezTo>
                  <a:pt x="6826" y="5843"/>
                  <a:pt x="5908" y="6750"/>
                  <a:pt x="4778" y="6750"/>
                </a:cubicBezTo>
                <a:cubicBezTo>
                  <a:pt x="3648" y="6750"/>
                  <a:pt x="2730" y="5843"/>
                  <a:pt x="2730" y="4725"/>
                </a:cubicBezTo>
                <a:close/>
                <a:moveTo>
                  <a:pt x="4778" y="14850"/>
                </a:moveTo>
                <a:cubicBezTo>
                  <a:pt x="5908" y="14850"/>
                  <a:pt x="6826" y="15757"/>
                  <a:pt x="6826" y="16875"/>
                </a:cubicBezTo>
                <a:cubicBezTo>
                  <a:pt x="6826" y="17993"/>
                  <a:pt x="5908" y="18900"/>
                  <a:pt x="4778" y="18900"/>
                </a:cubicBezTo>
                <a:cubicBezTo>
                  <a:pt x="3648" y="18900"/>
                  <a:pt x="2730" y="17993"/>
                  <a:pt x="2730" y="16875"/>
                </a:cubicBezTo>
                <a:cubicBezTo>
                  <a:pt x="2730" y="15757"/>
                  <a:pt x="3648" y="14850"/>
                  <a:pt x="4778" y="1485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2"/>
          <p:cNvSpPr txBox="1"/>
          <p:nvPr/>
        </p:nvSpPr>
        <p:spPr>
          <a:xfrm>
            <a:off x="857384" y="365192"/>
            <a:ext cx="25635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47" sz="900">
                <a:solidFill>
                  <a:srgbClr val="E8B4B8"/>
                </a:solidFill>
              </a:defRPr>
            </a:lvl1pPr>
          </a:lstStyle>
          <a:p>
            <a:pPr/>
            <a:r>
              <a:t>Data Transformation</a:t>
            </a:r>
          </a:p>
        </p:txBody>
      </p:sp>
      <p:sp>
        <p:nvSpPr>
          <p:cNvPr id="360" name="Text 3"/>
          <p:cNvSpPr txBox="1"/>
          <p:nvPr/>
        </p:nvSpPr>
        <p:spPr>
          <a:xfrm>
            <a:off x="857384" y="520930"/>
            <a:ext cx="2657891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400">
                <a:solidFill>
                  <a:srgbClr val="3D3D3D"/>
                </a:solidFill>
              </a:defRPr>
            </a:lvl1pPr>
          </a:lstStyle>
          <a:p>
            <a:pPr/>
            <a:r>
              <a:t>Data Discretization</a:t>
            </a:r>
          </a:p>
        </p:txBody>
      </p:sp>
      <p:sp>
        <p:nvSpPr>
          <p:cNvPr id="361" name="Text 4"/>
          <p:cNvSpPr txBox="1"/>
          <p:nvPr/>
        </p:nvSpPr>
        <p:spPr>
          <a:xfrm>
            <a:off x="857383" y="988290"/>
            <a:ext cx="11068829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Converting continuous numeric data into discrete intervals or categorical labels</a:t>
            </a:r>
          </a:p>
        </p:txBody>
      </p:sp>
      <p:sp>
        <p:nvSpPr>
          <p:cNvPr id="362" name="Shape 5"/>
          <p:cNvSpPr/>
          <p:nvPr/>
        </p:nvSpPr>
        <p:spPr>
          <a:xfrm>
            <a:off x="347240" y="1341805"/>
            <a:ext cx="4595580" cy="396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5" y="0"/>
                </a:moveTo>
                <a:lnTo>
                  <a:pt x="20955" y="0"/>
                </a:lnTo>
                <a:cubicBezTo>
                  <a:pt x="21311" y="0"/>
                  <a:pt x="21600" y="335"/>
                  <a:pt x="21600" y="748"/>
                </a:cubicBezTo>
                <a:lnTo>
                  <a:pt x="21600" y="20852"/>
                </a:lnTo>
                <a:cubicBezTo>
                  <a:pt x="21600" y="21265"/>
                  <a:pt x="21311" y="21600"/>
                  <a:pt x="20955" y="21600"/>
                </a:cubicBezTo>
                <a:lnTo>
                  <a:pt x="645" y="21600"/>
                </a:lnTo>
                <a:cubicBezTo>
                  <a:pt x="289" y="21600"/>
                  <a:pt x="0" y="21265"/>
                  <a:pt x="0" y="20852"/>
                </a:cubicBezTo>
                <a:lnTo>
                  <a:pt x="0" y="748"/>
                </a:lnTo>
                <a:cubicBezTo>
                  <a:pt x="0" y="335"/>
                  <a:pt x="289" y="0"/>
                  <a:pt x="64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10196"/>
              </a:srgbClr>
            </a:solidFill>
          </a:ln>
          <a:effectLst>
            <a:outerShdw sx="100000" sy="100000" kx="0" ky="0" algn="b" rotWithShape="0" blurRad="25400" dist="8574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" name="Shape 6"/>
          <p:cNvSpPr/>
          <p:nvPr/>
        </p:nvSpPr>
        <p:spPr>
          <a:xfrm>
            <a:off x="523003" y="1517569"/>
            <a:ext cx="342955" cy="3429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6" y="0"/>
                  <a:pt x="21600" y="1934"/>
                  <a:pt x="21600" y="4320"/>
                </a:cubicBezTo>
                <a:lnTo>
                  <a:pt x="21600" y="17280"/>
                </a:lnTo>
                <a:cubicBezTo>
                  <a:pt x="21600" y="19666"/>
                  <a:pt x="19666" y="21600"/>
                  <a:pt x="17280" y="21600"/>
                </a:cubicBezTo>
                <a:lnTo>
                  <a:pt x="4320" y="21600"/>
                </a:lnTo>
                <a:cubicBezTo>
                  <a:pt x="1934" y="21600"/>
                  <a:pt x="0" y="19666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Shape 7"/>
          <p:cNvSpPr/>
          <p:nvPr/>
        </p:nvSpPr>
        <p:spPr>
          <a:xfrm>
            <a:off x="619460" y="1611882"/>
            <a:ext cx="154330" cy="1543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9450" y="6750"/>
                </a:moveTo>
                <a:cubicBezTo>
                  <a:pt x="9450" y="6005"/>
                  <a:pt x="10055" y="5400"/>
                  <a:pt x="10800" y="5400"/>
                </a:cubicBezTo>
                <a:cubicBezTo>
                  <a:pt x="11545" y="5400"/>
                  <a:pt x="12150" y="6005"/>
                  <a:pt x="12150" y="6750"/>
                </a:cubicBezTo>
                <a:cubicBezTo>
                  <a:pt x="12150" y="7495"/>
                  <a:pt x="11545" y="8100"/>
                  <a:pt x="10800" y="8100"/>
                </a:cubicBezTo>
                <a:cubicBezTo>
                  <a:pt x="10055" y="8100"/>
                  <a:pt x="9450" y="7495"/>
                  <a:pt x="9450" y="6750"/>
                </a:cubicBezTo>
                <a:close/>
                <a:moveTo>
                  <a:pt x="9113" y="9450"/>
                </a:moveTo>
                <a:lnTo>
                  <a:pt x="11138" y="9450"/>
                </a:lnTo>
                <a:cubicBezTo>
                  <a:pt x="11699" y="9450"/>
                  <a:pt x="12150" y="9901"/>
                  <a:pt x="12150" y="10462"/>
                </a:cubicBezTo>
                <a:lnTo>
                  <a:pt x="12150" y="14175"/>
                </a:lnTo>
                <a:lnTo>
                  <a:pt x="12488" y="14175"/>
                </a:lnTo>
                <a:cubicBezTo>
                  <a:pt x="13049" y="14175"/>
                  <a:pt x="13500" y="14626"/>
                  <a:pt x="13500" y="15188"/>
                </a:cubicBezTo>
                <a:cubicBezTo>
                  <a:pt x="13500" y="15749"/>
                  <a:pt x="13049" y="16200"/>
                  <a:pt x="12488" y="16200"/>
                </a:cubicBezTo>
                <a:lnTo>
                  <a:pt x="9113" y="16200"/>
                </a:lnTo>
                <a:cubicBezTo>
                  <a:pt x="8551" y="16200"/>
                  <a:pt x="8100" y="15749"/>
                  <a:pt x="8100" y="15188"/>
                </a:cubicBezTo>
                <a:cubicBezTo>
                  <a:pt x="8100" y="14626"/>
                  <a:pt x="8551" y="14175"/>
                  <a:pt x="9113" y="14175"/>
                </a:cubicBezTo>
                <a:lnTo>
                  <a:pt x="10125" y="14175"/>
                </a:lnTo>
                <a:lnTo>
                  <a:pt x="10125" y="11475"/>
                </a:lnTo>
                <a:lnTo>
                  <a:pt x="9113" y="11475"/>
                </a:lnTo>
                <a:cubicBezTo>
                  <a:pt x="8551" y="11475"/>
                  <a:pt x="8100" y="11024"/>
                  <a:pt x="8100" y="10462"/>
                </a:cubicBezTo>
                <a:cubicBezTo>
                  <a:pt x="8100" y="9901"/>
                  <a:pt x="8551" y="9450"/>
                  <a:pt x="9113" y="945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8"/>
          <p:cNvSpPr txBox="1"/>
          <p:nvPr/>
        </p:nvSpPr>
        <p:spPr>
          <a:xfrm>
            <a:off x="523004" y="1985349"/>
            <a:ext cx="4329789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What is Discretization?</a:t>
            </a:r>
          </a:p>
        </p:txBody>
      </p:sp>
      <p:sp>
        <p:nvSpPr>
          <p:cNvPr id="366" name="Text 9"/>
          <p:cNvSpPr txBox="1"/>
          <p:nvPr/>
        </p:nvSpPr>
        <p:spPr>
          <a:xfrm>
            <a:off x="523003" y="2331124"/>
            <a:ext cx="4312643" cy="327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The process of partitioning continuous attributes into a finite set of intervals, transforming numeric data into categorical counterparts</a:t>
            </a:r>
          </a:p>
        </p:txBody>
      </p:sp>
      <p:sp>
        <p:nvSpPr>
          <p:cNvPr id="367" name="Shape 10"/>
          <p:cNvSpPr/>
          <p:nvPr/>
        </p:nvSpPr>
        <p:spPr>
          <a:xfrm>
            <a:off x="523003" y="2855088"/>
            <a:ext cx="4244053" cy="11317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9" y="0"/>
                </a:moveTo>
                <a:lnTo>
                  <a:pt x="21251" y="0"/>
                </a:lnTo>
                <a:cubicBezTo>
                  <a:pt x="21444" y="0"/>
                  <a:pt x="21600" y="586"/>
                  <a:pt x="21600" y="1309"/>
                </a:cubicBezTo>
                <a:lnTo>
                  <a:pt x="21600" y="20291"/>
                </a:lnTo>
                <a:cubicBezTo>
                  <a:pt x="21600" y="21014"/>
                  <a:pt x="21444" y="21600"/>
                  <a:pt x="21251" y="21600"/>
                </a:cubicBezTo>
                <a:lnTo>
                  <a:pt x="349" y="21600"/>
                </a:lnTo>
                <a:cubicBezTo>
                  <a:pt x="156" y="21600"/>
                  <a:pt x="0" y="21014"/>
                  <a:pt x="0" y="20291"/>
                </a:cubicBezTo>
                <a:lnTo>
                  <a:pt x="0" y="1309"/>
                </a:lnTo>
                <a:cubicBezTo>
                  <a:pt x="0" y="586"/>
                  <a:pt x="156" y="0"/>
                  <a:pt x="349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11"/>
          <p:cNvSpPr txBox="1"/>
          <p:nvPr/>
        </p:nvSpPr>
        <p:spPr>
          <a:xfrm>
            <a:off x="625889" y="2980213"/>
            <a:ext cx="40982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7B9E89"/>
                </a:solidFill>
              </a:defRPr>
            </a:lvl1pPr>
          </a:lstStyle>
          <a:p>
            <a:pPr/>
            <a:r>
              <a:t>Example Transformation</a:t>
            </a:r>
          </a:p>
        </p:txBody>
      </p:sp>
      <p:sp>
        <p:nvSpPr>
          <p:cNvPr id="369" name="Shape 12"/>
          <p:cNvSpPr/>
          <p:nvPr/>
        </p:nvSpPr>
        <p:spPr>
          <a:xfrm>
            <a:off x="625890" y="3198042"/>
            <a:ext cx="4038278" cy="685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3" y="0"/>
                </a:moveTo>
                <a:lnTo>
                  <a:pt x="21417" y="0"/>
                </a:lnTo>
                <a:cubicBezTo>
                  <a:pt x="21518" y="0"/>
                  <a:pt x="21600" y="484"/>
                  <a:pt x="21600" y="1080"/>
                </a:cubicBezTo>
                <a:lnTo>
                  <a:pt x="21600" y="20520"/>
                </a:lnTo>
                <a:cubicBezTo>
                  <a:pt x="21600" y="21116"/>
                  <a:pt x="21518" y="21600"/>
                  <a:pt x="21417" y="21600"/>
                </a:cubicBezTo>
                <a:lnTo>
                  <a:pt x="183" y="21600"/>
                </a:lnTo>
                <a:cubicBezTo>
                  <a:pt x="82" y="21600"/>
                  <a:pt x="0" y="21116"/>
                  <a:pt x="0" y="20520"/>
                </a:cubicBezTo>
                <a:lnTo>
                  <a:pt x="0" y="1080"/>
                </a:lnTo>
                <a:cubicBezTo>
                  <a:pt x="0" y="484"/>
                  <a:pt x="82" y="0"/>
                  <a:pt x="18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13"/>
          <p:cNvSpPr txBox="1"/>
          <p:nvPr/>
        </p:nvSpPr>
        <p:spPr>
          <a:xfrm>
            <a:off x="694481" y="3288871"/>
            <a:ext cx="39611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Age values: 23, 45, 67, 34, 56</a:t>
            </a:r>
          </a:p>
        </p:txBody>
      </p:sp>
      <p:sp>
        <p:nvSpPr>
          <p:cNvPr id="371" name="Text 14"/>
          <p:cNvSpPr txBox="1"/>
          <p:nvPr/>
        </p:nvSpPr>
        <p:spPr>
          <a:xfrm>
            <a:off x="694481" y="3494643"/>
            <a:ext cx="39611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7B9E89"/>
                </a:solidFill>
              </a:defRPr>
            </a:lvl1pPr>
          </a:lstStyle>
          <a:p>
            <a:pPr/>
            <a:r>
              <a:t>↓ Discretized into bins ↓</a:t>
            </a:r>
          </a:p>
        </p:txBody>
      </p:sp>
      <p:sp>
        <p:nvSpPr>
          <p:cNvPr id="372" name="Text 15"/>
          <p:cNvSpPr txBox="1"/>
          <p:nvPr/>
        </p:nvSpPr>
        <p:spPr>
          <a:xfrm>
            <a:off x="694481" y="3666120"/>
            <a:ext cx="39611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80000"/>
                  </a:srgbClr>
                </a:solidFill>
              </a:defRPr>
            </a:lvl1pPr>
          </a:lstStyle>
          <a:p>
            <a:pPr/>
            <a:r>
              <a:t>Young (0-30), Middle (31-50), Senior (51+)</a:t>
            </a:r>
          </a:p>
        </p:txBody>
      </p:sp>
      <p:sp>
        <p:nvSpPr>
          <p:cNvPr id="373" name="Shape 16"/>
          <p:cNvSpPr/>
          <p:nvPr/>
        </p:nvSpPr>
        <p:spPr>
          <a:xfrm>
            <a:off x="347240" y="5447670"/>
            <a:ext cx="4595580" cy="18262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5" y="0"/>
                </a:moveTo>
                <a:lnTo>
                  <a:pt x="20955" y="0"/>
                </a:lnTo>
                <a:cubicBezTo>
                  <a:pt x="21311" y="0"/>
                  <a:pt x="21600" y="726"/>
                  <a:pt x="21600" y="1623"/>
                </a:cubicBezTo>
                <a:lnTo>
                  <a:pt x="21600" y="19977"/>
                </a:lnTo>
                <a:cubicBezTo>
                  <a:pt x="21600" y="20874"/>
                  <a:pt x="21311" y="21600"/>
                  <a:pt x="20955" y="21600"/>
                </a:cubicBezTo>
                <a:lnTo>
                  <a:pt x="645" y="21600"/>
                </a:lnTo>
                <a:cubicBezTo>
                  <a:pt x="289" y="21600"/>
                  <a:pt x="0" y="20874"/>
                  <a:pt x="0" y="19977"/>
                </a:cubicBezTo>
                <a:lnTo>
                  <a:pt x="0" y="1623"/>
                </a:lnTo>
                <a:cubicBezTo>
                  <a:pt x="0" y="726"/>
                  <a:pt x="289" y="0"/>
                  <a:pt x="64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10196"/>
              </a:srgbClr>
            </a:solidFill>
          </a:ln>
          <a:effectLst>
            <a:outerShdw sx="100000" sy="100000" kx="0" ky="0" algn="b" rotWithShape="0" blurRad="25400" dist="8574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" name="Shape 17"/>
          <p:cNvSpPr/>
          <p:nvPr/>
        </p:nvSpPr>
        <p:spPr>
          <a:xfrm>
            <a:off x="523003" y="5623433"/>
            <a:ext cx="342955" cy="3429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6" y="0"/>
                  <a:pt x="21600" y="1934"/>
                  <a:pt x="21600" y="4320"/>
                </a:cubicBezTo>
                <a:lnTo>
                  <a:pt x="21600" y="17280"/>
                </a:lnTo>
                <a:cubicBezTo>
                  <a:pt x="21600" y="19666"/>
                  <a:pt x="19666" y="21600"/>
                  <a:pt x="17280" y="21600"/>
                </a:cubicBezTo>
                <a:lnTo>
                  <a:pt x="4320" y="21600"/>
                </a:lnTo>
                <a:cubicBezTo>
                  <a:pt x="1934" y="21600"/>
                  <a:pt x="0" y="19666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Shape 18"/>
          <p:cNvSpPr/>
          <p:nvPr/>
        </p:nvSpPr>
        <p:spPr>
          <a:xfrm>
            <a:off x="613709" y="5708100"/>
            <a:ext cx="165835" cy="158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21539" fill="norm" stroke="1" extrusionOk="0">
                <a:moveTo>
                  <a:pt x="11576" y="537"/>
                </a:moveTo>
                <a:cubicBezTo>
                  <a:pt x="11416" y="209"/>
                  <a:pt x="11092" y="0"/>
                  <a:pt x="10741" y="0"/>
                </a:cubicBezTo>
                <a:cubicBezTo>
                  <a:pt x="10390" y="0"/>
                  <a:pt x="10066" y="209"/>
                  <a:pt x="9906" y="537"/>
                </a:cubicBezTo>
                <a:lnTo>
                  <a:pt x="7033" y="6446"/>
                </a:lnTo>
                <a:lnTo>
                  <a:pt x="792" y="7487"/>
                </a:lnTo>
                <a:cubicBezTo>
                  <a:pt x="444" y="7544"/>
                  <a:pt x="156" y="7802"/>
                  <a:pt x="46" y="8155"/>
                </a:cubicBezTo>
                <a:cubicBezTo>
                  <a:pt x="-63" y="8507"/>
                  <a:pt x="27" y="8892"/>
                  <a:pt x="273" y="9155"/>
                </a:cubicBezTo>
                <a:lnTo>
                  <a:pt x="4738" y="13847"/>
                </a:lnTo>
                <a:lnTo>
                  <a:pt x="3754" y="20399"/>
                </a:lnTo>
                <a:cubicBezTo>
                  <a:pt x="3700" y="20764"/>
                  <a:pt x="3844" y="21133"/>
                  <a:pt x="4129" y="21350"/>
                </a:cubicBezTo>
                <a:cubicBezTo>
                  <a:pt x="4414" y="21567"/>
                  <a:pt x="4789" y="21600"/>
                  <a:pt x="5105" y="21432"/>
                </a:cubicBezTo>
                <a:lnTo>
                  <a:pt x="10741" y="18424"/>
                </a:lnTo>
                <a:lnTo>
                  <a:pt x="16373" y="21432"/>
                </a:lnTo>
                <a:cubicBezTo>
                  <a:pt x="16685" y="21600"/>
                  <a:pt x="17064" y="21567"/>
                  <a:pt x="17349" y="21350"/>
                </a:cubicBezTo>
                <a:cubicBezTo>
                  <a:pt x="17634" y="21133"/>
                  <a:pt x="17778" y="20768"/>
                  <a:pt x="17724" y="20399"/>
                </a:cubicBezTo>
                <a:lnTo>
                  <a:pt x="16736" y="13847"/>
                </a:lnTo>
                <a:lnTo>
                  <a:pt x="21201" y="9155"/>
                </a:lnTo>
                <a:cubicBezTo>
                  <a:pt x="21451" y="8892"/>
                  <a:pt x="21537" y="8507"/>
                  <a:pt x="21428" y="8155"/>
                </a:cubicBezTo>
                <a:cubicBezTo>
                  <a:pt x="21318" y="7802"/>
                  <a:pt x="21034" y="7544"/>
                  <a:pt x="20682" y="7487"/>
                </a:cubicBezTo>
                <a:lnTo>
                  <a:pt x="14445" y="6446"/>
                </a:lnTo>
                <a:lnTo>
                  <a:pt x="11576" y="537"/>
                </a:ln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9"/>
          <p:cNvSpPr txBox="1"/>
          <p:nvPr/>
        </p:nvSpPr>
        <p:spPr>
          <a:xfrm>
            <a:off x="968843" y="5696817"/>
            <a:ext cx="668760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Benefits</a:t>
            </a:r>
          </a:p>
        </p:txBody>
      </p:sp>
      <p:sp>
        <p:nvSpPr>
          <p:cNvPr id="377" name="Shape 20"/>
          <p:cNvSpPr/>
          <p:nvPr/>
        </p:nvSpPr>
        <p:spPr>
          <a:xfrm>
            <a:off x="547659" y="6118547"/>
            <a:ext cx="105028" cy="97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8" h="21345" fill="norm" stroke="1" extrusionOk="0">
                <a:moveTo>
                  <a:pt x="20622" y="318"/>
                </a:moveTo>
                <a:cubicBezTo>
                  <a:pt x="21300" y="852"/>
                  <a:pt x="21452" y="1878"/>
                  <a:pt x="20959" y="2611"/>
                </a:cubicBezTo>
                <a:lnTo>
                  <a:pt x="8817" y="20667"/>
                </a:lnTo>
                <a:cubicBezTo>
                  <a:pt x="8556" y="21057"/>
                  <a:pt x="8152" y="21298"/>
                  <a:pt x="7707" y="21339"/>
                </a:cubicBezTo>
                <a:cubicBezTo>
                  <a:pt x="7261" y="21380"/>
                  <a:pt x="6829" y="21200"/>
                  <a:pt x="6516" y="20862"/>
                </a:cubicBezTo>
                <a:lnTo>
                  <a:pt x="445" y="14296"/>
                </a:lnTo>
                <a:cubicBezTo>
                  <a:pt x="-148" y="13655"/>
                  <a:pt x="-148" y="12614"/>
                  <a:pt x="445" y="11973"/>
                </a:cubicBezTo>
                <a:cubicBezTo>
                  <a:pt x="1038" y="11331"/>
                  <a:pt x="2001" y="11331"/>
                  <a:pt x="2594" y="11973"/>
                </a:cubicBezTo>
                <a:lnTo>
                  <a:pt x="7408" y="17179"/>
                </a:lnTo>
                <a:lnTo>
                  <a:pt x="18507" y="677"/>
                </a:lnTo>
                <a:cubicBezTo>
                  <a:pt x="19000" y="-56"/>
                  <a:pt x="19948" y="-220"/>
                  <a:pt x="20627" y="31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21"/>
          <p:cNvSpPr txBox="1"/>
          <p:nvPr/>
        </p:nvSpPr>
        <p:spPr>
          <a:xfrm>
            <a:off x="741636" y="6105007"/>
            <a:ext cx="207487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Reduces data size and complexity</a:t>
            </a:r>
          </a:p>
        </p:txBody>
      </p:sp>
      <p:sp>
        <p:nvSpPr>
          <p:cNvPr id="379" name="Shape 22"/>
          <p:cNvSpPr/>
          <p:nvPr/>
        </p:nvSpPr>
        <p:spPr>
          <a:xfrm>
            <a:off x="547659" y="6392910"/>
            <a:ext cx="105028" cy="97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8" h="21345" fill="norm" stroke="1" extrusionOk="0">
                <a:moveTo>
                  <a:pt x="20622" y="318"/>
                </a:moveTo>
                <a:cubicBezTo>
                  <a:pt x="21300" y="852"/>
                  <a:pt x="21452" y="1878"/>
                  <a:pt x="20959" y="2611"/>
                </a:cubicBezTo>
                <a:lnTo>
                  <a:pt x="8817" y="20667"/>
                </a:lnTo>
                <a:cubicBezTo>
                  <a:pt x="8556" y="21057"/>
                  <a:pt x="8152" y="21298"/>
                  <a:pt x="7707" y="21339"/>
                </a:cubicBezTo>
                <a:cubicBezTo>
                  <a:pt x="7261" y="21380"/>
                  <a:pt x="6829" y="21200"/>
                  <a:pt x="6516" y="20862"/>
                </a:cubicBezTo>
                <a:lnTo>
                  <a:pt x="445" y="14296"/>
                </a:lnTo>
                <a:cubicBezTo>
                  <a:pt x="-148" y="13655"/>
                  <a:pt x="-148" y="12614"/>
                  <a:pt x="445" y="11973"/>
                </a:cubicBezTo>
                <a:cubicBezTo>
                  <a:pt x="1038" y="11331"/>
                  <a:pt x="2001" y="11331"/>
                  <a:pt x="2594" y="11973"/>
                </a:cubicBezTo>
                <a:lnTo>
                  <a:pt x="7408" y="17179"/>
                </a:lnTo>
                <a:lnTo>
                  <a:pt x="18507" y="677"/>
                </a:lnTo>
                <a:cubicBezTo>
                  <a:pt x="19000" y="-56"/>
                  <a:pt x="19948" y="-220"/>
                  <a:pt x="20627" y="31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23"/>
          <p:cNvSpPr txBox="1"/>
          <p:nvPr/>
        </p:nvSpPr>
        <p:spPr>
          <a:xfrm>
            <a:off x="741636" y="6379370"/>
            <a:ext cx="265789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Enables mining at multiple granularity levels</a:t>
            </a:r>
          </a:p>
        </p:txBody>
      </p:sp>
      <p:sp>
        <p:nvSpPr>
          <p:cNvPr id="381" name="Shape 24"/>
          <p:cNvSpPr/>
          <p:nvPr/>
        </p:nvSpPr>
        <p:spPr>
          <a:xfrm>
            <a:off x="547659" y="6667272"/>
            <a:ext cx="105028" cy="975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8" h="21345" fill="norm" stroke="1" extrusionOk="0">
                <a:moveTo>
                  <a:pt x="20622" y="318"/>
                </a:moveTo>
                <a:cubicBezTo>
                  <a:pt x="21300" y="852"/>
                  <a:pt x="21452" y="1878"/>
                  <a:pt x="20959" y="2611"/>
                </a:cubicBezTo>
                <a:lnTo>
                  <a:pt x="8817" y="20667"/>
                </a:lnTo>
                <a:cubicBezTo>
                  <a:pt x="8556" y="21057"/>
                  <a:pt x="8152" y="21298"/>
                  <a:pt x="7707" y="21339"/>
                </a:cubicBezTo>
                <a:cubicBezTo>
                  <a:pt x="7261" y="21380"/>
                  <a:pt x="6829" y="21200"/>
                  <a:pt x="6516" y="20862"/>
                </a:cubicBezTo>
                <a:lnTo>
                  <a:pt x="445" y="14296"/>
                </a:lnTo>
                <a:cubicBezTo>
                  <a:pt x="-148" y="13655"/>
                  <a:pt x="-148" y="12614"/>
                  <a:pt x="445" y="11973"/>
                </a:cubicBezTo>
                <a:cubicBezTo>
                  <a:pt x="1038" y="11331"/>
                  <a:pt x="2001" y="11331"/>
                  <a:pt x="2594" y="11973"/>
                </a:cubicBezTo>
                <a:lnTo>
                  <a:pt x="7408" y="17179"/>
                </a:lnTo>
                <a:lnTo>
                  <a:pt x="18507" y="677"/>
                </a:lnTo>
                <a:cubicBezTo>
                  <a:pt x="19000" y="-56"/>
                  <a:pt x="19948" y="-220"/>
                  <a:pt x="20627" y="31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25"/>
          <p:cNvSpPr txBox="1"/>
          <p:nvPr/>
        </p:nvSpPr>
        <p:spPr>
          <a:xfrm>
            <a:off x="741636" y="6653732"/>
            <a:ext cx="3180896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Improves algorithm performance and interpretability</a:t>
            </a:r>
          </a:p>
        </p:txBody>
      </p:sp>
      <p:sp>
        <p:nvSpPr>
          <p:cNvPr id="383" name="Shape 26"/>
          <p:cNvSpPr/>
          <p:nvPr/>
        </p:nvSpPr>
        <p:spPr>
          <a:xfrm>
            <a:off x="547659" y="6941635"/>
            <a:ext cx="105028" cy="975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8" h="21345" fill="norm" stroke="1" extrusionOk="0">
                <a:moveTo>
                  <a:pt x="20622" y="318"/>
                </a:moveTo>
                <a:cubicBezTo>
                  <a:pt x="21300" y="852"/>
                  <a:pt x="21452" y="1878"/>
                  <a:pt x="20959" y="2611"/>
                </a:cubicBezTo>
                <a:lnTo>
                  <a:pt x="8817" y="20667"/>
                </a:lnTo>
                <a:cubicBezTo>
                  <a:pt x="8556" y="21057"/>
                  <a:pt x="8152" y="21298"/>
                  <a:pt x="7707" y="21339"/>
                </a:cubicBezTo>
                <a:cubicBezTo>
                  <a:pt x="7261" y="21380"/>
                  <a:pt x="6829" y="21200"/>
                  <a:pt x="6516" y="20862"/>
                </a:cubicBezTo>
                <a:lnTo>
                  <a:pt x="445" y="14296"/>
                </a:lnTo>
                <a:cubicBezTo>
                  <a:pt x="-148" y="13655"/>
                  <a:pt x="-148" y="12614"/>
                  <a:pt x="445" y="11973"/>
                </a:cubicBezTo>
                <a:cubicBezTo>
                  <a:pt x="1038" y="11331"/>
                  <a:pt x="2001" y="11331"/>
                  <a:pt x="2594" y="11973"/>
                </a:cubicBezTo>
                <a:lnTo>
                  <a:pt x="7408" y="17179"/>
                </a:lnTo>
                <a:lnTo>
                  <a:pt x="18507" y="677"/>
                </a:lnTo>
                <a:cubicBezTo>
                  <a:pt x="19000" y="-56"/>
                  <a:pt x="19948" y="-220"/>
                  <a:pt x="20627" y="31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7"/>
          <p:cNvSpPr txBox="1"/>
          <p:nvPr/>
        </p:nvSpPr>
        <p:spPr>
          <a:xfrm>
            <a:off x="741636" y="6928095"/>
            <a:ext cx="2623597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Handles noise and outliers more effectively</a:t>
            </a:r>
          </a:p>
        </p:txBody>
      </p:sp>
      <p:sp>
        <p:nvSpPr>
          <p:cNvPr id="385" name="Shape 28"/>
          <p:cNvSpPr/>
          <p:nvPr/>
        </p:nvSpPr>
        <p:spPr>
          <a:xfrm>
            <a:off x="5121864" y="1341805"/>
            <a:ext cx="6721890" cy="5933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41" y="0"/>
                </a:moveTo>
                <a:lnTo>
                  <a:pt x="21159" y="0"/>
                </a:lnTo>
                <a:cubicBezTo>
                  <a:pt x="21403" y="0"/>
                  <a:pt x="21600" y="224"/>
                  <a:pt x="21600" y="499"/>
                </a:cubicBezTo>
                <a:lnTo>
                  <a:pt x="21600" y="21101"/>
                </a:lnTo>
                <a:cubicBezTo>
                  <a:pt x="21600" y="21376"/>
                  <a:pt x="21403" y="21600"/>
                  <a:pt x="21159" y="21600"/>
                </a:cubicBezTo>
                <a:lnTo>
                  <a:pt x="441" y="21600"/>
                </a:lnTo>
                <a:cubicBezTo>
                  <a:pt x="197" y="21600"/>
                  <a:pt x="0" y="21376"/>
                  <a:pt x="0" y="21101"/>
                </a:cubicBezTo>
                <a:lnTo>
                  <a:pt x="0" y="499"/>
                </a:lnTo>
                <a:cubicBezTo>
                  <a:pt x="0" y="224"/>
                  <a:pt x="198" y="0"/>
                  <a:pt x="44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10196"/>
              </a:srgbClr>
            </a:solidFill>
          </a:ln>
          <a:effectLst>
            <a:outerShdw sx="100000" sy="100000" kx="0" ky="0" algn="b" rotWithShape="0" blurRad="25400" dist="8574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" name="Shape 29"/>
          <p:cNvSpPr/>
          <p:nvPr/>
        </p:nvSpPr>
        <p:spPr>
          <a:xfrm>
            <a:off x="5297628" y="1517569"/>
            <a:ext cx="342955" cy="3429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6" y="0"/>
                  <a:pt x="21600" y="1934"/>
                  <a:pt x="21600" y="4320"/>
                </a:cubicBezTo>
                <a:lnTo>
                  <a:pt x="21600" y="17280"/>
                </a:lnTo>
                <a:cubicBezTo>
                  <a:pt x="21600" y="19666"/>
                  <a:pt x="19666" y="21600"/>
                  <a:pt x="17280" y="21600"/>
                </a:cubicBezTo>
                <a:lnTo>
                  <a:pt x="4320" y="21600"/>
                </a:lnTo>
                <a:cubicBezTo>
                  <a:pt x="1934" y="21600"/>
                  <a:pt x="0" y="19666"/>
                  <a:pt x="0" y="17280"/>
                </a:cubicBezTo>
                <a:lnTo>
                  <a:pt x="0" y="4320"/>
                </a:lnTo>
                <a:cubicBezTo>
                  <a:pt x="0" y="1936"/>
                  <a:pt x="1936" y="0"/>
                  <a:pt x="432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Shape 30"/>
          <p:cNvSpPr/>
          <p:nvPr/>
        </p:nvSpPr>
        <p:spPr>
          <a:xfrm>
            <a:off x="5390684" y="1608453"/>
            <a:ext cx="161384" cy="1613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0" h="21353" fill="norm" stroke="1" extrusionOk="0">
                <a:moveTo>
                  <a:pt x="8080" y="4326"/>
                </a:moveTo>
                <a:lnTo>
                  <a:pt x="8080" y="6304"/>
                </a:lnTo>
                <a:lnTo>
                  <a:pt x="8100" y="6324"/>
                </a:lnTo>
                <a:cubicBezTo>
                  <a:pt x="8358" y="3038"/>
                  <a:pt x="11095" y="453"/>
                  <a:pt x="14436" y="453"/>
                </a:cubicBezTo>
                <a:cubicBezTo>
                  <a:pt x="15235" y="453"/>
                  <a:pt x="16001" y="601"/>
                  <a:pt x="16704" y="872"/>
                </a:cubicBezTo>
                <a:cubicBezTo>
                  <a:pt x="17102" y="1024"/>
                  <a:pt x="17173" y="1530"/>
                  <a:pt x="16875" y="1833"/>
                </a:cubicBezTo>
                <a:lnTo>
                  <a:pt x="13352" y="5371"/>
                </a:lnTo>
                <a:cubicBezTo>
                  <a:pt x="13232" y="5491"/>
                  <a:pt x="13165" y="5654"/>
                  <a:pt x="13165" y="5822"/>
                </a:cubicBezTo>
                <a:lnTo>
                  <a:pt x="13165" y="7473"/>
                </a:lnTo>
                <a:cubicBezTo>
                  <a:pt x="13165" y="7824"/>
                  <a:pt x="13451" y="8111"/>
                  <a:pt x="13800" y="8111"/>
                </a:cubicBezTo>
                <a:lnTo>
                  <a:pt x="15445" y="8111"/>
                </a:lnTo>
                <a:cubicBezTo>
                  <a:pt x="15612" y="8111"/>
                  <a:pt x="15775" y="8043"/>
                  <a:pt x="15894" y="7923"/>
                </a:cubicBezTo>
                <a:lnTo>
                  <a:pt x="19418" y="4386"/>
                </a:lnTo>
                <a:cubicBezTo>
                  <a:pt x="19720" y="4083"/>
                  <a:pt x="20224" y="4158"/>
                  <a:pt x="20375" y="4557"/>
                </a:cubicBezTo>
                <a:cubicBezTo>
                  <a:pt x="20646" y="5263"/>
                  <a:pt x="20793" y="6033"/>
                  <a:pt x="20793" y="6835"/>
                </a:cubicBezTo>
                <a:cubicBezTo>
                  <a:pt x="20793" y="9251"/>
                  <a:pt x="19454" y="11357"/>
                  <a:pt x="17475" y="12438"/>
                </a:cubicBezTo>
                <a:lnTo>
                  <a:pt x="20713" y="15688"/>
                </a:lnTo>
                <a:cubicBezTo>
                  <a:pt x="21456" y="16434"/>
                  <a:pt x="21456" y="17647"/>
                  <a:pt x="20713" y="18396"/>
                </a:cubicBezTo>
                <a:lnTo>
                  <a:pt x="18325" y="20793"/>
                </a:lnTo>
                <a:cubicBezTo>
                  <a:pt x="17583" y="21539"/>
                  <a:pt x="16375" y="21539"/>
                  <a:pt x="15628" y="20793"/>
                </a:cubicBezTo>
                <a:lnTo>
                  <a:pt x="10622" y="15768"/>
                </a:lnTo>
                <a:cubicBezTo>
                  <a:pt x="9534" y="14675"/>
                  <a:pt x="9287" y="13060"/>
                  <a:pt x="9887" y="11728"/>
                </a:cubicBezTo>
                <a:lnTo>
                  <a:pt x="6284" y="8111"/>
                </a:lnTo>
                <a:lnTo>
                  <a:pt x="4313" y="8111"/>
                </a:lnTo>
                <a:cubicBezTo>
                  <a:pt x="3888" y="8111"/>
                  <a:pt x="3491" y="7899"/>
                  <a:pt x="3257" y="7544"/>
                </a:cubicBezTo>
                <a:lnTo>
                  <a:pt x="106" y="2802"/>
                </a:lnTo>
                <a:cubicBezTo>
                  <a:pt x="-61" y="2551"/>
                  <a:pt x="-29" y="2212"/>
                  <a:pt x="186" y="1997"/>
                </a:cubicBezTo>
                <a:lnTo>
                  <a:pt x="1989" y="186"/>
                </a:lnTo>
                <a:cubicBezTo>
                  <a:pt x="2204" y="-29"/>
                  <a:pt x="2538" y="-61"/>
                  <a:pt x="2792" y="107"/>
                </a:cubicBezTo>
                <a:lnTo>
                  <a:pt x="7516" y="3265"/>
                </a:lnTo>
                <a:cubicBezTo>
                  <a:pt x="7869" y="3500"/>
                  <a:pt x="8080" y="3899"/>
                  <a:pt x="8080" y="4326"/>
                </a:cubicBezTo>
                <a:close/>
                <a:moveTo>
                  <a:pt x="7742" y="12282"/>
                </a:moveTo>
                <a:cubicBezTo>
                  <a:pt x="7492" y="13758"/>
                  <a:pt x="7837" y="15317"/>
                  <a:pt x="8791" y="16566"/>
                </a:cubicBezTo>
                <a:lnTo>
                  <a:pt x="5017" y="20350"/>
                </a:lnTo>
                <a:cubicBezTo>
                  <a:pt x="3900" y="21471"/>
                  <a:pt x="2089" y="21471"/>
                  <a:pt x="972" y="20350"/>
                </a:cubicBezTo>
                <a:cubicBezTo>
                  <a:pt x="-144" y="19230"/>
                  <a:pt x="-144" y="17411"/>
                  <a:pt x="972" y="16290"/>
                </a:cubicBezTo>
                <a:lnTo>
                  <a:pt x="6351" y="10891"/>
                </a:lnTo>
                <a:lnTo>
                  <a:pt x="7742" y="12286"/>
                </a:ln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31"/>
          <p:cNvSpPr txBox="1"/>
          <p:nvPr/>
        </p:nvSpPr>
        <p:spPr>
          <a:xfrm>
            <a:off x="5743468" y="1590953"/>
            <a:ext cx="1980558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Discretization Techniques</a:t>
            </a:r>
          </a:p>
        </p:txBody>
      </p:sp>
      <p:sp>
        <p:nvSpPr>
          <p:cNvPr id="389" name="Shape 32"/>
          <p:cNvSpPr/>
          <p:nvPr/>
        </p:nvSpPr>
        <p:spPr>
          <a:xfrm>
            <a:off x="5297628" y="1997705"/>
            <a:ext cx="6370364" cy="1148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9" y="0"/>
                </a:moveTo>
                <a:lnTo>
                  <a:pt x="21251" y="0"/>
                </a:lnTo>
                <a:cubicBezTo>
                  <a:pt x="21444" y="0"/>
                  <a:pt x="21600" y="866"/>
                  <a:pt x="21600" y="1934"/>
                </a:cubicBezTo>
                <a:lnTo>
                  <a:pt x="21600" y="19666"/>
                </a:lnTo>
                <a:cubicBezTo>
                  <a:pt x="21600" y="20734"/>
                  <a:pt x="21444" y="21600"/>
                  <a:pt x="21251" y="21600"/>
                </a:cubicBezTo>
                <a:lnTo>
                  <a:pt x="349" y="21600"/>
                </a:lnTo>
                <a:cubicBezTo>
                  <a:pt x="156" y="21600"/>
                  <a:pt x="0" y="20734"/>
                  <a:pt x="0" y="19666"/>
                </a:cubicBezTo>
                <a:lnTo>
                  <a:pt x="0" y="1934"/>
                </a:lnTo>
                <a:cubicBezTo>
                  <a:pt x="0" y="866"/>
                  <a:pt x="156" y="0"/>
                  <a:pt x="349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Shape 33"/>
          <p:cNvSpPr/>
          <p:nvPr/>
        </p:nvSpPr>
        <p:spPr>
          <a:xfrm>
            <a:off x="5434810" y="2134885"/>
            <a:ext cx="274364" cy="274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34"/>
          <p:cNvSpPr txBox="1"/>
          <p:nvPr/>
        </p:nvSpPr>
        <p:spPr>
          <a:xfrm>
            <a:off x="5550222" y="2204914"/>
            <a:ext cx="11146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2" name="Text 35"/>
          <p:cNvSpPr txBox="1"/>
          <p:nvPr/>
        </p:nvSpPr>
        <p:spPr>
          <a:xfrm>
            <a:off x="5812059" y="2180054"/>
            <a:ext cx="565874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3D3D3D"/>
                </a:solidFill>
              </a:defRPr>
            </a:lvl1pPr>
          </a:lstStyle>
          <a:p>
            <a:pPr/>
            <a:r>
              <a:t>Binning</a:t>
            </a:r>
          </a:p>
        </p:txBody>
      </p:sp>
      <p:sp>
        <p:nvSpPr>
          <p:cNvPr id="393" name="Text 36"/>
          <p:cNvSpPr txBox="1"/>
          <p:nvPr/>
        </p:nvSpPr>
        <p:spPr>
          <a:xfrm>
            <a:off x="5434810" y="2513573"/>
            <a:ext cx="616459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Partition data into equal-sized buckets based on value ranges</a:t>
            </a:r>
          </a:p>
        </p:txBody>
      </p:sp>
      <p:sp>
        <p:nvSpPr>
          <p:cNvPr id="394" name="Shape 37"/>
          <p:cNvSpPr/>
          <p:nvPr/>
        </p:nvSpPr>
        <p:spPr>
          <a:xfrm>
            <a:off x="5439097" y="2756488"/>
            <a:ext cx="883106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41" y="0"/>
                </a:moveTo>
                <a:lnTo>
                  <a:pt x="18559" y="0"/>
                </a:lnTo>
                <a:cubicBezTo>
                  <a:pt x="20237" y="0"/>
                  <a:pt x="21600" y="4839"/>
                  <a:pt x="21600" y="10800"/>
                </a:cubicBezTo>
                <a:cubicBezTo>
                  <a:pt x="21600" y="16761"/>
                  <a:pt x="20237" y="21600"/>
                  <a:pt x="18559" y="21600"/>
                </a:cubicBezTo>
                <a:lnTo>
                  <a:pt x="3041" y="21600"/>
                </a:lnTo>
                <a:cubicBezTo>
                  <a:pt x="1363" y="21600"/>
                  <a:pt x="0" y="16761"/>
                  <a:pt x="0" y="10800"/>
                </a:cubicBezTo>
                <a:cubicBezTo>
                  <a:pt x="0" y="4839"/>
                  <a:pt x="1363" y="0"/>
                  <a:pt x="304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38"/>
          <p:cNvSpPr txBox="1"/>
          <p:nvPr/>
        </p:nvSpPr>
        <p:spPr>
          <a:xfrm>
            <a:off x="5503401" y="2776869"/>
            <a:ext cx="797367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Equal-Width</a:t>
            </a:r>
          </a:p>
        </p:txBody>
      </p:sp>
      <p:sp>
        <p:nvSpPr>
          <p:cNvPr id="396" name="Shape 39"/>
          <p:cNvSpPr/>
          <p:nvPr/>
        </p:nvSpPr>
        <p:spPr>
          <a:xfrm>
            <a:off x="6403185" y="2756488"/>
            <a:ext cx="1106026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28" y="0"/>
                </a:moveTo>
                <a:lnTo>
                  <a:pt x="19172" y="0"/>
                </a:lnTo>
                <a:cubicBezTo>
                  <a:pt x="20513" y="0"/>
                  <a:pt x="21600" y="4835"/>
                  <a:pt x="21600" y="10800"/>
                </a:cubicBezTo>
                <a:cubicBezTo>
                  <a:pt x="21600" y="16765"/>
                  <a:pt x="20513" y="21600"/>
                  <a:pt x="19172" y="21600"/>
                </a:cubicBezTo>
                <a:lnTo>
                  <a:pt x="2428" y="21600"/>
                </a:lnTo>
                <a:cubicBezTo>
                  <a:pt x="1088" y="21600"/>
                  <a:pt x="0" y="16761"/>
                  <a:pt x="0" y="10800"/>
                </a:cubicBezTo>
                <a:cubicBezTo>
                  <a:pt x="0" y="4839"/>
                  <a:pt x="1088" y="0"/>
                  <a:pt x="242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B9E8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7" name="Text 40"/>
          <p:cNvSpPr txBox="1"/>
          <p:nvPr/>
        </p:nvSpPr>
        <p:spPr>
          <a:xfrm>
            <a:off x="6467489" y="2776869"/>
            <a:ext cx="1020287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Equal-Frequency</a:t>
            </a:r>
          </a:p>
        </p:txBody>
      </p:sp>
      <p:sp>
        <p:nvSpPr>
          <p:cNvPr id="398" name="Shape 41"/>
          <p:cNvSpPr/>
          <p:nvPr/>
        </p:nvSpPr>
        <p:spPr>
          <a:xfrm>
            <a:off x="5297628" y="3283780"/>
            <a:ext cx="6370364" cy="11488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9" y="0"/>
                </a:moveTo>
                <a:lnTo>
                  <a:pt x="21251" y="0"/>
                </a:lnTo>
                <a:cubicBezTo>
                  <a:pt x="21444" y="0"/>
                  <a:pt x="21600" y="866"/>
                  <a:pt x="21600" y="1934"/>
                </a:cubicBezTo>
                <a:lnTo>
                  <a:pt x="21600" y="19666"/>
                </a:lnTo>
                <a:cubicBezTo>
                  <a:pt x="21600" y="20734"/>
                  <a:pt x="21444" y="21600"/>
                  <a:pt x="21251" y="21600"/>
                </a:cubicBezTo>
                <a:lnTo>
                  <a:pt x="349" y="21600"/>
                </a:lnTo>
                <a:cubicBezTo>
                  <a:pt x="156" y="21600"/>
                  <a:pt x="0" y="20734"/>
                  <a:pt x="0" y="19666"/>
                </a:cubicBezTo>
                <a:lnTo>
                  <a:pt x="0" y="1934"/>
                </a:lnTo>
                <a:cubicBezTo>
                  <a:pt x="0" y="866"/>
                  <a:pt x="156" y="0"/>
                  <a:pt x="349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Shape 42"/>
          <p:cNvSpPr/>
          <p:nvPr/>
        </p:nvSpPr>
        <p:spPr>
          <a:xfrm>
            <a:off x="5434810" y="3420962"/>
            <a:ext cx="274364" cy="274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43"/>
          <p:cNvSpPr txBox="1"/>
          <p:nvPr/>
        </p:nvSpPr>
        <p:spPr>
          <a:xfrm>
            <a:off x="5537025" y="3490990"/>
            <a:ext cx="13718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B8A9C9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01" name="Text 44"/>
          <p:cNvSpPr txBox="1"/>
          <p:nvPr/>
        </p:nvSpPr>
        <p:spPr>
          <a:xfrm>
            <a:off x="5812059" y="3466131"/>
            <a:ext cx="1354668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3D3D3D"/>
                </a:solidFill>
              </a:defRPr>
            </a:lvl1pPr>
          </a:lstStyle>
          <a:p>
            <a:pPr/>
            <a:r>
              <a:t>Histogram Analysis</a:t>
            </a:r>
          </a:p>
        </p:txBody>
      </p:sp>
      <p:sp>
        <p:nvSpPr>
          <p:cNvPr id="402" name="Text 45"/>
          <p:cNvSpPr txBox="1"/>
          <p:nvPr/>
        </p:nvSpPr>
        <p:spPr>
          <a:xfrm>
            <a:off x="5434810" y="3799649"/>
            <a:ext cx="616459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Divide attribute values into disjoint ranges (buckets) based on frequency distribution</a:t>
            </a:r>
          </a:p>
        </p:txBody>
      </p:sp>
      <p:sp>
        <p:nvSpPr>
          <p:cNvPr id="403" name="Shape 46"/>
          <p:cNvSpPr/>
          <p:nvPr/>
        </p:nvSpPr>
        <p:spPr>
          <a:xfrm>
            <a:off x="5439097" y="4042564"/>
            <a:ext cx="1106026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28" y="0"/>
                </a:moveTo>
                <a:lnTo>
                  <a:pt x="19172" y="0"/>
                </a:lnTo>
                <a:cubicBezTo>
                  <a:pt x="20513" y="0"/>
                  <a:pt x="21600" y="4835"/>
                  <a:pt x="21600" y="10800"/>
                </a:cubicBezTo>
                <a:cubicBezTo>
                  <a:pt x="21600" y="16765"/>
                  <a:pt x="20513" y="21600"/>
                  <a:pt x="19172" y="21600"/>
                </a:cubicBezTo>
                <a:lnTo>
                  <a:pt x="2428" y="21600"/>
                </a:lnTo>
                <a:cubicBezTo>
                  <a:pt x="1088" y="21600"/>
                  <a:pt x="0" y="16761"/>
                  <a:pt x="0" y="10800"/>
                </a:cubicBezTo>
                <a:cubicBezTo>
                  <a:pt x="0" y="4839"/>
                  <a:pt x="1088" y="0"/>
                  <a:pt x="242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47"/>
          <p:cNvSpPr txBox="1"/>
          <p:nvPr/>
        </p:nvSpPr>
        <p:spPr>
          <a:xfrm>
            <a:off x="5503401" y="4062944"/>
            <a:ext cx="1020287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Equal-Frequency</a:t>
            </a:r>
          </a:p>
        </p:txBody>
      </p:sp>
      <p:sp>
        <p:nvSpPr>
          <p:cNvPr id="405" name="Shape 48"/>
          <p:cNvSpPr/>
          <p:nvPr/>
        </p:nvSpPr>
        <p:spPr>
          <a:xfrm>
            <a:off x="6620947" y="4042564"/>
            <a:ext cx="883106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41" y="0"/>
                </a:moveTo>
                <a:lnTo>
                  <a:pt x="18559" y="0"/>
                </a:lnTo>
                <a:cubicBezTo>
                  <a:pt x="20237" y="0"/>
                  <a:pt x="21600" y="4839"/>
                  <a:pt x="21600" y="10800"/>
                </a:cubicBezTo>
                <a:cubicBezTo>
                  <a:pt x="21600" y="16761"/>
                  <a:pt x="20237" y="21600"/>
                  <a:pt x="18559" y="21600"/>
                </a:cubicBezTo>
                <a:lnTo>
                  <a:pt x="3041" y="21600"/>
                </a:lnTo>
                <a:cubicBezTo>
                  <a:pt x="1363" y="21600"/>
                  <a:pt x="0" y="16761"/>
                  <a:pt x="0" y="10800"/>
                </a:cubicBezTo>
                <a:cubicBezTo>
                  <a:pt x="0" y="4839"/>
                  <a:pt x="1363" y="0"/>
                  <a:pt x="304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49"/>
          <p:cNvSpPr txBox="1"/>
          <p:nvPr/>
        </p:nvSpPr>
        <p:spPr>
          <a:xfrm>
            <a:off x="6685250" y="4062944"/>
            <a:ext cx="797367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Equal-Width</a:t>
            </a:r>
          </a:p>
        </p:txBody>
      </p:sp>
      <p:sp>
        <p:nvSpPr>
          <p:cNvPr id="407" name="Shape 50"/>
          <p:cNvSpPr/>
          <p:nvPr/>
        </p:nvSpPr>
        <p:spPr>
          <a:xfrm>
            <a:off x="7585034" y="4042564"/>
            <a:ext cx="737351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42" y="0"/>
                </a:moveTo>
                <a:lnTo>
                  <a:pt x="17958" y="0"/>
                </a:lnTo>
                <a:cubicBezTo>
                  <a:pt x="19968" y="0"/>
                  <a:pt x="21600" y="4839"/>
                  <a:pt x="21600" y="10800"/>
                </a:cubicBezTo>
                <a:cubicBezTo>
                  <a:pt x="21600" y="16761"/>
                  <a:pt x="19968" y="21600"/>
                  <a:pt x="17958" y="21600"/>
                </a:cubicBezTo>
                <a:lnTo>
                  <a:pt x="3642" y="21600"/>
                </a:lnTo>
                <a:cubicBezTo>
                  <a:pt x="1632" y="21600"/>
                  <a:pt x="0" y="16761"/>
                  <a:pt x="0" y="10800"/>
                </a:cubicBezTo>
                <a:cubicBezTo>
                  <a:pt x="0" y="4839"/>
                  <a:pt x="1632" y="0"/>
                  <a:pt x="364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8A9C9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51"/>
          <p:cNvSpPr txBox="1"/>
          <p:nvPr/>
        </p:nvSpPr>
        <p:spPr>
          <a:xfrm>
            <a:off x="7649339" y="4062944"/>
            <a:ext cx="651612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Clustering</a:t>
            </a:r>
          </a:p>
        </p:txBody>
      </p:sp>
      <p:sp>
        <p:nvSpPr>
          <p:cNvPr id="409" name="Shape 52"/>
          <p:cNvSpPr/>
          <p:nvPr/>
        </p:nvSpPr>
        <p:spPr>
          <a:xfrm>
            <a:off x="5297628" y="4569857"/>
            <a:ext cx="6370364" cy="11488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9" y="0"/>
                </a:moveTo>
                <a:lnTo>
                  <a:pt x="21251" y="0"/>
                </a:lnTo>
                <a:cubicBezTo>
                  <a:pt x="21444" y="0"/>
                  <a:pt x="21600" y="866"/>
                  <a:pt x="21600" y="1934"/>
                </a:cubicBezTo>
                <a:lnTo>
                  <a:pt x="21600" y="19666"/>
                </a:lnTo>
                <a:cubicBezTo>
                  <a:pt x="21600" y="20734"/>
                  <a:pt x="21444" y="21600"/>
                  <a:pt x="21251" y="21600"/>
                </a:cubicBezTo>
                <a:lnTo>
                  <a:pt x="349" y="21600"/>
                </a:lnTo>
                <a:cubicBezTo>
                  <a:pt x="156" y="21600"/>
                  <a:pt x="0" y="20734"/>
                  <a:pt x="0" y="19666"/>
                </a:cubicBezTo>
                <a:lnTo>
                  <a:pt x="0" y="1934"/>
                </a:lnTo>
                <a:cubicBezTo>
                  <a:pt x="0" y="866"/>
                  <a:pt x="156" y="0"/>
                  <a:pt x="349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Shape 53"/>
          <p:cNvSpPr/>
          <p:nvPr/>
        </p:nvSpPr>
        <p:spPr>
          <a:xfrm>
            <a:off x="5434810" y="4707037"/>
            <a:ext cx="274364" cy="274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1" name="Text 54"/>
          <p:cNvSpPr txBox="1"/>
          <p:nvPr/>
        </p:nvSpPr>
        <p:spPr>
          <a:xfrm>
            <a:off x="5535283" y="4777066"/>
            <a:ext cx="145756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8B4B8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2" name="Text 55"/>
          <p:cNvSpPr txBox="1"/>
          <p:nvPr/>
        </p:nvSpPr>
        <p:spPr>
          <a:xfrm>
            <a:off x="5812059" y="4752207"/>
            <a:ext cx="1131748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3D3D3D"/>
                </a:solidFill>
              </a:defRPr>
            </a:lvl1pPr>
          </a:lstStyle>
          <a:p>
            <a:pPr/>
            <a:r>
              <a:t>Cluster Analysis</a:t>
            </a:r>
          </a:p>
        </p:txBody>
      </p:sp>
      <p:sp>
        <p:nvSpPr>
          <p:cNvPr id="413" name="Text 56"/>
          <p:cNvSpPr txBox="1"/>
          <p:nvPr/>
        </p:nvSpPr>
        <p:spPr>
          <a:xfrm>
            <a:off x="5434810" y="5085725"/>
            <a:ext cx="616459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Group similar values together using clustering algorithms to form natural intervals</a:t>
            </a:r>
          </a:p>
        </p:txBody>
      </p:sp>
      <p:sp>
        <p:nvSpPr>
          <p:cNvPr id="414" name="Shape 57"/>
          <p:cNvSpPr/>
          <p:nvPr/>
        </p:nvSpPr>
        <p:spPr>
          <a:xfrm>
            <a:off x="5439097" y="5328641"/>
            <a:ext cx="685908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5" y="0"/>
                </a:moveTo>
                <a:lnTo>
                  <a:pt x="17685" y="0"/>
                </a:lnTo>
                <a:cubicBezTo>
                  <a:pt x="19846" y="0"/>
                  <a:pt x="21600" y="4839"/>
                  <a:pt x="21600" y="10800"/>
                </a:cubicBezTo>
                <a:cubicBezTo>
                  <a:pt x="21600" y="16761"/>
                  <a:pt x="19846" y="21600"/>
                  <a:pt x="17685" y="21600"/>
                </a:cubicBezTo>
                <a:lnTo>
                  <a:pt x="3915" y="21600"/>
                </a:lnTo>
                <a:cubicBezTo>
                  <a:pt x="1754" y="21600"/>
                  <a:pt x="0" y="16761"/>
                  <a:pt x="0" y="10800"/>
                </a:cubicBezTo>
                <a:cubicBezTo>
                  <a:pt x="0" y="4839"/>
                  <a:pt x="1754" y="0"/>
                  <a:pt x="391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58"/>
          <p:cNvSpPr txBox="1"/>
          <p:nvPr/>
        </p:nvSpPr>
        <p:spPr>
          <a:xfrm>
            <a:off x="5503401" y="5349020"/>
            <a:ext cx="600169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K-Means</a:t>
            </a:r>
          </a:p>
        </p:txBody>
      </p:sp>
      <p:sp>
        <p:nvSpPr>
          <p:cNvPr id="416" name="Shape 59"/>
          <p:cNvSpPr/>
          <p:nvPr/>
        </p:nvSpPr>
        <p:spPr>
          <a:xfrm>
            <a:off x="6202100" y="5328641"/>
            <a:ext cx="831663" cy="248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29" y="0"/>
                </a:moveTo>
                <a:lnTo>
                  <a:pt x="18371" y="0"/>
                </a:lnTo>
                <a:cubicBezTo>
                  <a:pt x="20153" y="0"/>
                  <a:pt x="21600" y="4839"/>
                  <a:pt x="21600" y="10800"/>
                </a:cubicBezTo>
                <a:cubicBezTo>
                  <a:pt x="21600" y="16761"/>
                  <a:pt x="20153" y="21600"/>
                  <a:pt x="18371" y="21600"/>
                </a:cubicBezTo>
                <a:lnTo>
                  <a:pt x="3229" y="21600"/>
                </a:lnTo>
                <a:cubicBezTo>
                  <a:pt x="1447" y="21600"/>
                  <a:pt x="0" y="16761"/>
                  <a:pt x="0" y="10800"/>
                </a:cubicBezTo>
                <a:cubicBezTo>
                  <a:pt x="0" y="4839"/>
                  <a:pt x="1447" y="0"/>
                  <a:pt x="322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8B4B8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Text 60"/>
          <p:cNvSpPr txBox="1"/>
          <p:nvPr/>
        </p:nvSpPr>
        <p:spPr>
          <a:xfrm>
            <a:off x="6266405" y="5349020"/>
            <a:ext cx="745924" cy="19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94" tIns="34294" rIns="34294" bIns="34294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Hierarchical</a:t>
            </a:r>
          </a:p>
        </p:txBody>
      </p:sp>
      <p:sp>
        <p:nvSpPr>
          <p:cNvPr id="418" name="Shape 61"/>
          <p:cNvSpPr/>
          <p:nvPr/>
        </p:nvSpPr>
        <p:spPr>
          <a:xfrm>
            <a:off x="5297628" y="5855932"/>
            <a:ext cx="6370364" cy="823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9" y="0"/>
                </a:moveTo>
                <a:lnTo>
                  <a:pt x="21251" y="0"/>
                </a:lnTo>
                <a:cubicBezTo>
                  <a:pt x="21444" y="0"/>
                  <a:pt x="21600" y="1209"/>
                  <a:pt x="21600" y="2700"/>
                </a:cubicBezTo>
                <a:lnTo>
                  <a:pt x="21600" y="18900"/>
                </a:lnTo>
                <a:cubicBezTo>
                  <a:pt x="21600" y="20391"/>
                  <a:pt x="21444" y="21600"/>
                  <a:pt x="21251" y="21600"/>
                </a:cubicBezTo>
                <a:lnTo>
                  <a:pt x="349" y="21600"/>
                </a:lnTo>
                <a:cubicBezTo>
                  <a:pt x="156" y="21600"/>
                  <a:pt x="0" y="20390"/>
                  <a:pt x="0" y="18900"/>
                </a:cubicBezTo>
                <a:lnTo>
                  <a:pt x="0" y="2700"/>
                </a:lnTo>
                <a:cubicBezTo>
                  <a:pt x="0" y="1210"/>
                  <a:pt x="156" y="0"/>
                  <a:pt x="349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Shape 62"/>
          <p:cNvSpPr/>
          <p:nvPr/>
        </p:nvSpPr>
        <p:spPr>
          <a:xfrm>
            <a:off x="5434810" y="5993114"/>
            <a:ext cx="274364" cy="274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0" y="0"/>
                  <a:pt x="21600" y="2420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20" y="21600"/>
                  <a:pt x="0" y="19180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63"/>
          <p:cNvSpPr txBox="1"/>
          <p:nvPr/>
        </p:nvSpPr>
        <p:spPr>
          <a:xfrm>
            <a:off x="5537093" y="6063142"/>
            <a:ext cx="13718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7B9E89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1" name="Text 64"/>
          <p:cNvSpPr txBox="1"/>
          <p:nvPr/>
        </p:nvSpPr>
        <p:spPr>
          <a:xfrm>
            <a:off x="5812059" y="6038282"/>
            <a:ext cx="1569014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3D3D3D"/>
                </a:solidFill>
              </a:defRPr>
            </a:lvl1pPr>
          </a:lstStyle>
          <a:p>
            <a:pPr/>
            <a:r>
              <a:t>Decision Tree Analysis</a:t>
            </a:r>
          </a:p>
        </p:txBody>
      </p:sp>
      <p:sp>
        <p:nvSpPr>
          <p:cNvPr id="422" name="Text 65"/>
          <p:cNvSpPr txBox="1"/>
          <p:nvPr/>
        </p:nvSpPr>
        <p:spPr>
          <a:xfrm>
            <a:off x="5434810" y="6371801"/>
            <a:ext cx="616459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Use class label information to find optimal split points that maximize information gain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339610" y="390552"/>
            <a:ext cx="407533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2" y="0"/>
                  <a:pt x="21600" y="2418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18" y="21600"/>
                  <a:pt x="0" y="19182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Shape 1"/>
          <p:cNvSpPr/>
          <p:nvPr/>
        </p:nvSpPr>
        <p:spPr>
          <a:xfrm>
            <a:off x="458656" y="509398"/>
            <a:ext cx="169773" cy="169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3" h="21404" fill="norm" stroke="1" extrusionOk="0">
                <a:moveTo>
                  <a:pt x="18353" y="295"/>
                </a:moveTo>
                <a:cubicBezTo>
                  <a:pt x="18747" y="-98"/>
                  <a:pt x="19382" y="-98"/>
                  <a:pt x="19771" y="295"/>
                </a:cubicBezTo>
                <a:lnTo>
                  <a:pt x="21109" y="1632"/>
                </a:lnTo>
                <a:cubicBezTo>
                  <a:pt x="21502" y="2025"/>
                  <a:pt x="21502" y="2661"/>
                  <a:pt x="21109" y="3049"/>
                </a:cubicBezTo>
                <a:lnTo>
                  <a:pt x="17471" y="6685"/>
                </a:lnTo>
                <a:lnTo>
                  <a:pt x="19102" y="8315"/>
                </a:lnTo>
                <a:cubicBezTo>
                  <a:pt x="19390" y="8604"/>
                  <a:pt x="19474" y="9034"/>
                  <a:pt x="19319" y="9411"/>
                </a:cubicBezTo>
                <a:cubicBezTo>
                  <a:pt x="19165" y="9787"/>
                  <a:pt x="18801" y="10033"/>
                  <a:pt x="18395" y="10033"/>
                </a:cubicBezTo>
                <a:lnTo>
                  <a:pt x="12374" y="10033"/>
                </a:lnTo>
                <a:cubicBezTo>
                  <a:pt x="11818" y="10033"/>
                  <a:pt x="11371" y="9586"/>
                  <a:pt x="11371" y="9030"/>
                </a:cubicBezTo>
                <a:lnTo>
                  <a:pt x="11371" y="3012"/>
                </a:lnTo>
                <a:cubicBezTo>
                  <a:pt x="11371" y="2606"/>
                  <a:pt x="11613" y="2238"/>
                  <a:pt x="11990" y="2084"/>
                </a:cubicBezTo>
                <a:cubicBezTo>
                  <a:pt x="12366" y="1929"/>
                  <a:pt x="12797" y="2013"/>
                  <a:pt x="13085" y="2301"/>
                </a:cubicBezTo>
                <a:lnTo>
                  <a:pt x="14716" y="3931"/>
                </a:lnTo>
                <a:lnTo>
                  <a:pt x="18353" y="295"/>
                </a:lnTo>
                <a:close/>
                <a:moveTo>
                  <a:pt x="3009" y="11371"/>
                </a:moveTo>
                <a:lnTo>
                  <a:pt x="9029" y="11371"/>
                </a:lnTo>
                <a:cubicBezTo>
                  <a:pt x="9586" y="11371"/>
                  <a:pt x="10033" y="11818"/>
                  <a:pt x="10033" y="12374"/>
                </a:cubicBezTo>
                <a:lnTo>
                  <a:pt x="10033" y="18392"/>
                </a:lnTo>
                <a:cubicBezTo>
                  <a:pt x="10033" y="18798"/>
                  <a:pt x="9790" y="19166"/>
                  <a:pt x="9414" y="19320"/>
                </a:cubicBezTo>
                <a:cubicBezTo>
                  <a:pt x="9038" y="19475"/>
                  <a:pt x="8607" y="19391"/>
                  <a:pt x="8319" y="19103"/>
                </a:cubicBezTo>
                <a:lnTo>
                  <a:pt x="6688" y="17473"/>
                </a:lnTo>
                <a:lnTo>
                  <a:pt x="3050" y="21109"/>
                </a:lnTo>
                <a:cubicBezTo>
                  <a:pt x="2657" y="21502"/>
                  <a:pt x="2022" y="21502"/>
                  <a:pt x="1633" y="21109"/>
                </a:cubicBezTo>
                <a:lnTo>
                  <a:pt x="295" y="19772"/>
                </a:lnTo>
                <a:cubicBezTo>
                  <a:pt x="-98" y="19379"/>
                  <a:pt x="-98" y="18743"/>
                  <a:pt x="295" y="18355"/>
                </a:cubicBezTo>
                <a:lnTo>
                  <a:pt x="3933" y="14719"/>
                </a:lnTo>
                <a:lnTo>
                  <a:pt x="2302" y="13089"/>
                </a:lnTo>
                <a:cubicBezTo>
                  <a:pt x="2013" y="12800"/>
                  <a:pt x="1930" y="12370"/>
                  <a:pt x="2085" y="11994"/>
                </a:cubicBezTo>
                <a:cubicBezTo>
                  <a:pt x="2239" y="11617"/>
                  <a:pt x="2603" y="11371"/>
                  <a:pt x="3009" y="1137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2"/>
          <p:cNvSpPr txBox="1"/>
          <p:nvPr/>
        </p:nvSpPr>
        <p:spPr>
          <a:xfrm>
            <a:off x="849025" y="361012"/>
            <a:ext cx="3676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pc="47" sz="900">
                <a:solidFill>
                  <a:srgbClr val="7B9E89"/>
                </a:solidFill>
              </a:defRPr>
            </a:lvl1pPr>
          </a:lstStyle>
          <a:p>
            <a:pPr/>
            <a:r>
              <a:t>Data Optimization</a:t>
            </a:r>
          </a:p>
        </p:txBody>
      </p:sp>
      <p:sp>
        <p:nvSpPr>
          <p:cNvPr id="427" name="Text 3"/>
          <p:cNvSpPr txBox="1"/>
          <p:nvPr/>
        </p:nvSpPr>
        <p:spPr>
          <a:xfrm>
            <a:off x="849025" y="514244"/>
            <a:ext cx="3769672" cy="32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400">
                <a:solidFill>
                  <a:srgbClr val="3D3D3D"/>
                </a:solidFill>
              </a:defRPr>
            </a:lvl1pPr>
          </a:lstStyle>
          <a:p>
            <a:pPr/>
            <a:r>
              <a:t>Data Reduction Techniques</a:t>
            </a:r>
          </a:p>
        </p:txBody>
      </p:sp>
      <p:sp>
        <p:nvSpPr>
          <p:cNvPr id="428" name="Text 4"/>
          <p:cNvSpPr txBox="1"/>
          <p:nvPr/>
        </p:nvSpPr>
        <p:spPr>
          <a:xfrm>
            <a:off x="849024" y="977758"/>
            <a:ext cx="11079779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Obtaining reduced data representations while minimizing information loss</a:t>
            </a:r>
          </a:p>
        </p:txBody>
      </p:sp>
      <p:sp>
        <p:nvSpPr>
          <p:cNvPr id="429" name="Shape 5"/>
          <p:cNvSpPr/>
          <p:nvPr/>
        </p:nvSpPr>
        <p:spPr>
          <a:xfrm>
            <a:off x="356590" y="1324479"/>
            <a:ext cx="5671489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9" y="0"/>
                </a:moveTo>
                <a:lnTo>
                  <a:pt x="21212" y="0"/>
                </a:lnTo>
                <a:cubicBezTo>
                  <a:pt x="21426" y="0"/>
                  <a:pt x="21600" y="382"/>
                  <a:pt x="21600" y="853"/>
                </a:cubicBezTo>
                <a:lnTo>
                  <a:pt x="21600" y="20747"/>
                </a:lnTo>
                <a:cubicBezTo>
                  <a:pt x="21600" y="21218"/>
                  <a:pt x="21426" y="21600"/>
                  <a:pt x="21212" y="21600"/>
                </a:cubicBezTo>
                <a:lnTo>
                  <a:pt x="129" y="21600"/>
                </a:lnTo>
                <a:cubicBezTo>
                  <a:pt x="58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58" y="0"/>
                  <a:pt x="12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8490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" name="Shape 6"/>
          <p:cNvSpPr/>
          <p:nvPr/>
        </p:nvSpPr>
        <p:spPr>
          <a:xfrm>
            <a:off x="356591" y="1324479"/>
            <a:ext cx="33961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9671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Shape 7"/>
          <p:cNvSpPr/>
          <p:nvPr/>
        </p:nvSpPr>
        <p:spPr>
          <a:xfrm>
            <a:off x="509414" y="1460322"/>
            <a:ext cx="407533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2" y="0"/>
                  <a:pt x="21600" y="2418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18" y="21600"/>
                  <a:pt x="0" y="19182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Shape 8"/>
          <p:cNvSpPr/>
          <p:nvPr/>
        </p:nvSpPr>
        <p:spPr>
          <a:xfrm>
            <a:off x="628261" y="1600413"/>
            <a:ext cx="169816" cy="148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8" h="21479" fill="norm" stroke="1" extrusionOk="0">
                <a:moveTo>
                  <a:pt x="1339" y="0"/>
                </a:moveTo>
                <a:cubicBezTo>
                  <a:pt x="800" y="0"/>
                  <a:pt x="312" y="374"/>
                  <a:pt x="103" y="949"/>
                </a:cubicBezTo>
                <a:cubicBezTo>
                  <a:pt x="-106" y="1525"/>
                  <a:pt x="11" y="2182"/>
                  <a:pt x="395" y="2618"/>
                </a:cubicBezTo>
                <a:lnTo>
                  <a:pt x="8023" y="11378"/>
                </a:lnTo>
                <a:lnTo>
                  <a:pt x="8023" y="16877"/>
                </a:lnTo>
                <a:cubicBezTo>
                  <a:pt x="8023" y="17285"/>
                  <a:pt x="8165" y="17673"/>
                  <a:pt x="8415" y="17961"/>
                </a:cubicBezTo>
                <a:lnTo>
                  <a:pt x="11089" y="21030"/>
                </a:lnTo>
                <a:cubicBezTo>
                  <a:pt x="11473" y="21471"/>
                  <a:pt x="12045" y="21600"/>
                  <a:pt x="12547" y="21360"/>
                </a:cubicBezTo>
                <a:cubicBezTo>
                  <a:pt x="13048" y="21121"/>
                  <a:pt x="13369" y="20564"/>
                  <a:pt x="13369" y="19946"/>
                </a:cubicBezTo>
                <a:lnTo>
                  <a:pt x="13369" y="11378"/>
                </a:lnTo>
                <a:lnTo>
                  <a:pt x="20997" y="2623"/>
                </a:lnTo>
                <a:cubicBezTo>
                  <a:pt x="21381" y="2182"/>
                  <a:pt x="21494" y="1525"/>
                  <a:pt x="21285" y="949"/>
                </a:cubicBezTo>
                <a:cubicBezTo>
                  <a:pt x="21076" y="374"/>
                  <a:pt x="20592" y="0"/>
                  <a:pt x="20053" y="0"/>
                </a:cubicBezTo>
                <a:lnTo>
                  <a:pt x="1339" y="0"/>
                </a:ln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9"/>
          <p:cNvSpPr txBox="1"/>
          <p:nvPr/>
        </p:nvSpPr>
        <p:spPr>
          <a:xfrm>
            <a:off x="1052790" y="1481093"/>
            <a:ext cx="4924347" cy="196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Attribute Subset Selection</a:t>
            </a:r>
          </a:p>
        </p:txBody>
      </p:sp>
      <p:sp>
        <p:nvSpPr>
          <p:cNvPr id="434" name="Text 10"/>
          <p:cNvSpPr txBox="1"/>
          <p:nvPr/>
        </p:nvSpPr>
        <p:spPr>
          <a:xfrm>
            <a:off x="1052790" y="1766741"/>
            <a:ext cx="4907367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Remove irrelevant or redundant attributes to reduce dimensionality</a:t>
            </a:r>
          </a:p>
        </p:txBody>
      </p:sp>
      <p:sp>
        <p:nvSpPr>
          <p:cNvPr id="435" name="Shape 11"/>
          <p:cNvSpPr/>
          <p:nvPr/>
        </p:nvSpPr>
        <p:spPr>
          <a:xfrm>
            <a:off x="509414" y="2037659"/>
            <a:ext cx="5382821" cy="1018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3" y="0"/>
                </a:moveTo>
                <a:lnTo>
                  <a:pt x="21327" y="0"/>
                </a:lnTo>
                <a:cubicBezTo>
                  <a:pt x="21478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8" y="21600"/>
                  <a:pt x="21327" y="21600"/>
                </a:cubicBezTo>
                <a:lnTo>
                  <a:pt x="273" y="21600"/>
                </a:lnTo>
                <a:cubicBezTo>
                  <a:pt x="122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122" y="0"/>
                  <a:pt x="27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6" name="Text 12"/>
          <p:cNvSpPr txBox="1"/>
          <p:nvPr/>
        </p:nvSpPr>
        <p:spPr>
          <a:xfrm>
            <a:off x="611298" y="2160945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7B9E89"/>
                </a:solidFill>
              </a:defRPr>
            </a:lvl1pPr>
          </a:lstStyle>
          <a:p>
            <a:pPr/>
            <a:r>
              <a:t>Selection Methods</a:t>
            </a:r>
          </a:p>
        </p:txBody>
      </p:sp>
      <p:sp>
        <p:nvSpPr>
          <p:cNvPr id="437" name="Text 13"/>
          <p:cNvSpPr txBox="1"/>
          <p:nvPr/>
        </p:nvSpPr>
        <p:spPr>
          <a:xfrm>
            <a:off x="611298" y="2398672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Forward Selection:</a:t>
            </a:r>
            <a:r>
              <a:t> Start empty, add best attributes iteratively</a:t>
            </a:r>
          </a:p>
        </p:txBody>
      </p:sp>
      <p:sp>
        <p:nvSpPr>
          <p:cNvPr id="438" name="Text 14"/>
          <p:cNvSpPr txBox="1"/>
          <p:nvPr/>
        </p:nvSpPr>
        <p:spPr>
          <a:xfrm>
            <a:off x="611298" y="2602438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Backward Elimination:</a:t>
            </a:r>
            <a:r>
              <a:t> Start with all, remove worst iteratively</a:t>
            </a:r>
          </a:p>
        </p:txBody>
      </p:sp>
      <p:sp>
        <p:nvSpPr>
          <p:cNvPr id="439" name="Text 15"/>
          <p:cNvSpPr txBox="1"/>
          <p:nvPr/>
        </p:nvSpPr>
        <p:spPr>
          <a:xfrm>
            <a:off x="611298" y="2806204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Decision Tree:</a:t>
            </a:r>
            <a:r>
              <a:t> Use tree induction to identify relevant attributes</a:t>
            </a:r>
          </a:p>
        </p:txBody>
      </p:sp>
      <p:sp>
        <p:nvSpPr>
          <p:cNvPr id="440" name="Shape 16"/>
          <p:cNvSpPr/>
          <p:nvPr/>
        </p:nvSpPr>
        <p:spPr>
          <a:xfrm>
            <a:off x="509414" y="3124412"/>
            <a:ext cx="1256559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84" y="0"/>
                </a:moveTo>
                <a:lnTo>
                  <a:pt x="21016" y="0"/>
                </a:lnTo>
                <a:cubicBezTo>
                  <a:pt x="21339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339" y="21600"/>
                  <a:pt x="21016" y="21600"/>
                </a:cubicBezTo>
                <a:lnTo>
                  <a:pt x="584" y="21600"/>
                </a:lnTo>
                <a:cubicBezTo>
                  <a:pt x="261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262" y="0"/>
                  <a:pt x="584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17"/>
          <p:cNvSpPr txBox="1"/>
          <p:nvPr/>
        </p:nvSpPr>
        <p:spPr>
          <a:xfrm>
            <a:off x="543375" y="3137341"/>
            <a:ext cx="1239578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7B9E89"/>
                </a:solidFill>
              </a:defRPr>
            </a:lvl1pPr>
          </a:lstStyle>
          <a:p>
            <a:pPr/>
            <a:r>
              <a:t>Dimensionality Reduction</a:t>
            </a:r>
          </a:p>
        </p:txBody>
      </p:sp>
      <p:sp>
        <p:nvSpPr>
          <p:cNvPr id="442" name="Shape 18"/>
          <p:cNvSpPr/>
          <p:nvPr/>
        </p:nvSpPr>
        <p:spPr>
          <a:xfrm>
            <a:off x="1837874" y="3124412"/>
            <a:ext cx="891477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3" y="0"/>
                </a:moveTo>
                <a:lnTo>
                  <a:pt x="20777" y="0"/>
                </a:lnTo>
                <a:cubicBezTo>
                  <a:pt x="21232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32" y="21600"/>
                  <a:pt x="20777" y="21600"/>
                </a:cubicBezTo>
                <a:lnTo>
                  <a:pt x="823" y="21600"/>
                </a:lnTo>
                <a:cubicBezTo>
                  <a:pt x="368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369" y="0"/>
                  <a:pt x="823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Text 19"/>
          <p:cNvSpPr txBox="1"/>
          <p:nvPr/>
        </p:nvSpPr>
        <p:spPr>
          <a:xfrm>
            <a:off x="1871834" y="3137341"/>
            <a:ext cx="874496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7B9E89"/>
                </a:solidFill>
              </a:defRPr>
            </a:lvl1pPr>
          </a:lstStyle>
          <a:p>
            <a:pPr/>
            <a:r>
              <a:t>Feature Selection</a:t>
            </a:r>
          </a:p>
        </p:txBody>
      </p:sp>
      <p:sp>
        <p:nvSpPr>
          <p:cNvPr id="444" name="Shape 20"/>
          <p:cNvSpPr/>
          <p:nvPr/>
        </p:nvSpPr>
        <p:spPr>
          <a:xfrm>
            <a:off x="6182759" y="1324479"/>
            <a:ext cx="5671488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9" y="0"/>
                </a:moveTo>
                <a:lnTo>
                  <a:pt x="21212" y="0"/>
                </a:lnTo>
                <a:cubicBezTo>
                  <a:pt x="21426" y="0"/>
                  <a:pt x="21600" y="382"/>
                  <a:pt x="21600" y="853"/>
                </a:cubicBezTo>
                <a:lnTo>
                  <a:pt x="21600" y="20747"/>
                </a:lnTo>
                <a:cubicBezTo>
                  <a:pt x="21600" y="21218"/>
                  <a:pt x="21426" y="21600"/>
                  <a:pt x="21212" y="21600"/>
                </a:cubicBezTo>
                <a:lnTo>
                  <a:pt x="129" y="21600"/>
                </a:lnTo>
                <a:cubicBezTo>
                  <a:pt x="58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58" y="0"/>
                  <a:pt x="12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8490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" name="Shape 21"/>
          <p:cNvSpPr/>
          <p:nvPr/>
        </p:nvSpPr>
        <p:spPr>
          <a:xfrm>
            <a:off x="6182759" y="1324479"/>
            <a:ext cx="33962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9671" y="0"/>
                  <a:pt x="2160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6" name="Shape 22"/>
          <p:cNvSpPr/>
          <p:nvPr/>
        </p:nvSpPr>
        <p:spPr>
          <a:xfrm>
            <a:off x="6335583" y="1460322"/>
            <a:ext cx="407533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2" y="0"/>
                  <a:pt x="21600" y="2418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18" y="21600"/>
                  <a:pt x="0" y="19182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Shape 23"/>
          <p:cNvSpPr/>
          <p:nvPr/>
        </p:nvSpPr>
        <p:spPr>
          <a:xfrm>
            <a:off x="6454447" y="1589800"/>
            <a:ext cx="169806" cy="148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0"/>
                </a:moveTo>
                <a:cubicBezTo>
                  <a:pt x="2097" y="0"/>
                  <a:pt x="2700" y="689"/>
                  <a:pt x="2700" y="1543"/>
                </a:cubicBezTo>
                <a:lnTo>
                  <a:pt x="2700" y="17743"/>
                </a:lnTo>
                <a:cubicBezTo>
                  <a:pt x="2700" y="18167"/>
                  <a:pt x="3004" y="18514"/>
                  <a:pt x="3375" y="18514"/>
                </a:cubicBezTo>
                <a:lnTo>
                  <a:pt x="20250" y="18514"/>
                </a:lnTo>
                <a:cubicBezTo>
                  <a:pt x="20997" y="18514"/>
                  <a:pt x="21600" y="19204"/>
                  <a:pt x="21600" y="20057"/>
                </a:cubicBezTo>
                <a:cubicBezTo>
                  <a:pt x="21600" y="20911"/>
                  <a:pt x="20997" y="21600"/>
                  <a:pt x="20250" y="21600"/>
                </a:cubicBezTo>
                <a:lnTo>
                  <a:pt x="3375" y="21600"/>
                </a:lnTo>
                <a:cubicBezTo>
                  <a:pt x="1510" y="21600"/>
                  <a:pt x="0" y="19874"/>
                  <a:pt x="0" y="17743"/>
                </a:cubicBezTo>
                <a:lnTo>
                  <a:pt x="0" y="1543"/>
                </a:lnTo>
                <a:cubicBezTo>
                  <a:pt x="0" y="689"/>
                  <a:pt x="603" y="0"/>
                  <a:pt x="1350" y="0"/>
                </a:cubicBezTo>
                <a:close/>
                <a:moveTo>
                  <a:pt x="5400" y="3086"/>
                </a:moveTo>
                <a:cubicBezTo>
                  <a:pt x="5400" y="2232"/>
                  <a:pt x="6003" y="1543"/>
                  <a:pt x="6750" y="1543"/>
                </a:cubicBezTo>
                <a:lnTo>
                  <a:pt x="14850" y="1543"/>
                </a:lnTo>
                <a:cubicBezTo>
                  <a:pt x="15597" y="1543"/>
                  <a:pt x="16200" y="2232"/>
                  <a:pt x="16200" y="3086"/>
                </a:cubicBezTo>
                <a:cubicBezTo>
                  <a:pt x="16200" y="3939"/>
                  <a:pt x="15597" y="4629"/>
                  <a:pt x="14850" y="4629"/>
                </a:cubicBezTo>
                <a:lnTo>
                  <a:pt x="6750" y="4629"/>
                </a:lnTo>
                <a:cubicBezTo>
                  <a:pt x="6003" y="4629"/>
                  <a:pt x="5400" y="3939"/>
                  <a:pt x="5400" y="3086"/>
                </a:cubicBezTo>
                <a:close/>
                <a:moveTo>
                  <a:pt x="6750" y="6943"/>
                </a:moveTo>
                <a:lnTo>
                  <a:pt x="12150" y="6943"/>
                </a:lnTo>
                <a:cubicBezTo>
                  <a:pt x="12897" y="6943"/>
                  <a:pt x="13500" y="7632"/>
                  <a:pt x="13500" y="8486"/>
                </a:cubicBezTo>
                <a:cubicBezTo>
                  <a:pt x="13500" y="9339"/>
                  <a:pt x="12897" y="10029"/>
                  <a:pt x="12150" y="10029"/>
                </a:cubicBezTo>
                <a:lnTo>
                  <a:pt x="6750" y="10029"/>
                </a:lnTo>
                <a:cubicBezTo>
                  <a:pt x="6003" y="10029"/>
                  <a:pt x="5400" y="9339"/>
                  <a:pt x="5400" y="8486"/>
                </a:cubicBezTo>
                <a:cubicBezTo>
                  <a:pt x="5400" y="7632"/>
                  <a:pt x="6003" y="6943"/>
                  <a:pt x="6750" y="6943"/>
                </a:cubicBezTo>
                <a:close/>
                <a:moveTo>
                  <a:pt x="6750" y="12343"/>
                </a:moveTo>
                <a:lnTo>
                  <a:pt x="17550" y="12343"/>
                </a:lnTo>
                <a:cubicBezTo>
                  <a:pt x="18297" y="12343"/>
                  <a:pt x="18900" y="13032"/>
                  <a:pt x="18900" y="13886"/>
                </a:cubicBezTo>
                <a:cubicBezTo>
                  <a:pt x="18900" y="14739"/>
                  <a:pt x="18297" y="15429"/>
                  <a:pt x="17550" y="15429"/>
                </a:cubicBezTo>
                <a:lnTo>
                  <a:pt x="6750" y="15429"/>
                </a:lnTo>
                <a:cubicBezTo>
                  <a:pt x="6003" y="15429"/>
                  <a:pt x="5400" y="14739"/>
                  <a:pt x="5400" y="13886"/>
                </a:cubicBezTo>
                <a:cubicBezTo>
                  <a:pt x="5400" y="13032"/>
                  <a:pt x="6003" y="12343"/>
                  <a:pt x="6750" y="12343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 24"/>
          <p:cNvSpPr txBox="1"/>
          <p:nvPr/>
        </p:nvSpPr>
        <p:spPr>
          <a:xfrm>
            <a:off x="6878959" y="1481093"/>
            <a:ext cx="4924347" cy="196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Histograms</a:t>
            </a:r>
          </a:p>
        </p:txBody>
      </p:sp>
      <p:sp>
        <p:nvSpPr>
          <p:cNvPr id="449" name="Text 25"/>
          <p:cNvSpPr txBox="1"/>
          <p:nvPr/>
        </p:nvSpPr>
        <p:spPr>
          <a:xfrm>
            <a:off x="6878959" y="1766741"/>
            <a:ext cx="4907367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Divide data into buckets and store average/sum for each bucket</a:t>
            </a:r>
          </a:p>
        </p:txBody>
      </p:sp>
      <p:sp>
        <p:nvSpPr>
          <p:cNvPr id="450" name="Shape 26"/>
          <p:cNvSpPr/>
          <p:nvPr/>
        </p:nvSpPr>
        <p:spPr>
          <a:xfrm>
            <a:off x="6335583" y="2037659"/>
            <a:ext cx="5382820" cy="1018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3" y="0"/>
                </a:moveTo>
                <a:lnTo>
                  <a:pt x="21327" y="0"/>
                </a:lnTo>
                <a:cubicBezTo>
                  <a:pt x="21478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8" y="21600"/>
                  <a:pt x="21327" y="21600"/>
                </a:cubicBezTo>
                <a:lnTo>
                  <a:pt x="273" y="21600"/>
                </a:lnTo>
                <a:cubicBezTo>
                  <a:pt x="122" y="21600"/>
                  <a:pt x="0" y="20955"/>
                  <a:pt x="0" y="20160"/>
                </a:cubicBezTo>
                <a:lnTo>
                  <a:pt x="0" y="1440"/>
                </a:lnTo>
                <a:cubicBezTo>
                  <a:pt x="0" y="645"/>
                  <a:pt x="122" y="0"/>
                  <a:pt x="27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 27"/>
          <p:cNvSpPr txBox="1"/>
          <p:nvPr/>
        </p:nvSpPr>
        <p:spPr>
          <a:xfrm>
            <a:off x="6437467" y="2160945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B8A9C9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452" name="Text 28"/>
          <p:cNvSpPr txBox="1"/>
          <p:nvPr/>
        </p:nvSpPr>
        <p:spPr>
          <a:xfrm>
            <a:off x="6437467" y="2398672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Partition data range into intervals (buckets)</a:t>
            </a:r>
          </a:p>
        </p:txBody>
      </p:sp>
      <p:sp>
        <p:nvSpPr>
          <p:cNvPr id="453" name="Text 29"/>
          <p:cNvSpPr txBox="1"/>
          <p:nvPr/>
        </p:nvSpPr>
        <p:spPr>
          <a:xfrm>
            <a:off x="6437467" y="2602438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Store frequency count or average value per bucket</a:t>
            </a:r>
          </a:p>
        </p:txBody>
      </p:sp>
      <p:sp>
        <p:nvSpPr>
          <p:cNvPr id="454" name="Text 30"/>
          <p:cNvSpPr txBox="1"/>
          <p:nvPr/>
        </p:nvSpPr>
        <p:spPr>
          <a:xfrm>
            <a:off x="6437467" y="2806204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Optimal construction in one dimension using dynamic programming</a:t>
            </a:r>
          </a:p>
        </p:txBody>
      </p:sp>
      <p:sp>
        <p:nvSpPr>
          <p:cNvPr id="455" name="Shape 31"/>
          <p:cNvSpPr/>
          <p:nvPr/>
        </p:nvSpPr>
        <p:spPr>
          <a:xfrm>
            <a:off x="6335583" y="3124412"/>
            <a:ext cx="1120714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5" y="0"/>
                </a:moveTo>
                <a:lnTo>
                  <a:pt x="20945" y="0"/>
                </a:lnTo>
                <a:cubicBezTo>
                  <a:pt x="21307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307" y="21600"/>
                  <a:pt x="20945" y="21600"/>
                </a:cubicBezTo>
                <a:lnTo>
                  <a:pt x="655" y="21600"/>
                </a:lnTo>
                <a:cubicBezTo>
                  <a:pt x="293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293" y="0"/>
                  <a:pt x="655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Text 32"/>
          <p:cNvSpPr txBox="1"/>
          <p:nvPr/>
        </p:nvSpPr>
        <p:spPr>
          <a:xfrm>
            <a:off x="6369544" y="3137341"/>
            <a:ext cx="1103734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B8A9C9"/>
                </a:solidFill>
              </a:defRPr>
            </a:lvl1pPr>
          </a:lstStyle>
          <a:p>
            <a:pPr/>
            <a:r>
              <a:t>Numerosity Reduction</a:t>
            </a:r>
          </a:p>
        </p:txBody>
      </p:sp>
      <p:sp>
        <p:nvSpPr>
          <p:cNvPr id="457" name="Shape 33"/>
          <p:cNvSpPr/>
          <p:nvPr/>
        </p:nvSpPr>
        <p:spPr>
          <a:xfrm>
            <a:off x="7523754" y="3124412"/>
            <a:ext cx="849026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64" y="0"/>
                </a:moveTo>
                <a:lnTo>
                  <a:pt x="20736" y="0"/>
                </a:lnTo>
                <a:cubicBezTo>
                  <a:pt x="21213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13" y="21600"/>
                  <a:pt x="20736" y="21600"/>
                </a:cubicBezTo>
                <a:lnTo>
                  <a:pt x="864" y="21600"/>
                </a:lnTo>
                <a:cubicBezTo>
                  <a:pt x="387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387" y="0"/>
                  <a:pt x="864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Text 34"/>
          <p:cNvSpPr txBox="1"/>
          <p:nvPr/>
        </p:nvSpPr>
        <p:spPr>
          <a:xfrm>
            <a:off x="7557715" y="3137341"/>
            <a:ext cx="832045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B8A9C9"/>
                </a:solidFill>
              </a:defRPr>
            </a:lvl1pPr>
          </a:lstStyle>
          <a:p>
            <a:pPr/>
            <a:r>
              <a:t>Non-parametric</a:t>
            </a:r>
          </a:p>
        </p:txBody>
      </p:sp>
      <p:sp>
        <p:nvSpPr>
          <p:cNvPr id="459" name="Shape 35"/>
          <p:cNvSpPr/>
          <p:nvPr/>
        </p:nvSpPr>
        <p:spPr>
          <a:xfrm>
            <a:off x="356590" y="4040563"/>
            <a:ext cx="5671489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9" y="0"/>
                </a:moveTo>
                <a:lnTo>
                  <a:pt x="21212" y="0"/>
                </a:lnTo>
                <a:cubicBezTo>
                  <a:pt x="21426" y="0"/>
                  <a:pt x="21600" y="382"/>
                  <a:pt x="21600" y="853"/>
                </a:cubicBezTo>
                <a:lnTo>
                  <a:pt x="21600" y="20747"/>
                </a:lnTo>
                <a:cubicBezTo>
                  <a:pt x="21600" y="21218"/>
                  <a:pt x="21426" y="21600"/>
                  <a:pt x="21212" y="21600"/>
                </a:cubicBezTo>
                <a:lnTo>
                  <a:pt x="129" y="21600"/>
                </a:lnTo>
                <a:cubicBezTo>
                  <a:pt x="58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58" y="0"/>
                  <a:pt x="12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8490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" name="Shape 36"/>
          <p:cNvSpPr/>
          <p:nvPr/>
        </p:nvSpPr>
        <p:spPr>
          <a:xfrm>
            <a:off x="356591" y="4040563"/>
            <a:ext cx="33961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9671" y="0"/>
                  <a:pt x="2160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Shape 37"/>
          <p:cNvSpPr/>
          <p:nvPr/>
        </p:nvSpPr>
        <p:spPr>
          <a:xfrm>
            <a:off x="509414" y="4176407"/>
            <a:ext cx="407533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2" y="0"/>
                  <a:pt x="21600" y="2418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18" y="21600"/>
                  <a:pt x="0" y="19182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Shape 38"/>
          <p:cNvSpPr/>
          <p:nvPr/>
        </p:nvSpPr>
        <p:spPr>
          <a:xfrm>
            <a:off x="617665" y="4295271"/>
            <a:ext cx="190998" cy="1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0" y="5038"/>
                </a:moveTo>
                <a:cubicBezTo>
                  <a:pt x="484" y="4574"/>
                  <a:pt x="0" y="3701"/>
                  <a:pt x="0" y="2701"/>
                </a:cubicBezTo>
                <a:cubicBezTo>
                  <a:pt x="0" y="1211"/>
                  <a:pt x="1076" y="0"/>
                  <a:pt x="2400" y="0"/>
                </a:cubicBezTo>
                <a:cubicBezTo>
                  <a:pt x="3289" y="0"/>
                  <a:pt x="4066" y="544"/>
                  <a:pt x="4478" y="1350"/>
                </a:cubicBezTo>
                <a:lnTo>
                  <a:pt x="17122" y="1350"/>
                </a:lnTo>
                <a:cubicBezTo>
                  <a:pt x="17538" y="544"/>
                  <a:pt x="18311" y="0"/>
                  <a:pt x="19200" y="0"/>
                </a:cubicBezTo>
                <a:cubicBezTo>
                  <a:pt x="20524" y="0"/>
                  <a:pt x="21600" y="1211"/>
                  <a:pt x="21600" y="2701"/>
                </a:cubicBezTo>
                <a:cubicBezTo>
                  <a:pt x="21600" y="3701"/>
                  <a:pt x="21116" y="4574"/>
                  <a:pt x="20400" y="5038"/>
                </a:cubicBezTo>
                <a:lnTo>
                  <a:pt x="20400" y="16562"/>
                </a:lnTo>
                <a:cubicBezTo>
                  <a:pt x="21116" y="17030"/>
                  <a:pt x="21600" y="17899"/>
                  <a:pt x="21600" y="18899"/>
                </a:cubicBezTo>
                <a:cubicBezTo>
                  <a:pt x="21600" y="20389"/>
                  <a:pt x="20524" y="21600"/>
                  <a:pt x="19200" y="21600"/>
                </a:cubicBezTo>
                <a:cubicBezTo>
                  <a:pt x="18311" y="21600"/>
                  <a:pt x="17534" y="21056"/>
                  <a:pt x="17122" y="20250"/>
                </a:cubicBezTo>
                <a:lnTo>
                  <a:pt x="4478" y="20250"/>
                </a:lnTo>
                <a:cubicBezTo>
                  <a:pt x="4062" y="21056"/>
                  <a:pt x="3289" y="21600"/>
                  <a:pt x="2400" y="21600"/>
                </a:cubicBezTo>
                <a:cubicBezTo>
                  <a:pt x="1076" y="21600"/>
                  <a:pt x="0" y="20389"/>
                  <a:pt x="0" y="18899"/>
                </a:cubicBezTo>
                <a:cubicBezTo>
                  <a:pt x="0" y="17899"/>
                  <a:pt x="484" y="17026"/>
                  <a:pt x="1200" y="16562"/>
                </a:cubicBezTo>
                <a:lnTo>
                  <a:pt x="1200" y="5038"/>
                </a:lnTo>
                <a:close/>
                <a:moveTo>
                  <a:pt x="18003" y="5038"/>
                </a:moveTo>
                <a:cubicBezTo>
                  <a:pt x="17639" y="4802"/>
                  <a:pt x="17336" y="4460"/>
                  <a:pt x="17126" y="4051"/>
                </a:cubicBezTo>
                <a:lnTo>
                  <a:pt x="4478" y="4051"/>
                </a:lnTo>
                <a:cubicBezTo>
                  <a:pt x="4268" y="4460"/>
                  <a:pt x="3964" y="4802"/>
                  <a:pt x="3601" y="5038"/>
                </a:cubicBezTo>
                <a:lnTo>
                  <a:pt x="3601" y="16562"/>
                </a:lnTo>
                <a:cubicBezTo>
                  <a:pt x="3964" y="16798"/>
                  <a:pt x="4268" y="17140"/>
                  <a:pt x="4478" y="17549"/>
                </a:cubicBezTo>
                <a:lnTo>
                  <a:pt x="17122" y="17549"/>
                </a:lnTo>
                <a:cubicBezTo>
                  <a:pt x="17332" y="17140"/>
                  <a:pt x="17636" y="16798"/>
                  <a:pt x="17999" y="16562"/>
                </a:cubicBezTo>
                <a:lnTo>
                  <a:pt x="17999" y="5038"/>
                </a:lnTo>
                <a:close/>
                <a:moveTo>
                  <a:pt x="5401" y="7426"/>
                </a:moveTo>
                <a:cubicBezTo>
                  <a:pt x="5401" y="6680"/>
                  <a:pt x="5937" y="6076"/>
                  <a:pt x="6601" y="6076"/>
                </a:cubicBezTo>
                <a:lnTo>
                  <a:pt x="10802" y="6076"/>
                </a:lnTo>
                <a:cubicBezTo>
                  <a:pt x="11466" y="6076"/>
                  <a:pt x="12002" y="6680"/>
                  <a:pt x="12002" y="7426"/>
                </a:cubicBezTo>
                <a:lnTo>
                  <a:pt x="12002" y="10127"/>
                </a:lnTo>
                <a:cubicBezTo>
                  <a:pt x="12002" y="10874"/>
                  <a:pt x="11466" y="11477"/>
                  <a:pt x="10802" y="11477"/>
                </a:cubicBezTo>
                <a:lnTo>
                  <a:pt x="6601" y="11477"/>
                </a:lnTo>
                <a:cubicBezTo>
                  <a:pt x="5937" y="11477"/>
                  <a:pt x="5401" y="10874"/>
                  <a:pt x="5401" y="10127"/>
                </a:cubicBezTo>
                <a:lnTo>
                  <a:pt x="5401" y="7426"/>
                </a:lnTo>
                <a:close/>
                <a:moveTo>
                  <a:pt x="9602" y="13503"/>
                </a:moveTo>
                <a:lnTo>
                  <a:pt x="10802" y="13503"/>
                </a:lnTo>
                <a:cubicBezTo>
                  <a:pt x="12460" y="13503"/>
                  <a:pt x="13802" y="11992"/>
                  <a:pt x="13802" y="10127"/>
                </a:cubicBezTo>
                <a:lnTo>
                  <a:pt x="15003" y="10127"/>
                </a:lnTo>
                <a:cubicBezTo>
                  <a:pt x="15666" y="10127"/>
                  <a:pt x="16203" y="10730"/>
                  <a:pt x="16203" y="11477"/>
                </a:cubicBezTo>
                <a:lnTo>
                  <a:pt x="16203" y="14178"/>
                </a:lnTo>
                <a:cubicBezTo>
                  <a:pt x="16203" y="14925"/>
                  <a:pt x="15666" y="15528"/>
                  <a:pt x="15003" y="15528"/>
                </a:cubicBezTo>
                <a:lnTo>
                  <a:pt x="10802" y="15528"/>
                </a:lnTo>
                <a:cubicBezTo>
                  <a:pt x="10138" y="15528"/>
                  <a:pt x="9602" y="14925"/>
                  <a:pt x="9602" y="14178"/>
                </a:cubicBezTo>
                <a:lnTo>
                  <a:pt x="9602" y="13503"/>
                </a:ln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Text 39"/>
          <p:cNvSpPr txBox="1"/>
          <p:nvPr/>
        </p:nvSpPr>
        <p:spPr>
          <a:xfrm>
            <a:off x="1052790" y="4197177"/>
            <a:ext cx="4924347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Clustering</a:t>
            </a:r>
          </a:p>
        </p:txBody>
      </p:sp>
      <p:sp>
        <p:nvSpPr>
          <p:cNvPr id="464" name="Text 40"/>
          <p:cNvSpPr txBox="1"/>
          <p:nvPr/>
        </p:nvSpPr>
        <p:spPr>
          <a:xfrm>
            <a:off x="1052790" y="4482825"/>
            <a:ext cx="4907367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Partition data into clusters and store cluster representation only</a:t>
            </a:r>
          </a:p>
        </p:txBody>
      </p:sp>
      <p:sp>
        <p:nvSpPr>
          <p:cNvPr id="465" name="Shape 41"/>
          <p:cNvSpPr/>
          <p:nvPr/>
        </p:nvSpPr>
        <p:spPr>
          <a:xfrm>
            <a:off x="509414" y="4753743"/>
            <a:ext cx="5382821" cy="1222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3" y="0"/>
                </a:moveTo>
                <a:lnTo>
                  <a:pt x="21327" y="0"/>
                </a:lnTo>
                <a:cubicBezTo>
                  <a:pt x="21478" y="0"/>
                  <a:pt x="21600" y="537"/>
                  <a:pt x="21600" y="1200"/>
                </a:cubicBezTo>
                <a:lnTo>
                  <a:pt x="21600" y="20400"/>
                </a:lnTo>
                <a:cubicBezTo>
                  <a:pt x="21600" y="21063"/>
                  <a:pt x="21478" y="21600"/>
                  <a:pt x="21327" y="21600"/>
                </a:cubicBezTo>
                <a:lnTo>
                  <a:pt x="273" y="21600"/>
                </a:lnTo>
                <a:cubicBezTo>
                  <a:pt x="122" y="21600"/>
                  <a:pt x="0" y="21063"/>
                  <a:pt x="0" y="20400"/>
                </a:cubicBezTo>
                <a:lnTo>
                  <a:pt x="0" y="1200"/>
                </a:lnTo>
                <a:cubicBezTo>
                  <a:pt x="0" y="538"/>
                  <a:pt x="122" y="0"/>
                  <a:pt x="27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ext 42"/>
          <p:cNvSpPr txBox="1"/>
          <p:nvPr/>
        </p:nvSpPr>
        <p:spPr>
          <a:xfrm>
            <a:off x="611298" y="4877029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E8B4B8"/>
                </a:solidFill>
              </a:defRPr>
            </a:lvl1pPr>
          </a:lstStyle>
          <a:p>
            <a:pPr/>
            <a:r>
              <a:t>Approach</a:t>
            </a:r>
          </a:p>
        </p:txBody>
      </p:sp>
      <p:sp>
        <p:nvSpPr>
          <p:cNvPr id="467" name="Text 43"/>
          <p:cNvSpPr txBox="1"/>
          <p:nvPr/>
        </p:nvSpPr>
        <p:spPr>
          <a:xfrm>
            <a:off x="611298" y="5114756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Group similar data objects into clusters</a:t>
            </a:r>
          </a:p>
        </p:txBody>
      </p:sp>
      <p:sp>
        <p:nvSpPr>
          <p:cNvPr id="468" name="Text 44"/>
          <p:cNvSpPr txBox="1"/>
          <p:nvPr/>
        </p:nvSpPr>
        <p:spPr>
          <a:xfrm>
            <a:off x="611298" y="5318522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Store cluster centroids or representative points</a:t>
            </a:r>
          </a:p>
        </p:txBody>
      </p:sp>
      <p:sp>
        <p:nvSpPr>
          <p:cNvPr id="469" name="Text 45"/>
          <p:cNvSpPr txBox="1"/>
          <p:nvPr/>
        </p:nvSpPr>
        <p:spPr>
          <a:xfrm>
            <a:off x="611298" y="5522288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Highly effective when data is naturally clustered</a:t>
            </a:r>
          </a:p>
        </p:txBody>
      </p:sp>
      <p:sp>
        <p:nvSpPr>
          <p:cNvPr id="470" name="Text 46"/>
          <p:cNvSpPr txBox="1"/>
          <p:nvPr/>
        </p:nvSpPr>
        <p:spPr>
          <a:xfrm>
            <a:off x="611298" y="5726055"/>
            <a:ext cx="52384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• Can use hierarchical clustering with multi-dimensional index trees</a:t>
            </a:r>
          </a:p>
        </p:txBody>
      </p:sp>
      <p:sp>
        <p:nvSpPr>
          <p:cNvPr id="471" name="Shape 47"/>
          <p:cNvSpPr/>
          <p:nvPr/>
        </p:nvSpPr>
        <p:spPr>
          <a:xfrm>
            <a:off x="509414" y="6044262"/>
            <a:ext cx="1120714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5" y="0"/>
                </a:moveTo>
                <a:lnTo>
                  <a:pt x="20945" y="0"/>
                </a:lnTo>
                <a:cubicBezTo>
                  <a:pt x="21307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307" y="21600"/>
                  <a:pt x="20945" y="21600"/>
                </a:cubicBezTo>
                <a:lnTo>
                  <a:pt x="655" y="21600"/>
                </a:lnTo>
                <a:cubicBezTo>
                  <a:pt x="293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293" y="0"/>
                  <a:pt x="655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Text 48"/>
          <p:cNvSpPr txBox="1"/>
          <p:nvPr/>
        </p:nvSpPr>
        <p:spPr>
          <a:xfrm>
            <a:off x="543375" y="6057192"/>
            <a:ext cx="1103734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E8B4B8"/>
                </a:solidFill>
              </a:defRPr>
            </a:lvl1pPr>
          </a:lstStyle>
          <a:p>
            <a:pPr/>
            <a:r>
              <a:t>Numerosity Reduction</a:t>
            </a:r>
          </a:p>
        </p:txBody>
      </p:sp>
      <p:sp>
        <p:nvSpPr>
          <p:cNvPr id="473" name="Shape 49"/>
          <p:cNvSpPr/>
          <p:nvPr/>
        </p:nvSpPr>
        <p:spPr>
          <a:xfrm>
            <a:off x="1697585" y="6044262"/>
            <a:ext cx="849026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64" y="0"/>
                </a:moveTo>
                <a:lnTo>
                  <a:pt x="20736" y="0"/>
                </a:lnTo>
                <a:cubicBezTo>
                  <a:pt x="21213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13" y="21600"/>
                  <a:pt x="20736" y="21600"/>
                </a:cubicBezTo>
                <a:lnTo>
                  <a:pt x="864" y="21600"/>
                </a:lnTo>
                <a:cubicBezTo>
                  <a:pt x="387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387" y="0"/>
                  <a:pt x="864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50"/>
          <p:cNvSpPr txBox="1"/>
          <p:nvPr/>
        </p:nvSpPr>
        <p:spPr>
          <a:xfrm>
            <a:off x="1731546" y="6057192"/>
            <a:ext cx="832045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E8B4B8"/>
                </a:solidFill>
              </a:defRPr>
            </a:lvl1pPr>
          </a:lstStyle>
          <a:p>
            <a:pPr/>
            <a:r>
              <a:t>Non-parametric</a:t>
            </a:r>
          </a:p>
        </p:txBody>
      </p:sp>
      <p:sp>
        <p:nvSpPr>
          <p:cNvPr id="475" name="Shape 51"/>
          <p:cNvSpPr/>
          <p:nvPr/>
        </p:nvSpPr>
        <p:spPr>
          <a:xfrm>
            <a:off x="6182759" y="4040563"/>
            <a:ext cx="5671488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9" y="0"/>
                </a:moveTo>
                <a:lnTo>
                  <a:pt x="21212" y="0"/>
                </a:lnTo>
                <a:cubicBezTo>
                  <a:pt x="21426" y="0"/>
                  <a:pt x="21600" y="382"/>
                  <a:pt x="21600" y="853"/>
                </a:cubicBezTo>
                <a:lnTo>
                  <a:pt x="21600" y="20747"/>
                </a:lnTo>
                <a:cubicBezTo>
                  <a:pt x="21600" y="21218"/>
                  <a:pt x="21426" y="21600"/>
                  <a:pt x="21212" y="21600"/>
                </a:cubicBezTo>
                <a:lnTo>
                  <a:pt x="129" y="21600"/>
                </a:lnTo>
                <a:cubicBezTo>
                  <a:pt x="58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58" y="0"/>
                  <a:pt x="12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5400" dist="8490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" name="Shape 52"/>
          <p:cNvSpPr/>
          <p:nvPr/>
        </p:nvSpPr>
        <p:spPr>
          <a:xfrm>
            <a:off x="6182759" y="4040563"/>
            <a:ext cx="33962" cy="2581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73"/>
                  <a:pt x="0" y="21316"/>
                </a:cubicBezTo>
                <a:lnTo>
                  <a:pt x="0" y="284"/>
                </a:lnTo>
                <a:cubicBezTo>
                  <a:pt x="0" y="127"/>
                  <a:pt x="9671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Shape 53"/>
          <p:cNvSpPr/>
          <p:nvPr/>
        </p:nvSpPr>
        <p:spPr>
          <a:xfrm>
            <a:off x="6335583" y="4176407"/>
            <a:ext cx="407533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16200" y="0"/>
                </a:lnTo>
                <a:cubicBezTo>
                  <a:pt x="19182" y="0"/>
                  <a:pt x="21600" y="2418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19182" y="21600"/>
                  <a:pt x="16200" y="21600"/>
                </a:cubicBezTo>
                <a:lnTo>
                  <a:pt x="5400" y="21600"/>
                </a:lnTo>
                <a:cubicBezTo>
                  <a:pt x="2418" y="21600"/>
                  <a:pt x="0" y="19182"/>
                  <a:pt x="0" y="16200"/>
                </a:cubicBezTo>
                <a:lnTo>
                  <a:pt x="0" y="5400"/>
                </a:lnTo>
                <a:cubicBezTo>
                  <a:pt x="0" y="2418"/>
                  <a:pt x="2418" y="0"/>
                  <a:pt x="5400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Shape 54"/>
          <p:cNvSpPr/>
          <p:nvPr/>
        </p:nvSpPr>
        <p:spPr>
          <a:xfrm>
            <a:off x="6454447" y="4305865"/>
            <a:ext cx="169839" cy="148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59" fill="norm" stroke="1" extrusionOk="0">
                <a:moveTo>
                  <a:pt x="17032" y="117"/>
                </a:moveTo>
                <a:cubicBezTo>
                  <a:pt x="17538" y="-121"/>
                  <a:pt x="18116" y="12"/>
                  <a:pt x="18504" y="446"/>
                </a:cubicBezTo>
                <a:lnTo>
                  <a:pt x="21204" y="3497"/>
                </a:lnTo>
                <a:cubicBezTo>
                  <a:pt x="21457" y="3783"/>
                  <a:pt x="21600" y="4169"/>
                  <a:pt x="21600" y="4575"/>
                </a:cubicBezTo>
                <a:cubicBezTo>
                  <a:pt x="21600" y="4980"/>
                  <a:pt x="21457" y="5366"/>
                  <a:pt x="21204" y="5652"/>
                </a:cubicBezTo>
                <a:lnTo>
                  <a:pt x="18504" y="8703"/>
                </a:lnTo>
                <a:cubicBezTo>
                  <a:pt x="18116" y="9142"/>
                  <a:pt x="17538" y="9270"/>
                  <a:pt x="17032" y="9032"/>
                </a:cubicBezTo>
                <a:cubicBezTo>
                  <a:pt x="16526" y="8794"/>
                  <a:pt x="16197" y="8245"/>
                  <a:pt x="16197" y="7630"/>
                </a:cubicBezTo>
                <a:lnTo>
                  <a:pt x="16197" y="6105"/>
                </a:lnTo>
                <a:lnTo>
                  <a:pt x="14847" y="6105"/>
                </a:lnTo>
                <a:cubicBezTo>
                  <a:pt x="14421" y="6105"/>
                  <a:pt x="14020" y="6329"/>
                  <a:pt x="13767" y="6715"/>
                </a:cubicBezTo>
                <a:lnTo>
                  <a:pt x="12401" y="8774"/>
                </a:lnTo>
                <a:lnTo>
                  <a:pt x="10714" y="6234"/>
                </a:lnTo>
                <a:lnTo>
                  <a:pt x="11608" y="4885"/>
                </a:lnTo>
                <a:cubicBezTo>
                  <a:pt x="12371" y="3731"/>
                  <a:pt x="13573" y="3054"/>
                  <a:pt x="14847" y="3054"/>
                </a:cubicBezTo>
                <a:lnTo>
                  <a:pt x="16197" y="3054"/>
                </a:lnTo>
                <a:lnTo>
                  <a:pt x="16197" y="1528"/>
                </a:lnTo>
                <a:cubicBezTo>
                  <a:pt x="16197" y="913"/>
                  <a:pt x="16526" y="356"/>
                  <a:pt x="17032" y="117"/>
                </a:cubicBezTo>
                <a:close/>
                <a:moveTo>
                  <a:pt x="6496" y="12588"/>
                </a:moveTo>
                <a:lnTo>
                  <a:pt x="8183" y="15129"/>
                </a:lnTo>
                <a:lnTo>
                  <a:pt x="7289" y="16478"/>
                </a:lnTo>
                <a:cubicBezTo>
                  <a:pt x="6525" y="17632"/>
                  <a:pt x="5323" y="18309"/>
                  <a:pt x="4049" y="18309"/>
                </a:cubicBezTo>
                <a:lnTo>
                  <a:pt x="1350" y="18309"/>
                </a:lnTo>
                <a:cubicBezTo>
                  <a:pt x="603" y="18309"/>
                  <a:pt x="0" y="17627"/>
                  <a:pt x="0" y="16783"/>
                </a:cubicBezTo>
                <a:cubicBezTo>
                  <a:pt x="0" y="15940"/>
                  <a:pt x="603" y="15258"/>
                  <a:pt x="1350" y="15258"/>
                </a:cubicBezTo>
                <a:lnTo>
                  <a:pt x="4049" y="15258"/>
                </a:lnTo>
                <a:cubicBezTo>
                  <a:pt x="4475" y="15258"/>
                  <a:pt x="4876" y="15034"/>
                  <a:pt x="5129" y="14648"/>
                </a:cubicBezTo>
                <a:lnTo>
                  <a:pt x="6496" y="12588"/>
                </a:lnTo>
                <a:close/>
                <a:moveTo>
                  <a:pt x="18500" y="20912"/>
                </a:moveTo>
                <a:cubicBezTo>
                  <a:pt x="18112" y="21350"/>
                  <a:pt x="17534" y="21479"/>
                  <a:pt x="17028" y="21241"/>
                </a:cubicBezTo>
                <a:cubicBezTo>
                  <a:pt x="16522" y="21002"/>
                  <a:pt x="16197" y="20449"/>
                  <a:pt x="16197" y="19834"/>
                </a:cubicBezTo>
                <a:lnTo>
                  <a:pt x="16197" y="18309"/>
                </a:lnTo>
                <a:lnTo>
                  <a:pt x="14847" y="18309"/>
                </a:lnTo>
                <a:cubicBezTo>
                  <a:pt x="13573" y="18309"/>
                  <a:pt x="12371" y="17632"/>
                  <a:pt x="11608" y="16478"/>
                </a:cubicBezTo>
                <a:lnTo>
                  <a:pt x="5129" y="6715"/>
                </a:lnTo>
                <a:cubicBezTo>
                  <a:pt x="4876" y="6329"/>
                  <a:pt x="4475" y="6105"/>
                  <a:pt x="4049" y="6105"/>
                </a:cubicBezTo>
                <a:lnTo>
                  <a:pt x="1350" y="6105"/>
                </a:lnTo>
                <a:cubicBezTo>
                  <a:pt x="603" y="6105"/>
                  <a:pt x="0" y="5423"/>
                  <a:pt x="0" y="4579"/>
                </a:cubicBezTo>
                <a:cubicBezTo>
                  <a:pt x="0" y="3736"/>
                  <a:pt x="603" y="3054"/>
                  <a:pt x="1350" y="3054"/>
                </a:cubicBezTo>
                <a:lnTo>
                  <a:pt x="4049" y="3054"/>
                </a:lnTo>
                <a:cubicBezTo>
                  <a:pt x="5323" y="3054"/>
                  <a:pt x="6525" y="3731"/>
                  <a:pt x="7289" y="4885"/>
                </a:cubicBezTo>
                <a:lnTo>
                  <a:pt x="13767" y="14648"/>
                </a:lnTo>
                <a:cubicBezTo>
                  <a:pt x="14020" y="15034"/>
                  <a:pt x="14421" y="15258"/>
                  <a:pt x="14847" y="15258"/>
                </a:cubicBezTo>
                <a:lnTo>
                  <a:pt x="16197" y="15258"/>
                </a:lnTo>
                <a:lnTo>
                  <a:pt x="16197" y="13732"/>
                </a:lnTo>
                <a:cubicBezTo>
                  <a:pt x="16197" y="13117"/>
                  <a:pt x="16526" y="12560"/>
                  <a:pt x="17032" y="12321"/>
                </a:cubicBezTo>
                <a:cubicBezTo>
                  <a:pt x="17538" y="12083"/>
                  <a:pt x="18116" y="12216"/>
                  <a:pt x="18504" y="12650"/>
                </a:cubicBezTo>
                <a:lnTo>
                  <a:pt x="21204" y="15701"/>
                </a:lnTo>
                <a:cubicBezTo>
                  <a:pt x="21457" y="15987"/>
                  <a:pt x="21600" y="16373"/>
                  <a:pt x="21600" y="16779"/>
                </a:cubicBezTo>
                <a:cubicBezTo>
                  <a:pt x="21600" y="17184"/>
                  <a:pt x="21457" y="17570"/>
                  <a:pt x="21204" y="17856"/>
                </a:cubicBezTo>
                <a:lnTo>
                  <a:pt x="18504" y="20907"/>
                </a:ln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Text 55"/>
          <p:cNvSpPr txBox="1"/>
          <p:nvPr/>
        </p:nvSpPr>
        <p:spPr>
          <a:xfrm>
            <a:off x="6878959" y="4197177"/>
            <a:ext cx="4924347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3D3D3D"/>
                </a:solidFill>
              </a:defRPr>
            </a:lvl1pPr>
          </a:lstStyle>
          <a:p>
            <a:pPr/>
            <a:r>
              <a:t>Sampling</a:t>
            </a:r>
          </a:p>
        </p:txBody>
      </p:sp>
      <p:sp>
        <p:nvSpPr>
          <p:cNvPr id="480" name="Text 56"/>
          <p:cNvSpPr txBox="1"/>
          <p:nvPr/>
        </p:nvSpPr>
        <p:spPr>
          <a:xfrm>
            <a:off x="6878959" y="4482825"/>
            <a:ext cx="4907367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D3D">
                    <a:alpha val="70000"/>
                  </a:srgbClr>
                </a:solidFill>
              </a:defRPr>
            </a:lvl1pPr>
          </a:lstStyle>
          <a:p>
            <a:pPr/>
            <a:r>
              <a:t>Obtain a small sample to represent the entire dataset</a:t>
            </a:r>
          </a:p>
        </p:txBody>
      </p:sp>
      <p:sp>
        <p:nvSpPr>
          <p:cNvPr id="481" name="Shape 57"/>
          <p:cNvSpPr/>
          <p:nvPr/>
        </p:nvSpPr>
        <p:spPr>
          <a:xfrm>
            <a:off x="6335583" y="4753743"/>
            <a:ext cx="5382820" cy="1222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3" y="0"/>
                </a:moveTo>
                <a:lnTo>
                  <a:pt x="21327" y="0"/>
                </a:lnTo>
                <a:cubicBezTo>
                  <a:pt x="21478" y="0"/>
                  <a:pt x="21600" y="537"/>
                  <a:pt x="21600" y="1200"/>
                </a:cubicBezTo>
                <a:lnTo>
                  <a:pt x="21600" y="20400"/>
                </a:lnTo>
                <a:cubicBezTo>
                  <a:pt x="21600" y="21063"/>
                  <a:pt x="21478" y="21600"/>
                  <a:pt x="21327" y="21600"/>
                </a:cubicBezTo>
                <a:lnTo>
                  <a:pt x="273" y="21600"/>
                </a:lnTo>
                <a:cubicBezTo>
                  <a:pt x="122" y="21600"/>
                  <a:pt x="0" y="21063"/>
                  <a:pt x="0" y="20400"/>
                </a:cubicBezTo>
                <a:lnTo>
                  <a:pt x="0" y="1200"/>
                </a:lnTo>
                <a:cubicBezTo>
                  <a:pt x="0" y="538"/>
                  <a:pt x="122" y="0"/>
                  <a:pt x="273" y="0"/>
                </a:cubicBezTo>
                <a:close/>
              </a:path>
            </a:pathLst>
          </a:custGeom>
          <a:solidFill>
            <a:srgbClr val="F8F6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58"/>
          <p:cNvSpPr txBox="1"/>
          <p:nvPr/>
        </p:nvSpPr>
        <p:spPr>
          <a:xfrm>
            <a:off x="6437467" y="4877029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7B9E89"/>
                </a:solidFill>
              </a:defRPr>
            </a:lvl1pPr>
          </a:lstStyle>
          <a:p>
            <a:pPr/>
            <a:r>
              <a:t>Sampling Techniques</a:t>
            </a:r>
          </a:p>
        </p:txBody>
      </p:sp>
      <p:sp>
        <p:nvSpPr>
          <p:cNvPr id="483" name="Text 59"/>
          <p:cNvSpPr txBox="1"/>
          <p:nvPr/>
        </p:nvSpPr>
        <p:spPr>
          <a:xfrm>
            <a:off x="6437467" y="5114756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SRSWOR:</a:t>
            </a:r>
            <a:r>
              <a:t> Simple Random Sample Without Replacement</a:t>
            </a:r>
          </a:p>
        </p:txBody>
      </p:sp>
      <p:sp>
        <p:nvSpPr>
          <p:cNvPr id="484" name="Text 60"/>
          <p:cNvSpPr txBox="1"/>
          <p:nvPr/>
        </p:nvSpPr>
        <p:spPr>
          <a:xfrm>
            <a:off x="6437467" y="5318522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SRSWR:</a:t>
            </a:r>
            <a:r>
              <a:t> Simple Random Sample With Replacement</a:t>
            </a:r>
          </a:p>
        </p:txBody>
      </p:sp>
      <p:sp>
        <p:nvSpPr>
          <p:cNvPr id="485" name="Text 61"/>
          <p:cNvSpPr txBox="1"/>
          <p:nvPr/>
        </p:nvSpPr>
        <p:spPr>
          <a:xfrm>
            <a:off x="6437467" y="5522288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Cluster Sampling:</a:t>
            </a:r>
            <a:r>
              <a:t> Sample entire clusters</a:t>
            </a:r>
          </a:p>
        </p:txBody>
      </p:sp>
      <p:sp>
        <p:nvSpPr>
          <p:cNvPr id="486" name="Text 62"/>
          <p:cNvSpPr txBox="1"/>
          <p:nvPr/>
        </p:nvSpPr>
        <p:spPr>
          <a:xfrm>
            <a:off x="6437467" y="5726055"/>
            <a:ext cx="52384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D3D3D">
                    <a:alpha val="70000"/>
                  </a:srgbClr>
                </a:solidFill>
              </a:defRPr>
            </a:pPr>
            <a:r>
              <a:t>• </a:t>
            </a:r>
            <a:r>
              <a:rPr b="1"/>
              <a:t>Stratified Sampling:</a:t>
            </a:r>
            <a:r>
              <a:t> Sample proportionally from subgroups</a:t>
            </a:r>
          </a:p>
        </p:txBody>
      </p:sp>
      <p:sp>
        <p:nvSpPr>
          <p:cNvPr id="487" name="Shape 63"/>
          <p:cNvSpPr/>
          <p:nvPr/>
        </p:nvSpPr>
        <p:spPr>
          <a:xfrm>
            <a:off x="6335583" y="6044262"/>
            <a:ext cx="1120714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5" y="0"/>
                </a:moveTo>
                <a:lnTo>
                  <a:pt x="20945" y="0"/>
                </a:lnTo>
                <a:cubicBezTo>
                  <a:pt x="21307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307" y="21600"/>
                  <a:pt x="20945" y="21600"/>
                </a:cubicBezTo>
                <a:lnTo>
                  <a:pt x="655" y="21600"/>
                </a:lnTo>
                <a:cubicBezTo>
                  <a:pt x="293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293" y="0"/>
                  <a:pt x="655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Text 64"/>
          <p:cNvSpPr txBox="1"/>
          <p:nvPr/>
        </p:nvSpPr>
        <p:spPr>
          <a:xfrm>
            <a:off x="6369544" y="6057192"/>
            <a:ext cx="1103734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7B9E89"/>
                </a:solidFill>
              </a:defRPr>
            </a:lvl1pPr>
          </a:lstStyle>
          <a:p>
            <a:pPr/>
            <a:r>
              <a:t>Numerosity Reduction</a:t>
            </a:r>
          </a:p>
        </p:txBody>
      </p:sp>
      <p:sp>
        <p:nvSpPr>
          <p:cNvPr id="489" name="Shape 65"/>
          <p:cNvSpPr/>
          <p:nvPr/>
        </p:nvSpPr>
        <p:spPr>
          <a:xfrm>
            <a:off x="7523754" y="6044262"/>
            <a:ext cx="551867" cy="203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9" y="0"/>
                </a:moveTo>
                <a:lnTo>
                  <a:pt x="20271" y="0"/>
                </a:lnTo>
                <a:cubicBezTo>
                  <a:pt x="21005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005" y="21600"/>
                  <a:pt x="20271" y="21600"/>
                </a:cubicBezTo>
                <a:lnTo>
                  <a:pt x="1329" y="21600"/>
                </a:lnTo>
                <a:cubicBezTo>
                  <a:pt x="595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3"/>
                  <a:pt x="596" y="0"/>
                  <a:pt x="1329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Text 66"/>
          <p:cNvSpPr txBox="1"/>
          <p:nvPr/>
        </p:nvSpPr>
        <p:spPr>
          <a:xfrm>
            <a:off x="7557715" y="6057192"/>
            <a:ext cx="534887" cy="17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960" tIns="33960" rIns="33960" bIns="33960" anchor="ctr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7B9E89"/>
                </a:solidFill>
              </a:defRPr>
            </a:lvl1pPr>
          </a:lstStyle>
          <a:p>
            <a:pPr/>
            <a:r>
              <a:t>Statistical</a:t>
            </a:r>
          </a:p>
        </p:txBody>
      </p:sp>
      <p:sp>
        <p:nvSpPr>
          <p:cNvPr id="491" name="Shape 67"/>
          <p:cNvSpPr/>
          <p:nvPr/>
        </p:nvSpPr>
        <p:spPr>
          <a:xfrm>
            <a:off x="356590" y="6722753"/>
            <a:ext cx="11495801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" y="0"/>
                </a:moveTo>
                <a:lnTo>
                  <a:pt x="21409" y="0"/>
                </a:lnTo>
                <a:cubicBezTo>
                  <a:pt x="21514" y="0"/>
                  <a:pt x="21600" y="2418"/>
                  <a:pt x="21600" y="5400"/>
                </a:cubicBezTo>
                <a:lnTo>
                  <a:pt x="21600" y="16200"/>
                </a:lnTo>
                <a:cubicBezTo>
                  <a:pt x="21600" y="19182"/>
                  <a:pt x="21514" y="21600"/>
                  <a:pt x="21409" y="21600"/>
                </a:cubicBezTo>
                <a:lnTo>
                  <a:pt x="64" y="21600"/>
                </a:lnTo>
                <a:cubicBezTo>
                  <a:pt x="29" y="21600"/>
                  <a:pt x="0" y="20794"/>
                  <a:pt x="0" y="19800"/>
                </a:cubicBezTo>
                <a:lnTo>
                  <a:pt x="0" y="1800"/>
                </a:lnTo>
                <a:cubicBezTo>
                  <a:pt x="0" y="807"/>
                  <a:pt x="29" y="0"/>
                  <a:pt x="64" y="0"/>
                </a:cubicBezTo>
                <a:close/>
              </a:path>
            </a:pathLst>
          </a:custGeom>
          <a:solidFill>
            <a:srgbClr val="7B9E89">
              <a:alpha val="50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Shape 68"/>
          <p:cNvSpPr/>
          <p:nvPr/>
        </p:nvSpPr>
        <p:spPr>
          <a:xfrm>
            <a:off x="356591" y="6722753"/>
            <a:ext cx="33961" cy="407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0794"/>
                  <a:pt x="0" y="19800"/>
                </a:cubicBezTo>
                <a:lnTo>
                  <a:pt x="0" y="1800"/>
                </a:lnTo>
                <a:cubicBezTo>
                  <a:pt x="0" y="806"/>
                  <a:pt x="9671" y="0"/>
                  <a:pt x="21600" y="0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Shape 69"/>
          <p:cNvSpPr/>
          <p:nvPr/>
        </p:nvSpPr>
        <p:spPr>
          <a:xfrm>
            <a:off x="509414" y="6854352"/>
            <a:ext cx="101884" cy="140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476" y="15709"/>
                </a:moveTo>
                <a:cubicBezTo>
                  <a:pt x="16886" y="14797"/>
                  <a:pt x="17708" y="13970"/>
                  <a:pt x="18636" y="13259"/>
                </a:cubicBezTo>
                <a:cubicBezTo>
                  <a:pt x="20475" y="11851"/>
                  <a:pt x="21600" y="9949"/>
                  <a:pt x="21600" y="7855"/>
                </a:cubicBezTo>
                <a:cubicBezTo>
                  <a:pt x="21600" y="3518"/>
                  <a:pt x="16762" y="0"/>
                  <a:pt x="10800" y="0"/>
                </a:cubicBezTo>
                <a:cubicBezTo>
                  <a:pt x="4838" y="0"/>
                  <a:pt x="0" y="3518"/>
                  <a:pt x="0" y="7855"/>
                </a:cubicBezTo>
                <a:cubicBezTo>
                  <a:pt x="0" y="9949"/>
                  <a:pt x="1125" y="11851"/>
                  <a:pt x="2964" y="13259"/>
                </a:cubicBezTo>
                <a:cubicBezTo>
                  <a:pt x="3892" y="13970"/>
                  <a:pt x="4719" y="14797"/>
                  <a:pt x="5124" y="15709"/>
                </a:cubicBezTo>
                <a:lnTo>
                  <a:pt x="16470" y="15709"/>
                </a:lnTo>
                <a:close/>
                <a:moveTo>
                  <a:pt x="16200" y="17673"/>
                </a:moveTo>
                <a:lnTo>
                  <a:pt x="5400" y="17673"/>
                </a:lnTo>
                <a:lnTo>
                  <a:pt x="5400" y="18327"/>
                </a:lnTo>
                <a:cubicBezTo>
                  <a:pt x="5400" y="20136"/>
                  <a:pt x="7414" y="21600"/>
                  <a:pt x="9900" y="21600"/>
                </a:cubicBezTo>
                <a:lnTo>
                  <a:pt x="11700" y="21600"/>
                </a:lnTo>
                <a:cubicBezTo>
                  <a:pt x="14186" y="21600"/>
                  <a:pt x="16200" y="20136"/>
                  <a:pt x="16200" y="18327"/>
                </a:cubicBezTo>
                <a:lnTo>
                  <a:pt x="16200" y="17673"/>
                </a:lnTo>
                <a:close/>
                <a:moveTo>
                  <a:pt x="10350" y="4582"/>
                </a:moveTo>
                <a:cubicBezTo>
                  <a:pt x="8111" y="4582"/>
                  <a:pt x="6300" y="5899"/>
                  <a:pt x="6300" y="7527"/>
                </a:cubicBezTo>
                <a:cubicBezTo>
                  <a:pt x="6300" y="8071"/>
                  <a:pt x="5698" y="8509"/>
                  <a:pt x="4950" y="8509"/>
                </a:cubicBezTo>
                <a:cubicBezTo>
                  <a:pt x="4202" y="8509"/>
                  <a:pt x="3600" y="8071"/>
                  <a:pt x="3600" y="7527"/>
                </a:cubicBezTo>
                <a:cubicBezTo>
                  <a:pt x="3600" y="4815"/>
                  <a:pt x="6621" y="2618"/>
                  <a:pt x="10350" y="2618"/>
                </a:cubicBezTo>
                <a:cubicBezTo>
                  <a:pt x="11098" y="2618"/>
                  <a:pt x="11700" y="3056"/>
                  <a:pt x="11700" y="3600"/>
                </a:cubicBezTo>
                <a:cubicBezTo>
                  <a:pt x="11700" y="4144"/>
                  <a:pt x="11098" y="4582"/>
                  <a:pt x="10350" y="4582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xt 70"/>
          <p:cNvSpPr txBox="1"/>
          <p:nvPr/>
        </p:nvSpPr>
        <p:spPr>
          <a:xfrm>
            <a:off x="690667" y="6859366"/>
            <a:ext cx="1112776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3D3D3D">
                    <a:alpha val="80000"/>
                  </a:srgbClr>
                </a:solidFill>
              </a:defRPr>
            </a:pPr>
            <a:r>
              <a:t>Key Principle:</a:t>
            </a:r>
            <a:r>
              <a:rPr b="0"/>
              <a:t> The computational time spent on data reduction should not outweigh the time saved by mining on a reduced dataset. Balance reduction with information preservation.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Image 0" descr="Image 0"/>
          <p:cNvPicPr>
            <a:picLocks noChangeAspect="1"/>
          </p:cNvPicPr>
          <p:nvPr/>
        </p:nvPicPr>
        <p:blipFill>
          <a:blip r:embed="rId2">
            <a:alphaModFix amt="25000"/>
            <a:extLst/>
          </a:blip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97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B9E89">
                  <a:alpha val="15000"/>
                </a:srgbClr>
              </a:gs>
              <a:gs pos="50000">
                <a:srgbClr val="F8F6F3">
                  <a:alpha val="80000"/>
                </a:srgbClr>
              </a:gs>
              <a:gs pos="100000">
                <a:srgbClr val="B8A9C9">
                  <a:alpha val="15000"/>
                </a:srgbClr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Shape 1"/>
          <p:cNvSpPr/>
          <p:nvPr/>
        </p:nvSpPr>
        <p:spPr>
          <a:xfrm>
            <a:off x="5150866" y="838200"/>
            <a:ext cx="1885951" cy="419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00" y="0"/>
                </a:moveTo>
                <a:lnTo>
                  <a:pt x="19200" y="0"/>
                </a:lnTo>
                <a:cubicBezTo>
                  <a:pt x="20525" y="0"/>
                  <a:pt x="21600" y="4839"/>
                  <a:pt x="21600" y="10800"/>
                </a:cubicBezTo>
                <a:cubicBezTo>
                  <a:pt x="21600" y="16761"/>
                  <a:pt x="20525" y="21600"/>
                  <a:pt x="19200" y="21600"/>
                </a:cubicBezTo>
                <a:lnTo>
                  <a:pt x="2400" y="21600"/>
                </a:lnTo>
                <a:cubicBezTo>
                  <a:pt x="1075" y="21600"/>
                  <a:pt x="0" y="16761"/>
                  <a:pt x="0" y="10800"/>
                </a:cubicBezTo>
                <a:cubicBezTo>
                  <a:pt x="0" y="4839"/>
                  <a:pt x="1075" y="0"/>
                  <a:pt x="2400" y="0"/>
                </a:cubicBezTo>
                <a:close/>
              </a:path>
            </a:pathLst>
          </a:custGeom>
          <a:solidFill>
            <a:srgbClr val="7B9E89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ext 2"/>
          <p:cNvSpPr txBox="1"/>
          <p:nvPr/>
        </p:nvSpPr>
        <p:spPr>
          <a:xfrm>
            <a:off x="5336604" y="949656"/>
            <a:ext cx="1518718" cy="196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pc="68" sz="1300">
                <a:solidFill>
                  <a:srgbClr val="7B9E89"/>
                </a:solidFill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500" name="Text 3"/>
          <p:cNvSpPr txBox="1"/>
          <p:nvPr/>
        </p:nvSpPr>
        <p:spPr>
          <a:xfrm>
            <a:off x="266700" y="1457511"/>
            <a:ext cx="11658600" cy="513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80000"/>
              </a:lnSpc>
              <a:defRPr b="1" sz="3600">
                <a:solidFill>
                  <a:srgbClr val="3D3D3D"/>
                </a:solidFill>
              </a:defRPr>
            </a:lvl1pPr>
          </a:lstStyle>
          <a:p>
            <a:pPr/>
            <a:r>
              <a:t>What We've Learned</a:t>
            </a:r>
          </a:p>
        </p:txBody>
      </p:sp>
      <p:sp>
        <p:nvSpPr>
          <p:cNvPr id="501" name="Shape 4"/>
          <p:cNvSpPr/>
          <p:nvPr/>
        </p:nvSpPr>
        <p:spPr>
          <a:xfrm>
            <a:off x="5638800" y="2095500"/>
            <a:ext cx="914400" cy="3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0" y="0"/>
                </a:moveTo>
                <a:lnTo>
                  <a:pt x="21150" y="0"/>
                </a:lnTo>
                <a:cubicBezTo>
                  <a:pt x="21398" y="0"/>
                  <a:pt x="21600" y="4839"/>
                  <a:pt x="21600" y="10800"/>
                </a:cubicBezTo>
                <a:cubicBezTo>
                  <a:pt x="21600" y="16761"/>
                  <a:pt x="21398" y="21600"/>
                  <a:pt x="21150" y="21600"/>
                </a:cubicBezTo>
                <a:lnTo>
                  <a:pt x="450" y="21600"/>
                </a:lnTo>
                <a:cubicBezTo>
                  <a:pt x="202" y="21600"/>
                  <a:pt x="0" y="16761"/>
                  <a:pt x="0" y="10800"/>
                </a:cubicBezTo>
                <a:cubicBezTo>
                  <a:pt x="0" y="4839"/>
                  <a:pt x="202" y="0"/>
                  <a:pt x="450" y="0"/>
                </a:cubicBez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Shape 5"/>
          <p:cNvSpPr/>
          <p:nvPr/>
        </p:nvSpPr>
        <p:spPr>
          <a:xfrm>
            <a:off x="1223962" y="2519363"/>
            <a:ext cx="3086101" cy="2524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7" y="0"/>
                </a:moveTo>
                <a:lnTo>
                  <a:pt x="20533" y="0"/>
                </a:lnTo>
                <a:cubicBezTo>
                  <a:pt x="21122" y="0"/>
                  <a:pt x="21600" y="584"/>
                  <a:pt x="21600" y="1304"/>
                </a:cubicBezTo>
                <a:lnTo>
                  <a:pt x="21600" y="20296"/>
                </a:lnTo>
                <a:cubicBezTo>
                  <a:pt x="21600" y="21016"/>
                  <a:pt x="21122" y="21600"/>
                  <a:pt x="20533" y="21600"/>
                </a:cubicBezTo>
                <a:lnTo>
                  <a:pt x="1067" y="21600"/>
                </a:lnTo>
                <a:cubicBezTo>
                  <a:pt x="478" y="21600"/>
                  <a:pt x="0" y="21016"/>
                  <a:pt x="0" y="20296"/>
                </a:cubicBezTo>
                <a:lnTo>
                  <a:pt x="0" y="1304"/>
                </a:lnTo>
                <a:cubicBezTo>
                  <a:pt x="0" y="584"/>
                  <a:pt x="478" y="0"/>
                  <a:pt x="106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2700">
            <a:solidFill>
              <a:srgbClr val="7B9E89">
                <a:alpha val="20000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" name="Shape 6"/>
          <p:cNvSpPr/>
          <p:nvPr/>
        </p:nvSpPr>
        <p:spPr>
          <a:xfrm>
            <a:off x="2501875" y="2752725"/>
            <a:ext cx="533401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7B9E8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Shape 7"/>
          <p:cNvSpPr/>
          <p:nvPr/>
        </p:nvSpPr>
        <p:spPr>
          <a:xfrm>
            <a:off x="2654275" y="2905125"/>
            <a:ext cx="2286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6761" y="0"/>
                  <a:pt x="21600" y="4839"/>
                  <a:pt x="21600" y="10800"/>
                </a:cubicBezTo>
                <a:cubicBezTo>
                  <a:pt x="21600" y="16761"/>
                  <a:pt x="16761" y="21600"/>
                  <a:pt x="10800" y="21600"/>
                </a:cubicBezTo>
                <a:cubicBezTo>
                  <a:pt x="4839" y="21600"/>
                  <a:pt x="0" y="16761"/>
                  <a:pt x="0" y="10800"/>
                </a:cubicBezTo>
                <a:cubicBezTo>
                  <a:pt x="0" y="4839"/>
                  <a:pt x="4839" y="0"/>
                  <a:pt x="10800" y="0"/>
                </a:cubicBezTo>
                <a:close/>
                <a:moveTo>
                  <a:pt x="9787" y="5062"/>
                </a:moveTo>
                <a:lnTo>
                  <a:pt x="9787" y="10800"/>
                </a:lnTo>
                <a:cubicBezTo>
                  <a:pt x="9787" y="11138"/>
                  <a:pt x="9956" y="11454"/>
                  <a:pt x="10239" y="11644"/>
                </a:cubicBezTo>
                <a:lnTo>
                  <a:pt x="14289" y="14344"/>
                </a:lnTo>
                <a:cubicBezTo>
                  <a:pt x="14753" y="14656"/>
                  <a:pt x="15382" y="14529"/>
                  <a:pt x="15694" y="14061"/>
                </a:cubicBezTo>
                <a:cubicBezTo>
                  <a:pt x="16006" y="13593"/>
                  <a:pt x="15879" y="12968"/>
                  <a:pt x="15411" y="12656"/>
                </a:cubicBezTo>
                <a:lnTo>
                  <a:pt x="11813" y="10260"/>
                </a:lnTo>
                <a:lnTo>
                  <a:pt x="11813" y="5062"/>
                </a:lnTo>
                <a:cubicBezTo>
                  <a:pt x="11813" y="4501"/>
                  <a:pt x="11361" y="4050"/>
                  <a:pt x="10800" y="4050"/>
                </a:cubicBezTo>
                <a:cubicBezTo>
                  <a:pt x="10239" y="4050"/>
                  <a:pt x="9787" y="4501"/>
                  <a:pt x="9787" y="5062"/>
                </a:cubicBez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Text 8"/>
          <p:cNvSpPr txBox="1"/>
          <p:nvPr/>
        </p:nvSpPr>
        <p:spPr>
          <a:xfrm>
            <a:off x="1409700" y="3467971"/>
            <a:ext cx="2714625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Time Investment</a:t>
            </a:r>
          </a:p>
        </p:txBody>
      </p:sp>
      <p:sp>
        <p:nvSpPr>
          <p:cNvPr id="506" name="Text 9"/>
          <p:cNvSpPr txBox="1"/>
          <p:nvPr/>
        </p:nvSpPr>
        <p:spPr>
          <a:xfrm>
            <a:off x="1419225" y="3958701"/>
            <a:ext cx="2695575" cy="712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Data preprocessing accounts for approximately </a:t>
            </a:r>
            <a:r>
              <a:rPr b="1">
                <a:solidFill>
                  <a:srgbClr val="7B9E89"/>
                </a:solidFill>
              </a:rPr>
              <a:t>80% of data mining work</a:t>
            </a:r>
            <a:r>
              <a:t>, emphasizing its critical importance</a:t>
            </a:r>
          </a:p>
        </p:txBody>
      </p:sp>
      <p:sp>
        <p:nvSpPr>
          <p:cNvPr id="507" name="Shape 10"/>
          <p:cNvSpPr/>
          <p:nvPr/>
        </p:nvSpPr>
        <p:spPr>
          <a:xfrm>
            <a:off x="4551312" y="2519363"/>
            <a:ext cx="3086101" cy="2524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7" y="0"/>
                </a:moveTo>
                <a:lnTo>
                  <a:pt x="20533" y="0"/>
                </a:lnTo>
                <a:cubicBezTo>
                  <a:pt x="21122" y="0"/>
                  <a:pt x="21600" y="584"/>
                  <a:pt x="21600" y="1304"/>
                </a:cubicBezTo>
                <a:lnTo>
                  <a:pt x="21600" y="20296"/>
                </a:lnTo>
                <a:cubicBezTo>
                  <a:pt x="21600" y="21016"/>
                  <a:pt x="21122" y="21600"/>
                  <a:pt x="20533" y="21600"/>
                </a:cubicBezTo>
                <a:lnTo>
                  <a:pt x="1067" y="21600"/>
                </a:lnTo>
                <a:cubicBezTo>
                  <a:pt x="478" y="21600"/>
                  <a:pt x="0" y="21016"/>
                  <a:pt x="0" y="20296"/>
                </a:cubicBezTo>
                <a:lnTo>
                  <a:pt x="0" y="1304"/>
                </a:lnTo>
                <a:cubicBezTo>
                  <a:pt x="0" y="584"/>
                  <a:pt x="478" y="0"/>
                  <a:pt x="106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2700">
            <a:solidFill>
              <a:srgbClr val="B8A9C9">
                <a:alpha val="20000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" name="Shape 11"/>
          <p:cNvSpPr/>
          <p:nvPr/>
        </p:nvSpPr>
        <p:spPr>
          <a:xfrm>
            <a:off x="5829225" y="2752725"/>
            <a:ext cx="533401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B8A9C9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9" name="Shape 12"/>
          <p:cNvSpPr/>
          <p:nvPr/>
        </p:nvSpPr>
        <p:spPr>
          <a:xfrm>
            <a:off x="5981625" y="2905125"/>
            <a:ext cx="2286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50" y="0"/>
                </a:moveTo>
                <a:cubicBezTo>
                  <a:pt x="10939" y="0"/>
                  <a:pt x="12150" y="907"/>
                  <a:pt x="12150" y="2025"/>
                </a:cubicBezTo>
                <a:cubicBezTo>
                  <a:pt x="12150" y="2464"/>
                  <a:pt x="11964" y="2869"/>
                  <a:pt x="11644" y="3202"/>
                </a:cubicBezTo>
                <a:cubicBezTo>
                  <a:pt x="11365" y="3493"/>
                  <a:pt x="11138" y="3847"/>
                  <a:pt x="11138" y="4253"/>
                </a:cubicBezTo>
                <a:cubicBezTo>
                  <a:pt x="11138" y="4885"/>
                  <a:pt x="11652" y="5400"/>
                  <a:pt x="12285" y="5400"/>
                </a:cubicBezTo>
                <a:lnTo>
                  <a:pt x="14175" y="5400"/>
                </a:lnTo>
                <a:cubicBezTo>
                  <a:pt x="15293" y="5400"/>
                  <a:pt x="16200" y="6307"/>
                  <a:pt x="16200" y="7425"/>
                </a:cubicBezTo>
                <a:lnTo>
                  <a:pt x="16200" y="9315"/>
                </a:lnTo>
                <a:cubicBezTo>
                  <a:pt x="16200" y="9948"/>
                  <a:pt x="16715" y="10462"/>
                  <a:pt x="17347" y="10462"/>
                </a:cubicBezTo>
                <a:cubicBezTo>
                  <a:pt x="17748" y="10462"/>
                  <a:pt x="18107" y="10235"/>
                  <a:pt x="18398" y="9956"/>
                </a:cubicBezTo>
                <a:cubicBezTo>
                  <a:pt x="18731" y="9640"/>
                  <a:pt x="19136" y="9450"/>
                  <a:pt x="19575" y="9450"/>
                </a:cubicBezTo>
                <a:cubicBezTo>
                  <a:pt x="20693" y="9450"/>
                  <a:pt x="21600" y="10661"/>
                  <a:pt x="21600" y="12150"/>
                </a:cubicBezTo>
                <a:cubicBezTo>
                  <a:pt x="21600" y="13639"/>
                  <a:pt x="20693" y="14850"/>
                  <a:pt x="19575" y="14850"/>
                </a:cubicBezTo>
                <a:cubicBezTo>
                  <a:pt x="19136" y="14850"/>
                  <a:pt x="18727" y="14664"/>
                  <a:pt x="18398" y="14344"/>
                </a:cubicBezTo>
                <a:cubicBezTo>
                  <a:pt x="18107" y="14065"/>
                  <a:pt x="17753" y="13838"/>
                  <a:pt x="17347" y="13838"/>
                </a:cubicBezTo>
                <a:cubicBezTo>
                  <a:pt x="16715" y="13838"/>
                  <a:pt x="16200" y="14352"/>
                  <a:pt x="16200" y="14985"/>
                </a:cubicBezTo>
                <a:lnTo>
                  <a:pt x="16200" y="19575"/>
                </a:lnTo>
                <a:cubicBezTo>
                  <a:pt x="16200" y="20693"/>
                  <a:pt x="15293" y="21600"/>
                  <a:pt x="14175" y="21600"/>
                </a:cubicBezTo>
                <a:lnTo>
                  <a:pt x="11779" y="21600"/>
                </a:lnTo>
                <a:cubicBezTo>
                  <a:pt x="11239" y="21600"/>
                  <a:pt x="10800" y="21161"/>
                  <a:pt x="10800" y="20621"/>
                </a:cubicBezTo>
                <a:cubicBezTo>
                  <a:pt x="10800" y="20233"/>
                  <a:pt x="11045" y="19891"/>
                  <a:pt x="11357" y="19659"/>
                </a:cubicBezTo>
                <a:cubicBezTo>
                  <a:pt x="11846" y="19292"/>
                  <a:pt x="12150" y="18786"/>
                  <a:pt x="12150" y="18225"/>
                </a:cubicBezTo>
                <a:cubicBezTo>
                  <a:pt x="12150" y="17107"/>
                  <a:pt x="10939" y="16200"/>
                  <a:pt x="9450" y="16200"/>
                </a:cubicBezTo>
                <a:cubicBezTo>
                  <a:pt x="7961" y="16200"/>
                  <a:pt x="6750" y="17107"/>
                  <a:pt x="6750" y="18225"/>
                </a:cubicBezTo>
                <a:cubicBezTo>
                  <a:pt x="6750" y="18786"/>
                  <a:pt x="7054" y="19292"/>
                  <a:pt x="7543" y="19659"/>
                </a:cubicBezTo>
                <a:cubicBezTo>
                  <a:pt x="7855" y="19891"/>
                  <a:pt x="8100" y="20229"/>
                  <a:pt x="8100" y="20621"/>
                </a:cubicBezTo>
                <a:cubicBezTo>
                  <a:pt x="8100" y="21161"/>
                  <a:pt x="7661" y="21600"/>
                  <a:pt x="7121" y="21600"/>
                </a:cubicBezTo>
                <a:lnTo>
                  <a:pt x="2025" y="21600"/>
                </a:lnTo>
                <a:cubicBezTo>
                  <a:pt x="907" y="21600"/>
                  <a:pt x="0" y="20693"/>
                  <a:pt x="0" y="19575"/>
                </a:cubicBezTo>
                <a:lnTo>
                  <a:pt x="0" y="14479"/>
                </a:lnTo>
                <a:cubicBezTo>
                  <a:pt x="0" y="13939"/>
                  <a:pt x="439" y="13500"/>
                  <a:pt x="979" y="13500"/>
                </a:cubicBezTo>
                <a:cubicBezTo>
                  <a:pt x="1367" y="13500"/>
                  <a:pt x="1709" y="13745"/>
                  <a:pt x="1941" y="14057"/>
                </a:cubicBezTo>
                <a:cubicBezTo>
                  <a:pt x="2308" y="14546"/>
                  <a:pt x="2814" y="14850"/>
                  <a:pt x="3375" y="14850"/>
                </a:cubicBezTo>
                <a:cubicBezTo>
                  <a:pt x="4493" y="14850"/>
                  <a:pt x="5400" y="13639"/>
                  <a:pt x="5400" y="12150"/>
                </a:cubicBezTo>
                <a:cubicBezTo>
                  <a:pt x="5400" y="10661"/>
                  <a:pt x="4493" y="9450"/>
                  <a:pt x="3375" y="9450"/>
                </a:cubicBezTo>
                <a:cubicBezTo>
                  <a:pt x="2814" y="9450"/>
                  <a:pt x="2308" y="9754"/>
                  <a:pt x="1941" y="10243"/>
                </a:cubicBezTo>
                <a:cubicBezTo>
                  <a:pt x="1709" y="10555"/>
                  <a:pt x="1371" y="10800"/>
                  <a:pt x="979" y="10800"/>
                </a:cubicBezTo>
                <a:cubicBezTo>
                  <a:pt x="439" y="10800"/>
                  <a:pt x="0" y="10361"/>
                  <a:pt x="0" y="9821"/>
                </a:cubicBezTo>
                <a:lnTo>
                  <a:pt x="0" y="7425"/>
                </a:lnTo>
                <a:cubicBezTo>
                  <a:pt x="0" y="6307"/>
                  <a:pt x="907" y="5400"/>
                  <a:pt x="2025" y="5400"/>
                </a:cubicBezTo>
                <a:lnTo>
                  <a:pt x="6615" y="5400"/>
                </a:lnTo>
                <a:cubicBezTo>
                  <a:pt x="7248" y="5400"/>
                  <a:pt x="7762" y="4885"/>
                  <a:pt x="7762" y="4253"/>
                </a:cubicBezTo>
                <a:cubicBezTo>
                  <a:pt x="7762" y="3852"/>
                  <a:pt x="7535" y="3493"/>
                  <a:pt x="7256" y="3202"/>
                </a:cubicBezTo>
                <a:cubicBezTo>
                  <a:pt x="6940" y="2869"/>
                  <a:pt x="6750" y="2464"/>
                  <a:pt x="6750" y="2025"/>
                </a:cubicBezTo>
                <a:cubicBezTo>
                  <a:pt x="6750" y="907"/>
                  <a:pt x="7961" y="0"/>
                  <a:pt x="9450" y="0"/>
                </a:cubicBezTo>
                <a:close/>
              </a:path>
            </a:pathLst>
          </a:custGeom>
          <a:solidFill>
            <a:srgbClr val="B8A9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0" name="Text 13"/>
          <p:cNvSpPr txBox="1"/>
          <p:nvPr/>
        </p:nvSpPr>
        <p:spPr>
          <a:xfrm>
            <a:off x="4737050" y="3467971"/>
            <a:ext cx="2714626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Foundation Matters</a:t>
            </a:r>
          </a:p>
        </p:txBody>
      </p:sp>
      <p:sp>
        <p:nvSpPr>
          <p:cNvPr id="511" name="Text 14"/>
          <p:cNvSpPr txBox="1"/>
          <p:nvPr/>
        </p:nvSpPr>
        <p:spPr>
          <a:xfrm>
            <a:off x="4746575" y="3834876"/>
            <a:ext cx="2695576" cy="712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Understanding data types, patterns, and attributes is </a:t>
            </a:r>
            <a:r>
              <a:rPr b="1">
                <a:solidFill>
                  <a:srgbClr val="B8A9C9"/>
                </a:solidFill>
              </a:rPr>
              <a:t>essential for selecting appropriate mining techniques</a:t>
            </a:r>
          </a:p>
        </p:txBody>
      </p:sp>
      <p:sp>
        <p:nvSpPr>
          <p:cNvPr id="512" name="Shape 15"/>
          <p:cNvSpPr/>
          <p:nvPr/>
        </p:nvSpPr>
        <p:spPr>
          <a:xfrm>
            <a:off x="7878737" y="2519363"/>
            <a:ext cx="3086101" cy="2524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7" y="0"/>
                </a:moveTo>
                <a:lnTo>
                  <a:pt x="20533" y="0"/>
                </a:lnTo>
                <a:cubicBezTo>
                  <a:pt x="21122" y="0"/>
                  <a:pt x="21600" y="584"/>
                  <a:pt x="21600" y="1304"/>
                </a:cubicBezTo>
                <a:lnTo>
                  <a:pt x="21600" y="20296"/>
                </a:lnTo>
                <a:cubicBezTo>
                  <a:pt x="21600" y="21016"/>
                  <a:pt x="21122" y="21600"/>
                  <a:pt x="20533" y="21600"/>
                </a:cubicBezTo>
                <a:lnTo>
                  <a:pt x="1067" y="21600"/>
                </a:lnTo>
                <a:cubicBezTo>
                  <a:pt x="478" y="21600"/>
                  <a:pt x="0" y="21016"/>
                  <a:pt x="0" y="20296"/>
                </a:cubicBezTo>
                <a:lnTo>
                  <a:pt x="0" y="1304"/>
                </a:lnTo>
                <a:cubicBezTo>
                  <a:pt x="0" y="584"/>
                  <a:pt x="478" y="0"/>
                  <a:pt x="106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2700">
            <a:solidFill>
              <a:srgbClr val="E8B4B8">
                <a:alpha val="20000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" name="Shape 16"/>
          <p:cNvSpPr/>
          <p:nvPr/>
        </p:nvSpPr>
        <p:spPr>
          <a:xfrm>
            <a:off x="9156649" y="2752725"/>
            <a:ext cx="533401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0"/>
                </a:moveTo>
                <a:lnTo>
                  <a:pt x="16971" y="0"/>
                </a:lnTo>
                <a:cubicBezTo>
                  <a:pt x="19526" y="0"/>
                  <a:pt x="21600" y="2074"/>
                  <a:pt x="21600" y="4629"/>
                </a:cubicBezTo>
                <a:lnTo>
                  <a:pt x="21600" y="16971"/>
                </a:lnTo>
                <a:cubicBezTo>
                  <a:pt x="21600" y="19526"/>
                  <a:pt x="19526" y="21600"/>
                  <a:pt x="16971" y="21600"/>
                </a:cubicBezTo>
                <a:lnTo>
                  <a:pt x="4629" y="21600"/>
                </a:lnTo>
                <a:cubicBezTo>
                  <a:pt x="2074" y="21600"/>
                  <a:pt x="0" y="19526"/>
                  <a:pt x="0" y="16971"/>
                </a:cubicBezTo>
                <a:lnTo>
                  <a:pt x="0" y="4629"/>
                </a:lnTo>
                <a:cubicBezTo>
                  <a:pt x="0" y="2074"/>
                  <a:pt x="2074" y="0"/>
                  <a:pt x="4629" y="0"/>
                </a:cubicBezTo>
                <a:close/>
              </a:path>
            </a:pathLst>
          </a:custGeom>
          <a:solidFill>
            <a:srgbClr val="E8B4B8">
              <a:alpha val="1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Shape 17"/>
          <p:cNvSpPr/>
          <p:nvPr/>
        </p:nvSpPr>
        <p:spPr>
          <a:xfrm>
            <a:off x="9309049" y="2919413"/>
            <a:ext cx="228601" cy="200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1543"/>
                </a:moveTo>
                <a:cubicBezTo>
                  <a:pt x="2700" y="689"/>
                  <a:pt x="2097" y="0"/>
                  <a:pt x="1350" y="0"/>
                </a:cubicBezTo>
                <a:cubicBezTo>
                  <a:pt x="603" y="0"/>
                  <a:pt x="0" y="689"/>
                  <a:pt x="0" y="1543"/>
                </a:cubicBezTo>
                <a:lnTo>
                  <a:pt x="0" y="17743"/>
                </a:lnTo>
                <a:cubicBezTo>
                  <a:pt x="0" y="19874"/>
                  <a:pt x="1510" y="21600"/>
                  <a:pt x="3375" y="21600"/>
                </a:cubicBezTo>
                <a:lnTo>
                  <a:pt x="20250" y="21600"/>
                </a:lnTo>
                <a:cubicBezTo>
                  <a:pt x="20997" y="21600"/>
                  <a:pt x="21600" y="20911"/>
                  <a:pt x="21600" y="20057"/>
                </a:cubicBezTo>
                <a:cubicBezTo>
                  <a:pt x="21600" y="19204"/>
                  <a:pt x="20997" y="18514"/>
                  <a:pt x="20250" y="18514"/>
                </a:cubicBezTo>
                <a:lnTo>
                  <a:pt x="3375" y="18514"/>
                </a:lnTo>
                <a:cubicBezTo>
                  <a:pt x="3004" y="18514"/>
                  <a:pt x="2700" y="18167"/>
                  <a:pt x="2700" y="17743"/>
                </a:cubicBezTo>
                <a:lnTo>
                  <a:pt x="2700" y="1543"/>
                </a:lnTo>
                <a:close/>
                <a:moveTo>
                  <a:pt x="19853" y="5718"/>
                </a:moveTo>
                <a:cubicBezTo>
                  <a:pt x="20381" y="5115"/>
                  <a:pt x="20381" y="4137"/>
                  <a:pt x="19853" y="3534"/>
                </a:cubicBezTo>
                <a:cubicBezTo>
                  <a:pt x="19326" y="2931"/>
                  <a:pt x="18470" y="2931"/>
                  <a:pt x="17942" y="3534"/>
                </a:cubicBezTo>
                <a:lnTo>
                  <a:pt x="13500" y="8616"/>
                </a:lnTo>
                <a:lnTo>
                  <a:pt x="11078" y="5853"/>
                </a:lnTo>
                <a:cubicBezTo>
                  <a:pt x="10551" y="5251"/>
                  <a:pt x="9695" y="5251"/>
                  <a:pt x="9167" y="5853"/>
                </a:cubicBezTo>
                <a:lnTo>
                  <a:pt x="5117" y="10482"/>
                </a:lnTo>
                <a:cubicBezTo>
                  <a:pt x="4590" y="11084"/>
                  <a:pt x="4590" y="12063"/>
                  <a:pt x="5117" y="12666"/>
                </a:cubicBezTo>
                <a:cubicBezTo>
                  <a:pt x="5645" y="13269"/>
                  <a:pt x="6501" y="13269"/>
                  <a:pt x="7028" y="12666"/>
                </a:cubicBezTo>
                <a:lnTo>
                  <a:pt x="10125" y="9127"/>
                </a:lnTo>
                <a:lnTo>
                  <a:pt x="12547" y="11894"/>
                </a:lnTo>
                <a:cubicBezTo>
                  <a:pt x="13074" y="12497"/>
                  <a:pt x="13930" y="12497"/>
                  <a:pt x="14458" y="11894"/>
                </a:cubicBezTo>
                <a:lnTo>
                  <a:pt x="19858" y="5723"/>
                </a:lnTo>
                <a:close/>
              </a:path>
            </a:pathLst>
          </a:custGeom>
          <a:solidFill>
            <a:srgbClr val="E8B4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Text 18"/>
          <p:cNvSpPr txBox="1"/>
          <p:nvPr/>
        </p:nvSpPr>
        <p:spPr>
          <a:xfrm>
            <a:off x="8064475" y="3467971"/>
            <a:ext cx="2714626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Quality Impact</a:t>
            </a:r>
          </a:p>
        </p:txBody>
      </p:sp>
      <p:sp>
        <p:nvSpPr>
          <p:cNvPr id="516" name="Text 19"/>
          <p:cNvSpPr txBox="1"/>
          <p:nvPr/>
        </p:nvSpPr>
        <p:spPr>
          <a:xfrm>
            <a:off x="8074000" y="3834876"/>
            <a:ext cx="2695576" cy="712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40000"/>
              </a:lnSpc>
              <a:defRPr sz="1200">
                <a:solidFill>
                  <a:srgbClr val="3D3D3D">
                    <a:alpha val="70000"/>
                  </a:srgbClr>
                </a:solidFill>
              </a:defRPr>
            </a:pPr>
            <a:r>
              <a:t>Effective visualization and preprocessing </a:t>
            </a:r>
            <a:r>
              <a:rPr b="1">
                <a:solidFill>
                  <a:srgbClr val="E8B4B8"/>
                </a:solidFill>
              </a:rPr>
              <a:t>directly impact the quality and reliability</a:t>
            </a:r>
            <a:r>
              <a:t> of mining results</a:t>
            </a:r>
          </a:p>
        </p:txBody>
      </p:sp>
      <p:sp>
        <p:nvSpPr>
          <p:cNvPr id="517" name="Shape 20"/>
          <p:cNvSpPr/>
          <p:nvPr/>
        </p:nvSpPr>
        <p:spPr>
          <a:xfrm>
            <a:off x="4397200" y="5434012"/>
            <a:ext cx="3400426" cy="581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5" y="0"/>
                </a:moveTo>
                <a:lnTo>
                  <a:pt x="19755" y="0"/>
                </a:lnTo>
                <a:cubicBezTo>
                  <a:pt x="20773" y="0"/>
                  <a:pt x="21600" y="4839"/>
                  <a:pt x="21600" y="10800"/>
                </a:cubicBezTo>
                <a:cubicBezTo>
                  <a:pt x="21600" y="16761"/>
                  <a:pt x="20773" y="21600"/>
                  <a:pt x="19755" y="21600"/>
                </a:cubicBezTo>
                <a:lnTo>
                  <a:pt x="1845" y="21600"/>
                </a:lnTo>
                <a:cubicBezTo>
                  <a:pt x="827" y="21600"/>
                  <a:pt x="0" y="16761"/>
                  <a:pt x="0" y="10800"/>
                </a:cubicBezTo>
                <a:cubicBezTo>
                  <a:pt x="0" y="4839"/>
                  <a:pt x="827" y="0"/>
                  <a:pt x="1845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2700">
            <a:solidFill>
              <a:srgbClr val="7B9E89">
                <a:alpha val="20000"/>
              </a:srgbClr>
            </a:solidFill>
          </a:ln>
          <a:effectLst>
            <a:outerShdw sx="100000" sy="100000" kx="0" ky="0" algn="b" rotWithShape="0" blurRad="25400" dist="9525" dir="5400000">
              <a:srgbClr val="000000">
                <a:alpha val="10196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" name="Shape 21"/>
          <p:cNvSpPr/>
          <p:nvPr/>
        </p:nvSpPr>
        <p:spPr>
          <a:xfrm>
            <a:off x="4721050" y="5624512"/>
            <a:ext cx="257176" cy="200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00" y="7897"/>
                </a:moveTo>
                <a:lnTo>
                  <a:pt x="9645" y="12049"/>
                </a:lnTo>
                <a:cubicBezTo>
                  <a:pt x="10012" y="12242"/>
                  <a:pt x="10403" y="12343"/>
                  <a:pt x="10800" y="12343"/>
                </a:cubicBezTo>
                <a:cubicBezTo>
                  <a:pt x="11197" y="12343"/>
                  <a:pt x="11588" y="12242"/>
                  <a:pt x="11955" y="12049"/>
                </a:cubicBezTo>
                <a:lnTo>
                  <a:pt x="21045" y="7237"/>
                </a:lnTo>
                <a:cubicBezTo>
                  <a:pt x="21382" y="7059"/>
                  <a:pt x="21600" y="6639"/>
                  <a:pt x="21600" y="6171"/>
                </a:cubicBezTo>
                <a:cubicBezTo>
                  <a:pt x="21600" y="5704"/>
                  <a:pt x="21382" y="5284"/>
                  <a:pt x="21045" y="5106"/>
                </a:cubicBezTo>
                <a:lnTo>
                  <a:pt x="11955" y="294"/>
                </a:lnTo>
                <a:cubicBezTo>
                  <a:pt x="11588" y="101"/>
                  <a:pt x="11197" y="0"/>
                  <a:pt x="10800" y="0"/>
                </a:cubicBezTo>
                <a:cubicBezTo>
                  <a:pt x="10403" y="0"/>
                  <a:pt x="10012" y="101"/>
                  <a:pt x="9645" y="294"/>
                </a:cubicBezTo>
                <a:lnTo>
                  <a:pt x="555" y="5106"/>
                </a:lnTo>
                <a:cubicBezTo>
                  <a:pt x="218" y="5284"/>
                  <a:pt x="0" y="5704"/>
                  <a:pt x="0" y="6171"/>
                </a:cubicBezTo>
                <a:lnTo>
                  <a:pt x="0" y="20443"/>
                </a:lnTo>
                <a:cubicBezTo>
                  <a:pt x="0" y="21084"/>
                  <a:pt x="401" y="21600"/>
                  <a:pt x="900" y="21600"/>
                </a:cubicBezTo>
                <a:cubicBezTo>
                  <a:pt x="1399" y="21600"/>
                  <a:pt x="1800" y="21084"/>
                  <a:pt x="1800" y="20443"/>
                </a:cubicBezTo>
                <a:lnTo>
                  <a:pt x="1800" y="7897"/>
                </a:lnTo>
                <a:close/>
                <a:moveTo>
                  <a:pt x="3600" y="11354"/>
                </a:moveTo>
                <a:lnTo>
                  <a:pt x="3600" y="16971"/>
                </a:lnTo>
                <a:cubicBezTo>
                  <a:pt x="3600" y="19527"/>
                  <a:pt x="6825" y="21600"/>
                  <a:pt x="10800" y="21600"/>
                </a:cubicBezTo>
                <a:cubicBezTo>
                  <a:pt x="14775" y="21600"/>
                  <a:pt x="18000" y="19527"/>
                  <a:pt x="18000" y="16971"/>
                </a:cubicBezTo>
                <a:lnTo>
                  <a:pt x="18000" y="11350"/>
                </a:lnTo>
                <a:lnTo>
                  <a:pt x="12641" y="14189"/>
                </a:lnTo>
                <a:cubicBezTo>
                  <a:pt x="12056" y="14498"/>
                  <a:pt x="11434" y="14657"/>
                  <a:pt x="10800" y="14657"/>
                </a:cubicBezTo>
                <a:cubicBezTo>
                  <a:pt x="10166" y="14657"/>
                  <a:pt x="9544" y="14498"/>
                  <a:pt x="8959" y="14189"/>
                </a:cubicBezTo>
                <a:lnTo>
                  <a:pt x="3600" y="11350"/>
                </a:lnTo>
                <a:close/>
              </a:path>
            </a:pathLst>
          </a:custGeom>
          <a:solidFill>
            <a:srgbClr val="7B9E8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Text 22"/>
          <p:cNvSpPr txBox="1"/>
          <p:nvPr/>
        </p:nvSpPr>
        <p:spPr>
          <a:xfrm>
            <a:off x="5059188" y="5620621"/>
            <a:ext cx="2476501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500">
                <a:solidFill>
                  <a:srgbClr val="3D3D3D"/>
                </a:solidFill>
              </a:defRPr>
            </a:lvl1pPr>
          </a:lstStyle>
          <a:p>
            <a:pPr/>
            <a:r>
              <a:t>Thank you for your attention!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 Them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 Them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