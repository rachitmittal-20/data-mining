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embeddedFontLst>
    <p:embeddedFont>
      <p:font typeface="Quattrocento Sans" charset="-122" pitchFamily="34"/>
      <p:regular r:id="rId27"/>
    </p:embeddedFont>
    <p:embeddedFont>
      <p:font typeface="Hedvig Letters Sans" charset="-122" pitchFamily="34"/>
      <p:regular r:id="rId28"/>
    </p:embeddedFont>
    <p:embeddedFont>
      <p:font typeface="Liter" charset="-122" pitchFamily="34"/>
      <p:regular r:id="rId29"/>
    </p:embeddedFont>
    <p:embeddedFont>
      <p:font typeface="Noto Sans SC" charset="-122" pitchFamily="34"/>
      <p:regular r:id="rId30"/>
    </p:embeddedFont>
    <p:embeddedFont>
      <p:font typeface="MiSans" charset="-122" pitchFamily="34"/>
      <p:regular r:id="rId3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48d0f28e04ae3109befd6db8df9788f4431e7bf3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821" b="82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4A6C8C">
                  <a:alpha val="4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1123950"/>
            <a:ext cx="1009650" cy="419100"/>
          </a:xfrm>
          <a:custGeom>
            <a:avLst/>
            <a:gdLst/>
            <a:ahLst/>
            <a:cxnLst/>
            <a:rect l="l" t="t" r="r" b="b"/>
            <a:pathLst>
              <a:path w="1009650" h="419100">
                <a:moveTo>
                  <a:pt x="0" y="0"/>
                </a:moveTo>
                <a:lnTo>
                  <a:pt x="1009650" y="0"/>
                </a:lnTo>
                <a:lnTo>
                  <a:pt x="100965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>
              <a:alpha val="14902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1123950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1200150"/>
            <a:ext cx="695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Unit 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847850"/>
            <a:ext cx="1177290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Associations and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Correlations in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C8A97E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Data Mining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72440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Discovering hidden patterns in transactional data through association rule mining algorithms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16719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7"/>
          <p:cNvSpPr/>
          <p:nvPr/>
        </p:nvSpPr>
        <p:spPr>
          <a:xfrm>
            <a:off x="733425" y="6210300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Mining &amp; Analytics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986162" y="62484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41039" y="0"/>
                  <a:pt x="35719" y="5321"/>
                  <a:pt x="35719" y="11906"/>
                </a:cubicBezTo>
                <a:lnTo>
                  <a:pt x="35719" y="23812"/>
                </a:lnTo>
                <a:lnTo>
                  <a:pt x="23812" y="23812"/>
                </a:lnTo>
                <a:cubicBezTo>
                  <a:pt x="10678" y="23812"/>
                  <a:pt x="0" y="34491"/>
                  <a:pt x="0" y="47625"/>
                </a:cubicBezTo>
                <a:lnTo>
                  <a:pt x="0" y="65484"/>
                </a:lnTo>
                <a:lnTo>
                  <a:pt x="166688" y="65484"/>
                </a:lnTo>
                <a:lnTo>
                  <a:pt x="166688" y="47625"/>
                </a:lnTo>
                <a:cubicBezTo>
                  <a:pt x="166688" y="34491"/>
                  <a:pt x="156009" y="23812"/>
                  <a:pt x="142875" y="23812"/>
                </a:cubicBezTo>
                <a:lnTo>
                  <a:pt x="130969" y="23812"/>
                </a:lnTo>
                <a:lnTo>
                  <a:pt x="130969" y="11906"/>
                </a:lnTo>
                <a:cubicBezTo>
                  <a:pt x="130969" y="5321"/>
                  <a:pt x="125648" y="0"/>
                  <a:pt x="119063" y="0"/>
                </a:cubicBezTo>
                <a:cubicBezTo>
                  <a:pt x="112477" y="0"/>
                  <a:pt x="107156" y="5321"/>
                  <a:pt x="107156" y="11906"/>
                </a:cubicBezTo>
                <a:lnTo>
                  <a:pt x="107156" y="23812"/>
                </a:lnTo>
                <a:lnTo>
                  <a:pt x="59531" y="23812"/>
                </a:lnTo>
                <a:lnTo>
                  <a:pt x="59531" y="11906"/>
                </a:lnTo>
                <a:cubicBezTo>
                  <a:pt x="59531" y="5321"/>
                  <a:pt x="54211" y="0"/>
                  <a:pt x="47625" y="0"/>
                </a:cubicBezTo>
                <a:close/>
                <a:moveTo>
                  <a:pt x="0" y="83344"/>
                </a:moveTo>
                <a:lnTo>
                  <a:pt x="0" y="154781"/>
                </a:lnTo>
                <a:cubicBezTo>
                  <a:pt x="0" y="167915"/>
                  <a:pt x="10678" y="178594"/>
                  <a:pt x="23812" y="178594"/>
                </a:cubicBezTo>
                <a:lnTo>
                  <a:pt x="142875" y="178594"/>
                </a:lnTo>
                <a:cubicBezTo>
                  <a:pt x="156009" y="178594"/>
                  <a:pt x="166688" y="167915"/>
                  <a:pt x="166688" y="154781"/>
                </a:cubicBezTo>
                <a:lnTo>
                  <a:pt x="166688" y="83344"/>
                </a:lnTo>
                <a:lnTo>
                  <a:pt x="0" y="83344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2" name="Text 9"/>
          <p:cNvSpPr/>
          <p:nvPr/>
        </p:nvSpPr>
        <p:spPr>
          <a:xfrm>
            <a:off x="3302868" y="6210300"/>
            <a:ext cx="466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2026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Navigation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7239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485900"/>
            <a:ext cx="3686175" cy="1647825"/>
          </a:xfrm>
          <a:custGeom>
            <a:avLst/>
            <a:gdLst/>
            <a:ahLst/>
            <a:cxnLst/>
            <a:rect l="l" t="t" r="r" b="b"/>
            <a:pathLst>
              <a:path w="3686175" h="1647825">
                <a:moveTo>
                  <a:pt x="38100" y="0"/>
                </a:moveTo>
                <a:lnTo>
                  <a:pt x="3609980" y="0"/>
                </a:lnTo>
                <a:cubicBezTo>
                  <a:pt x="3652033" y="0"/>
                  <a:pt x="3686175" y="34142"/>
                  <a:pt x="3686175" y="76195"/>
                </a:cubicBezTo>
                <a:lnTo>
                  <a:pt x="3686175" y="1571630"/>
                </a:lnTo>
                <a:cubicBezTo>
                  <a:pt x="3686175" y="1613711"/>
                  <a:pt x="3652061" y="1647825"/>
                  <a:pt x="3609980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48590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7747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5"/>
          <p:cNvSpPr/>
          <p:nvPr/>
        </p:nvSpPr>
        <p:spPr>
          <a:xfrm>
            <a:off x="561975" y="1774775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1100" y="1870025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Basket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346275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purchase patterns and customer behavior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60800" y="1485900"/>
            <a:ext cx="3686175" cy="1647825"/>
          </a:xfrm>
          <a:custGeom>
            <a:avLst/>
            <a:gdLst/>
            <a:ahLst/>
            <a:cxnLst/>
            <a:rect l="l" t="t" r="r" b="b"/>
            <a:pathLst>
              <a:path w="3686175" h="1647825">
                <a:moveTo>
                  <a:pt x="38100" y="0"/>
                </a:moveTo>
                <a:lnTo>
                  <a:pt x="3609980" y="0"/>
                </a:lnTo>
                <a:cubicBezTo>
                  <a:pt x="3652033" y="0"/>
                  <a:pt x="3686175" y="34142"/>
                  <a:pt x="3686175" y="76195"/>
                </a:cubicBezTo>
                <a:lnTo>
                  <a:pt x="3686175" y="1571630"/>
                </a:lnTo>
                <a:cubicBezTo>
                  <a:pt x="3686175" y="1613711"/>
                  <a:pt x="3652061" y="1647825"/>
                  <a:pt x="3609980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1" name="Shape 9"/>
          <p:cNvSpPr/>
          <p:nvPr/>
        </p:nvSpPr>
        <p:spPr>
          <a:xfrm>
            <a:off x="4260800" y="148590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2" name="Shape 10"/>
          <p:cNvSpPr/>
          <p:nvPr/>
        </p:nvSpPr>
        <p:spPr>
          <a:xfrm>
            <a:off x="4470350" y="1898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3" name="Text 11"/>
          <p:cNvSpPr/>
          <p:nvPr/>
        </p:nvSpPr>
        <p:spPr>
          <a:xfrm>
            <a:off x="4422725" y="1898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41850" y="1993850"/>
            <a:ext cx="1524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Apriori Algorithm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70350" y="2470100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classic approach to frequent itemset mining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1625" y="1485900"/>
            <a:ext cx="3686175" cy="1647825"/>
          </a:xfrm>
          <a:custGeom>
            <a:avLst/>
            <a:gdLst/>
            <a:ahLst/>
            <a:cxnLst/>
            <a:rect l="l" t="t" r="r" b="b"/>
            <a:pathLst>
              <a:path w="3686175" h="1647825">
                <a:moveTo>
                  <a:pt x="38100" y="0"/>
                </a:moveTo>
                <a:lnTo>
                  <a:pt x="3609980" y="0"/>
                </a:lnTo>
                <a:cubicBezTo>
                  <a:pt x="3652033" y="0"/>
                  <a:pt x="3686175" y="34142"/>
                  <a:pt x="3686175" y="76195"/>
                </a:cubicBezTo>
                <a:lnTo>
                  <a:pt x="3686175" y="1571630"/>
                </a:lnTo>
                <a:cubicBezTo>
                  <a:pt x="3686175" y="1613711"/>
                  <a:pt x="3652061" y="1647825"/>
                  <a:pt x="3609980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7" name="Shape 15"/>
          <p:cNvSpPr/>
          <p:nvPr/>
        </p:nvSpPr>
        <p:spPr>
          <a:xfrm>
            <a:off x="8121625" y="1485900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8" name="Shape 16"/>
          <p:cNvSpPr/>
          <p:nvPr/>
        </p:nvSpPr>
        <p:spPr>
          <a:xfrm>
            <a:off x="8331175" y="18986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9" name="Text 17"/>
          <p:cNvSpPr/>
          <p:nvPr/>
        </p:nvSpPr>
        <p:spPr>
          <a:xfrm>
            <a:off x="8283550" y="18986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902675" y="1993850"/>
            <a:ext cx="1885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FP-Growth Algorithm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331175" y="2470100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Mining without candidate generation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00050" y="3282925"/>
            <a:ext cx="3686175" cy="1647825"/>
          </a:xfrm>
          <a:custGeom>
            <a:avLst/>
            <a:gdLst/>
            <a:ahLst/>
            <a:cxnLst/>
            <a:rect l="l" t="t" r="r" b="b"/>
            <a:pathLst>
              <a:path w="3686175" h="1647825">
                <a:moveTo>
                  <a:pt x="38100" y="0"/>
                </a:moveTo>
                <a:lnTo>
                  <a:pt x="3609980" y="0"/>
                </a:lnTo>
                <a:cubicBezTo>
                  <a:pt x="3652033" y="0"/>
                  <a:pt x="3686175" y="34142"/>
                  <a:pt x="3686175" y="76195"/>
                </a:cubicBezTo>
                <a:lnTo>
                  <a:pt x="3686175" y="1571630"/>
                </a:lnTo>
                <a:cubicBezTo>
                  <a:pt x="3686175" y="1613711"/>
                  <a:pt x="3652061" y="1647825"/>
                  <a:pt x="3609980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23" name="Shape 21"/>
          <p:cNvSpPr/>
          <p:nvPr/>
        </p:nvSpPr>
        <p:spPr>
          <a:xfrm>
            <a:off x="400050" y="3282925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4" name="Shape 22"/>
          <p:cNvSpPr/>
          <p:nvPr/>
        </p:nvSpPr>
        <p:spPr>
          <a:xfrm>
            <a:off x="609600" y="36956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Text 23"/>
          <p:cNvSpPr/>
          <p:nvPr/>
        </p:nvSpPr>
        <p:spPr>
          <a:xfrm>
            <a:off x="561975" y="3695626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81100" y="3790876"/>
            <a:ext cx="1552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ECLAT Algorithm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9600" y="4267126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 data format mining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60800" y="3282925"/>
            <a:ext cx="3686175" cy="1647825"/>
          </a:xfrm>
          <a:custGeom>
            <a:avLst/>
            <a:gdLst/>
            <a:ahLst/>
            <a:cxnLst/>
            <a:rect l="l" t="t" r="r" b="b"/>
            <a:pathLst>
              <a:path w="3686175" h="1647825">
                <a:moveTo>
                  <a:pt x="38100" y="0"/>
                </a:moveTo>
                <a:lnTo>
                  <a:pt x="3609980" y="0"/>
                </a:lnTo>
                <a:cubicBezTo>
                  <a:pt x="3652033" y="0"/>
                  <a:pt x="3686175" y="34142"/>
                  <a:pt x="3686175" y="76195"/>
                </a:cubicBezTo>
                <a:lnTo>
                  <a:pt x="3686175" y="1571630"/>
                </a:lnTo>
                <a:cubicBezTo>
                  <a:pt x="3686175" y="1613711"/>
                  <a:pt x="3652061" y="1647825"/>
                  <a:pt x="3609980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29" name="Shape 27"/>
          <p:cNvSpPr/>
          <p:nvPr/>
        </p:nvSpPr>
        <p:spPr>
          <a:xfrm>
            <a:off x="4260800" y="3282925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Shape 28"/>
          <p:cNvSpPr/>
          <p:nvPr/>
        </p:nvSpPr>
        <p:spPr>
          <a:xfrm>
            <a:off x="4470350" y="3695626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1" name="Text 29"/>
          <p:cNvSpPr/>
          <p:nvPr/>
        </p:nvSpPr>
        <p:spPr>
          <a:xfrm>
            <a:off x="4422725" y="3695626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41850" y="3790876"/>
            <a:ext cx="2247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Closed Frequent Itemsets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470350" y="4267126"/>
            <a:ext cx="336232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CHARM algorithm for non-redundant mining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1625" y="3282925"/>
            <a:ext cx="3686175" cy="1647825"/>
          </a:xfrm>
          <a:custGeom>
            <a:avLst/>
            <a:gdLst/>
            <a:ahLst/>
            <a:cxnLst/>
            <a:rect l="l" t="t" r="r" b="b"/>
            <a:pathLst>
              <a:path w="3686175" h="1647825">
                <a:moveTo>
                  <a:pt x="38100" y="0"/>
                </a:moveTo>
                <a:lnTo>
                  <a:pt x="3609980" y="0"/>
                </a:lnTo>
                <a:cubicBezTo>
                  <a:pt x="3652033" y="0"/>
                  <a:pt x="3686175" y="34142"/>
                  <a:pt x="3686175" y="76195"/>
                </a:cubicBezTo>
                <a:lnTo>
                  <a:pt x="3686175" y="1571630"/>
                </a:lnTo>
                <a:cubicBezTo>
                  <a:pt x="3686175" y="1613711"/>
                  <a:pt x="3652061" y="1647825"/>
                  <a:pt x="3609980" y="1647825"/>
                </a:cubicBez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35" name="Shape 33"/>
          <p:cNvSpPr/>
          <p:nvPr/>
        </p:nvSpPr>
        <p:spPr>
          <a:xfrm>
            <a:off x="8121625" y="3282925"/>
            <a:ext cx="38100" cy="1647825"/>
          </a:xfrm>
          <a:custGeom>
            <a:avLst/>
            <a:gdLst/>
            <a:ahLst/>
            <a:cxnLst/>
            <a:rect l="l" t="t" r="r" b="b"/>
            <a:pathLst>
              <a:path w="38100" h="1647825">
                <a:moveTo>
                  <a:pt x="38100" y="0"/>
                </a:moveTo>
                <a:lnTo>
                  <a:pt x="38100" y="0"/>
                </a:lnTo>
                <a:lnTo>
                  <a:pt x="38100" y="1647825"/>
                </a:lnTo>
                <a:lnTo>
                  <a:pt x="38100" y="1647825"/>
                </a:lnTo>
                <a:cubicBezTo>
                  <a:pt x="17072" y="1647825"/>
                  <a:pt x="0" y="1630753"/>
                  <a:pt x="0" y="160972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6" name="Shape 34"/>
          <p:cNvSpPr/>
          <p:nvPr/>
        </p:nvSpPr>
        <p:spPr>
          <a:xfrm>
            <a:off x="8331175" y="3571801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7" name="Text 35"/>
          <p:cNvSpPr/>
          <p:nvPr/>
        </p:nvSpPr>
        <p:spPr>
          <a:xfrm>
            <a:off x="8283550" y="3571801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902675" y="3667051"/>
            <a:ext cx="1971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Advanced Rule Mining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331175" y="4143301"/>
            <a:ext cx="33623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Multilevel, multidimensional &amp; correlation analysis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00050" y="5079950"/>
            <a:ext cx="11410950" cy="1400175"/>
          </a:xfrm>
          <a:custGeom>
            <a:avLst/>
            <a:gdLst/>
            <a:ahLst/>
            <a:cxnLst/>
            <a:rect l="l" t="t" r="r" b="b"/>
            <a:pathLst>
              <a:path w="11410950" h="1400175">
                <a:moveTo>
                  <a:pt x="38100" y="0"/>
                </a:moveTo>
                <a:lnTo>
                  <a:pt x="11334752" y="0"/>
                </a:lnTo>
                <a:cubicBezTo>
                  <a:pt x="11376835" y="0"/>
                  <a:pt x="11410950" y="34115"/>
                  <a:pt x="11410950" y="76198"/>
                </a:cubicBezTo>
                <a:lnTo>
                  <a:pt x="11410950" y="1323977"/>
                </a:lnTo>
                <a:cubicBezTo>
                  <a:pt x="11410950" y="1366060"/>
                  <a:pt x="11376835" y="1400175"/>
                  <a:pt x="11334752" y="1400175"/>
                </a:cubicBezTo>
                <a:lnTo>
                  <a:pt x="38100" y="1400175"/>
                </a:lnTo>
                <a:cubicBezTo>
                  <a:pt x="17072" y="1400175"/>
                  <a:pt x="0" y="1383103"/>
                  <a:pt x="0" y="1362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41" name="Shape 39"/>
          <p:cNvSpPr/>
          <p:nvPr/>
        </p:nvSpPr>
        <p:spPr>
          <a:xfrm>
            <a:off x="400050" y="5079950"/>
            <a:ext cx="38100" cy="1400175"/>
          </a:xfrm>
          <a:custGeom>
            <a:avLst/>
            <a:gdLst/>
            <a:ahLst/>
            <a:cxnLst/>
            <a:rect l="l" t="t" r="r" b="b"/>
            <a:pathLst>
              <a:path w="38100" h="1400175">
                <a:moveTo>
                  <a:pt x="38100" y="0"/>
                </a:moveTo>
                <a:lnTo>
                  <a:pt x="38100" y="0"/>
                </a:lnTo>
                <a:lnTo>
                  <a:pt x="38100" y="1400175"/>
                </a:lnTo>
                <a:lnTo>
                  <a:pt x="38100" y="1400175"/>
                </a:lnTo>
                <a:cubicBezTo>
                  <a:pt x="17072" y="1400175"/>
                  <a:pt x="0" y="1383103"/>
                  <a:pt x="0" y="136207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2" name="Shape 40"/>
          <p:cNvSpPr/>
          <p:nvPr/>
        </p:nvSpPr>
        <p:spPr>
          <a:xfrm>
            <a:off x="609600" y="53689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3" name="Text 41"/>
          <p:cNvSpPr/>
          <p:nvPr/>
        </p:nvSpPr>
        <p:spPr>
          <a:xfrm>
            <a:off x="561975" y="53689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81100" y="5464150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Constraint-Based Mining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09600" y="5940400"/>
            <a:ext cx="11087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Incorporating user constraints into the mining process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6855efa74301e76968ef3e25d5d9bde4de14a5a9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865" b="786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4479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Text 2"/>
          <p:cNvSpPr/>
          <p:nvPr/>
        </p:nvSpPr>
        <p:spPr>
          <a:xfrm>
            <a:off x="266700" y="2447925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4000" y="25241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4"/>
          <p:cNvSpPr/>
          <p:nvPr/>
        </p:nvSpPr>
        <p:spPr>
          <a:xfrm>
            <a:off x="1790700" y="2019300"/>
            <a:ext cx="3848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90700" y="2362200"/>
            <a:ext cx="40386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Market Basket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Analysis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409575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Understanding purchase patterns and customer behavior through association rule mining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Basket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Core Concepts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6162675" cy="2362200"/>
          </a:xfrm>
          <a:custGeom>
            <a:avLst/>
            <a:gdLst/>
            <a:ahLst/>
            <a:cxnLst/>
            <a:rect l="l" t="t" r="r" b="b"/>
            <a:pathLst>
              <a:path w="6162675" h="2362200">
                <a:moveTo>
                  <a:pt x="38100" y="0"/>
                </a:moveTo>
                <a:lnTo>
                  <a:pt x="6086470" y="0"/>
                </a:lnTo>
                <a:cubicBezTo>
                  <a:pt x="6128529" y="0"/>
                  <a:pt x="6162675" y="34146"/>
                  <a:pt x="6162675" y="76205"/>
                </a:cubicBezTo>
                <a:lnTo>
                  <a:pt x="6162675" y="2285995"/>
                </a:lnTo>
                <a:cubicBezTo>
                  <a:pt x="6162675" y="2328082"/>
                  <a:pt x="6128557" y="2362200"/>
                  <a:pt x="6086470" y="2362200"/>
                </a:cubicBez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257300"/>
            <a:ext cx="38100" cy="2362200"/>
          </a:xfrm>
          <a:custGeom>
            <a:avLst/>
            <a:gdLst/>
            <a:ahLst/>
            <a:cxnLst/>
            <a:rect l="l" t="t" r="r" b="b"/>
            <a:pathLst>
              <a:path w="38100" h="2362200">
                <a:moveTo>
                  <a:pt x="38100" y="0"/>
                </a:moveTo>
                <a:lnTo>
                  <a:pt x="38100" y="0"/>
                </a:lnTo>
                <a:lnTo>
                  <a:pt x="38100" y="2362200"/>
                </a:lnTo>
                <a:lnTo>
                  <a:pt x="38100" y="2362200"/>
                </a:lnTo>
                <a:cubicBezTo>
                  <a:pt x="17072" y="2362200"/>
                  <a:pt x="0" y="2345128"/>
                  <a:pt x="0" y="2324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609600" y="14859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8930" y="-5953"/>
                </a:moveTo>
                <a:cubicBezTo>
                  <a:pt x="3981" y="-5953"/>
                  <a:pt x="0" y="-1972"/>
                  <a:pt x="0" y="2977"/>
                </a:cubicBezTo>
                <a:cubicBezTo>
                  <a:pt x="0" y="7925"/>
                  <a:pt x="3981" y="11906"/>
                  <a:pt x="8930" y="11906"/>
                </a:cubicBezTo>
                <a:lnTo>
                  <a:pt x="25784" y="11906"/>
                </a:lnTo>
                <a:cubicBezTo>
                  <a:pt x="27236" y="11906"/>
                  <a:pt x="28463" y="12948"/>
                  <a:pt x="28724" y="14362"/>
                </a:cubicBezTo>
                <a:lnTo>
                  <a:pt x="48109" y="120886"/>
                </a:lnTo>
                <a:cubicBezTo>
                  <a:pt x="50416" y="133610"/>
                  <a:pt x="61503" y="142875"/>
                  <a:pt x="74451" y="142875"/>
                </a:cubicBezTo>
                <a:lnTo>
                  <a:pt x="169664" y="142875"/>
                </a:lnTo>
                <a:cubicBezTo>
                  <a:pt x="174613" y="142875"/>
                  <a:pt x="178594" y="138894"/>
                  <a:pt x="178594" y="133945"/>
                </a:cubicBezTo>
                <a:cubicBezTo>
                  <a:pt x="178594" y="128997"/>
                  <a:pt x="174613" y="125016"/>
                  <a:pt x="169664" y="125016"/>
                </a:cubicBezTo>
                <a:lnTo>
                  <a:pt x="74451" y="125016"/>
                </a:lnTo>
                <a:cubicBezTo>
                  <a:pt x="70135" y="125016"/>
                  <a:pt x="66452" y="121927"/>
                  <a:pt x="65670" y="117686"/>
                </a:cubicBezTo>
                <a:lnTo>
                  <a:pt x="63773" y="107156"/>
                </a:lnTo>
                <a:lnTo>
                  <a:pt x="176733" y="107156"/>
                </a:lnTo>
                <a:cubicBezTo>
                  <a:pt x="188193" y="107156"/>
                  <a:pt x="198016" y="99008"/>
                  <a:pt x="200137" y="87734"/>
                </a:cubicBezTo>
                <a:lnTo>
                  <a:pt x="211671" y="26008"/>
                </a:lnTo>
                <a:cubicBezTo>
                  <a:pt x="213047" y="18678"/>
                  <a:pt x="207429" y="11906"/>
                  <a:pt x="199951" y="11906"/>
                </a:cubicBezTo>
                <a:lnTo>
                  <a:pt x="46397" y="11906"/>
                </a:lnTo>
                <a:lnTo>
                  <a:pt x="46248" y="11162"/>
                </a:lnTo>
                <a:cubicBezTo>
                  <a:pt x="44462" y="1265"/>
                  <a:pt x="35830" y="-5953"/>
                  <a:pt x="25747" y="-5953"/>
                </a:cubicBezTo>
                <a:lnTo>
                  <a:pt x="8930" y="-5953"/>
                </a:lnTo>
                <a:close/>
                <a:moveTo>
                  <a:pt x="77391" y="190500"/>
                </a:moveTo>
                <a:cubicBezTo>
                  <a:pt x="87247" y="190500"/>
                  <a:pt x="95250" y="182497"/>
                  <a:pt x="95250" y="172641"/>
                </a:cubicBezTo>
                <a:cubicBezTo>
                  <a:pt x="95250" y="162784"/>
                  <a:pt x="87247" y="154781"/>
                  <a:pt x="77391" y="154781"/>
                </a:cubicBezTo>
                <a:cubicBezTo>
                  <a:pt x="67534" y="154781"/>
                  <a:pt x="59531" y="162784"/>
                  <a:pt x="59531" y="172641"/>
                </a:cubicBezTo>
                <a:cubicBezTo>
                  <a:pt x="59531" y="182497"/>
                  <a:pt x="67534" y="190500"/>
                  <a:pt x="77391" y="190500"/>
                </a:cubicBezTo>
                <a:close/>
                <a:moveTo>
                  <a:pt x="160734" y="190500"/>
                </a:moveTo>
                <a:cubicBezTo>
                  <a:pt x="170591" y="190500"/>
                  <a:pt x="178594" y="182497"/>
                  <a:pt x="178594" y="172641"/>
                </a:cubicBezTo>
                <a:cubicBezTo>
                  <a:pt x="178594" y="162784"/>
                  <a:pt x="170591" y="154781"/>
                  <a:pt x="160734" y="154781"/>
                </a:cubicBezTo>
                <a:cubicBezTo>
                  <a:pt x="150878" y="154781"/>
                  <a:pt x="142875" y="162784"/>
                  <a:pt x="142875" y="172641"/>
                </a:cubicBezTo>
                <a:cubicBezTo>
                  <a:pt x="142875" y="182497"/>
                  <a:pt x="150878" y="190500"/>
                  <a:pt x="160734" y="19050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5"/>
          <p:cNvSpPr/>
          <p:nvPr/>
        </p:nvSpPr>
        <p:spPr>
          <a:xfrm>
            <a:off x="847725" y="1447800"/>
            <a:ext cx="5619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Market Basket Analysis?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09600" y="1828800"/>
            <a:ext cx="58388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Market Basket Analysis (MBA)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data mining technique used to uncover purchase patterns by analyzing combinations of products bought together. It identifies frequent itemsets and generates association rules to reveal customer purchasing behavior.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09600" y="2686050"/>
            <a:ext cx="583882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Originally developed for retail, MBA now powers recommendation engines at Amazon, Netflix, and Spotify, helping businesses optimize inventory, cross-selling, and marketing strategies.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771900"/>
            <a:ext cx="6181725" cy="1943100"/>
          </a:xfrm>
          <a:custGeom>
            <a:avLst/>
            <a:gdLst/>
            <a:ahLst/>
            <a:cxnLst/>
            <a:rect l="l" t="t" r="r" b="b"/>
            <a:pathLst>
              <a:path w="6181725" h="1943100">
                <a:moveTo>
                  <a:pt x="76208" y="0"/>
                </a:moveTo>
                <a:lnTo>
                  <a:pt x="6105517" y="0"/>
                </a:lnTo>
                <a:cubicBezTo>
                  <a:pt x="6147605" y="0"/>
                  <a:pt x="6181725" y="34120"/>
                  <a:pt x="6181725" y="76208"/>
                </a:cubicBezTo>
                <a:lnTo>
                  <a:pt x="6181725" y="1866892"/>
                </a:lnTo>
                <a:cubicBezTo>
                  <a:pt x="6181725" y="1908980"/>
                  <a:pt x="6147605" y="1943100"/>
                  <a:pt x="6105517" y="1943100"/>
                </a:cubicBezTo>
                <a:lnTo>
                  <a:pt x="76208" y="1943100"/>
                </a:lnTo>
                <a:cubicBezTo>
                  <a:pt x="34120" y="1943100"/>
                  <a:pt x="0" y="1908980"/>
                  <a:pt x="0" y="1866892"/>
                </a:cubicBezTo>
                <a:lnTo>
                  <a:pt x="0" y="76208"/>
                </a:lnTo>
                <a:cubicBezTo>
                  <a:pt x="0" y="34148"/>
                  <a:pt x="34148" y="0"/>
                  <a:pt x="76208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1" name="Text 9"/>
          <p:cNvSpPr/>
          <p:nvPr/>
        </p:nvSpPr>
        <p:spPr>
          <a:xfrm>
            <a:off x="571500" y="3962400"/>
            <a:ext cx="5895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Association Rule Structure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" y="4343400"/>
            <a:ext cx="5800725" cy="571500"/>
          </a:xfrm>
          <a:custGeom>
            <a:avLst/>
            <a:gdLst/>
            <a:ahLst/>
            <a:cxnLst/>
            <a:rect l="l" t="t" r="r" b="b"/>
            <a:pathLst>
              <a:path w="5800725" h="571500">
                <a:moveTo>
                  <a:pt x="76198" y="0"/>
                </a:moveTo>
                <a:lnTo>
                  <a:pt x="5724527" y="0"/>
                </a:lnTo>
                <a:cubicBezTo>
                  <a:pt x="5766610" y="0"/>
                  <a:pt x="5800725" y="34115"/>
                  <a:pt x="5800725" y="76198"/>
                </a:cubicBezTo>
                <a:lnTo>
                  <a:pt x="5800725" y="495302"/>
                </a:lnTo>
                <a:cubicBezTo>
                  <a:pt x="5800725" y="537385"/>
                  <a:pt x="5766610" y="571500"/>
                  <a:pt x="5724527" y="571500"/>
                </a:cubicBezTo>
                <a:lnTo>
                  <a:pt x="76198" y="571500"/>
                </a:lnTo>
                <a:cubicBezTo>
                  <a:pt x="34115" y="571500"/>
                  <a:pt x="0" y="537385"/>
                  <a:pt x="0" y="49530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3" name="Text 11"/>
          <p:cNvSpPr/>
          <p:nvPr/>
        </p:nvSpPr>
        <p:spPr>
          <a:xfrm>
            <a:off x="1885801" y="449580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C8A97E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{Antecedent}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14489" y="449580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788A9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81636" y="4495800"/>
            <a:ext cx="1466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4A6C8C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{Consequent}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1500" y="50292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(Antecedent)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1500" y="52959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Item(s) found in data that trigger the rule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48063" y="50292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THEN (Consequent)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548063" y="5295900"/>
            <a:ext cx="2905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Item(s) likely purchased with antecedent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753225" y="1257300"/>
            <a:ext cx="5057775" cy="4057650"/>
          </a:xfrm>
          <a:custGeom>
            <a:avLst/>
            <a:gdLst/>
            <a:ahLst/>
            <a:cxnLst/>
            <a:rect l="l" t="t" r="r" b="b"/>
            <a:pathLst>
              <a:path w="5057775" h="4057650">
                <a:moveTo>
                  <a:pt x="76203" y="0"/>
                </a:moveTo>
                <a:lnTo>
                  <a:pt x="4981572" y="0"/>
                </a:lnTo>
                <a:cubicBezTo>
                  <a:pt x="5023658" y="0"/>
                  <a:pt x="5057775" y="34117"/>
                  <a:pt x="5057775" y="76203"/>
                </a:cubicBezTo>
                <a:lnTo>
                  <a:pt x="5057775" y="3981447"/>
                </a:lnTo>
                <a:cubicBezTo>
                  <a:pt x="5057775" y="4023533"/>
                  <a:pt x="5023658" y="4057650"/>
                  <a:pt x="4981572" y="4057650"/>
                </a:cubicBezTo>
                <a:lnTo>
                  <a:pt x="76203" y="4057650"/>
                </a:lnTo>
                <a:cubicBezTo>
                  <a:pt x="34117" y="4057650"/>
                  <a:pt x="0" y="4023533"/>
                  <a:pt x="0" y="398144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21" name="Text 19"/>
          <p:cNvSpPr/>
          <p:nvPr/>
        </p:nvSpPr>
        <p:spPr>
          <a:xfrm>
            <a:off x="6943725" y="1447800"/>
            <a:ext cx="477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943725" y="1905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7058025" y="20193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9138" y="21521"/>
                </a:moveTo>
                <a:cubicBezTo>
                  <a:pt x="11192" y="14407"/>
                  <a:pt x="17711" y="9525"/>
                  <a:pt x="25122" y="9525"/>
                </a:cubicBezTo>
                <a:lnTo>
                  <a:pt x="127516" y="9525"/>
                </a:lnTo>
                <a:cubicBezTo>
                  <a:pt x="134928" y="9525"/>
                  <a:pt x="141446" y="14407"/>
                  <a:pt x="143530" y="21521"/>
                </a:cubicBezTo>
                <a:lnTo>
                  <a:pt x="150495" y="45393"/>
                </a:lnTo>
                <a:cubicBezTo>
                  <a:pt x="154305" y="58400"/>
                  <a:pt x="144512" y="71438"/>
                  <a:pt x="130969" y="71438"/>
                </a:cubicBezTo>
                <a:cubicBezTo>
                  <a:pt x="123140" y="71438"/>
                  <a:pt x="116265" y="67002"/>
                  <a:pt x="112871" y="60394"/>
                </a:cubicBezTo>
                <a:cubicBezTo>
                  <a:pt x="109418" y="66913"/>
                  <a:pt x="102572" y="71438"/>
                  <a:pt x="94595" y="71438"/>
                </a:cubicBezTo>
                <a:cubicBezTo>
                  <a:pt x="86678" y="71438"/>
                  <a:pt x="79802" y="66973"/>
                  <a:pt x="76349" y="60424"/>
                </a:cubicBezTo>
                <a:cubicBezTo>
                  <a:pt x="72896" y="66973"/>
                  <a:pt x="66020" y="71438"/>
                  <a:pt x="58103" y="71438"/>
                </a:cubicBezTo>
                <a:cubicBezTo>
                  <a:pt x="50125" y="71438"/>
                  <a:pt x="43279" y="66943"/>
                  <a:pt x="39826" y="60394"/>
                </a:cubicBezTo>
                <a:cubicBezTo>
                  <a:pt x="36433" y="66973"/>
                  <a:pt x="29557" y="71438"/>
                  <a:pt x="21729" y="71438"/>
                </a:cubicBezTo>
                <a:cubicBezTo>
                  <a:pt x="8156" y="71438"/>
                  <a:pt x="-1607" y="58430"/>
                  <a:pt x="2203" y="45393"/>
                </a:cubicBezTo>
                <a:lnTo>
                  <a:pt x="9138" y="21521"/>
                </a:lnTo>
                <a:close/>
                <a:moveTo>
                  <a:pt x="28694" y="104775"/>
                </a:moveTo>
                <a:lnTo>
                  <a:pt x="123944" y="104775"/>
                </a:lnTo>
                <a:lnTo>
                  <a:pt x="123944" y="85011"/>
                </a:lnTo>
                <a:cubicBezTo>
                  <a:pt x="126206" y="85487"/>
                  <a:pt x="128558" y="85725"/>
                  <a:pt x="130939" y="85725"/>
                </a:cubicBezTo>
                <a:cubicBezTo>
                  <a:pt x="135195" y="85725"/>
                  <a:pt x="139273" y="84951"/>
                  <a:pt x="142994" y="83582"/>
                </a:cubicBezTo>
                <a:lnTo>
                  <a:pt x="142994" y="128588"/>
                </a:lnTo>
                <a:cubicBezTo>
                  <a:pt x="142994" y="136475"/>
                  <a:pt x="136594" y="142875"/>
                  <a:pt x="128707" y="142875"/>
                </a:cubicBezTo>
                <a:lnTo>
                  <a:pt x="23932" y="142875"/>
                </a:lnTo>
                <a:cubicBezTo>
                  <a:pt x="16044" y="142875"/>
                  <a:pt x="9644" y="136475"/>
                  <a:pt x="9644" y="128588"/>
                </a:cubicBezTo>
                <a:lnTo>
                  <a:pt x="9644" y="83582"/>
                </a:lnTo>
                <a:cubicBezTo>
                  <a:pt x="13365" y="84951"/>
                  <a:pt x="17413" y="85725"/>
                  <a:pt x="21699" y="85725"/>
                </a:cubicBezTo>
                <a:cubicBezTo>
                  <a:pt x="24110" y="85725"/>
                  <a:pt x="26432" y="85487"/>
                  <a:pt x="28694" y="85011"/>
                </a:cubicBezTo>
                <a:lnTo>
                  <a:pt x="28694" y="104775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4" name="Text 22"/>
          <p:cNvSpPr/>
          <p:nvPr/>
        </p:nvSpPr>
        <p:spPr>
          <a:xfrm>
            <a:off x="7439025" y="1866900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Retail &amp; E-commerce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39025" y="2095500"/>
            <a:ext cx="4257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 recommendations, shelf placement optimization, bundle offers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43725" y="2705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058025" y="2819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20" y="4286"/>
                </a:moveTo>
                <a:cubicBezTo>
                  <a:pt x="18782" y="1845"/>
                  <a:pt x="16728" y="0"/>
                  <a:pt x="14288" y="0"/>
                </a:cubicBezTo>
                <a:cubicBezTo>
                  <a:pt x="11847" y="0"/>
                  <a:pt x="9793" y="1845"/>
                  <a:pt x="9525" y="4256"/>
                </a:cubicBezTo>
                <a:lnTo>
                  <a:pt x="5328" y="44559"/>
                </a:lnTo>
                <a:cubicBezTo>
                  <a:pt x="4941" y="46345"/>
                  <a:pt x="4763" y="48161"/>
                  <a:pt x="4763" y="49976"/>
                </a:cubicBezTo>
                <a:cubicBezTo>
                  <a:pt x="4763" y="63639"/>
                  <a:pt x="15210" y="74861"/>
                  <a:pt x="28575" y="76081"/>
                </a:cubicBezTo>
                <a:lnTo>
                  <a:pt x="28575" y="142875"/>
                </a:lnTo>
                <a:cubicBezTo>
                  <a:pt x="28575" y="148144"/>
                  <a:pt x="32831" y="152400"/>
                  <a:pt x="38100" y="152400"/>
                </a:cubicBezTo>
                <a:cubicBezTo>
                  <a:pt x="43369" y="152400"/>
                  <a:pt x="47625" y="148144"/>
                  <a:pt x="47625" y="142875"/>
                </a:cubicBezTo>
                <a:lnTo>
                  <a:pt x="47625" y="76081"/>
                </a:lnTo>
                <a:cubicBezTo>
                  <a:pt x="60990" y="74861"/>
                  <a:pt x="71438" y="63639"/>
                  <a:pt x="71438" y="49976"/>
                </a:cubicBezTo>
                <a:cubicBezTo>
                  <a:pt x="71438" y="48161"/>
                  <a:pt x="71259" y="46345"/>
                  <a:pt x="70872" y="44559"/>
                </a:cubicBezTo>
                <a:lnTo>
                  <a:pt x="66645" y="4256"/>
                </a:lnTo>
                <a:cubicBezTo>
                  <a:pt x="66407" y="1845"/>
                  <a:pt x="64353" y="0"/>
                  <a:pt x="61912" y="0"/>
                </a:cubicBezTo>
                <a:cubicBezTo>
                  <a:pt x="59472" y="0"/>
                  <a:pt x="57418" y="1845"/>
                  <a:pt x="57180" y="4286"/>
                </a:cubicBezTo>
                <a:lnTo>
                  <a:pt x="53132" y="44619"/>
                </a:lnTo>
                <a:cubicBezTo>
                  <a:pt x="52953" y="46315"/>
                  <a:pt x="51524" y="47625"/>
                  <a:pt x="49828" y="47625"/>
                </a:cubicBezTo>
                <a:cubicBezTo>
                  <a:pt x="48101" y="47625"/>
                  <a:pt x="46673" y="46315"/>
                  <a:pt x="46494" y="44589"/>
                </a:cubicBezTo>
                <a:lnTo>
                  <a:pt x="42833" y="4346"/>
                </a:lnTo>
                <a:cubicBezTo>
                  <a:pt x="42624" y="1875"/>
                  <a:pt x="40571" y="0"/>
                  <a:pt x="38100" y="0"/>
                </a:cubicBezTo>
                <a:cubicBezTo>
                  <a:pt x="35629" y="0"/>
                  <a:pt x="33576" y="1875"/>
                  <a:pt x="33367" y="4346"/>
                </a:cubicBezTo>
                <a:lnTo>
                  <a:pt x="29706" y="44589"/>
                </a:lnTo>
                <a:cubicBezTo>
                  <a:pt x="29557" y="46315"/>
                  <a:pt x="28099" y="47625"/>
                  <a:pt x="26372" y="47625"/>
                </a:cubicBezTo>
                <a:cubicBezTo>
                  <a:pt x="24646" y="47625"/>
                  <a:pt x="23217" y="46315"/>
                  <a:pt x="23068" y="44619"/>
                </a:cubicBezTo>
                <a:lnTo>
                  <a:pt x="19020" y="4286"/>
                </a:lnTo>
                <a:close/>
                <a:moveTo>
                  <a:pt x="133350" y="0"/>
                </a:moveTo>
                <a:cubicBezTo>
                  <a:pt x="128588" y="0"/>
                  <a:pt x="95250" y="9525"/>
                  <a:pt x="95250" y="52388"/>
                </a:cubicBezTo>
                <a:lnTo>
                  <a:pt x="95250" y="85725"/>
                </a:lnTo>
                <a:cubicBezTo>
                  <a:pt x="95250" y="96232"/>
                  <a:pt x="103793" y="104775"/>
                  <a:pt x="114300" y="104775"/>
                </a:cubicBezTo>
                <a:lnTo>
                  <a:pt x="123825" y="104775"/>
                </a:lnTo>
                <a:lnTo>
                  <a:pt x="123825" y="142875"/>
                </a:lnTo>
                <a:cubicBezTo>
                  <a:pt x="123825" y="148144"/>
                  <a:pt x="128081" y="152400"/>
                  <a:pt x="133350" y="152400"/>
                </a:cubicBezTo>
                <a:cubicBezTo>
                  <a:pt x="138619" y="152400"/>
                  <a:pt x="142875" y="148144"/>
                  <a:pt x="142875" y="142875"/>
                </a:cubicBezTo>
                <a:lnTo>
                  <a:pt x="142875" y="9525"/>
                </a:lnTo>
                <a:cubicBezTo>
                  <a:pt x="142875" y="4256"/>
                  <a:pt x="138619" y="0"/>
                  <a:pt x="13335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8" name="Text 26"/>
          <p:cNvSpPr/>
          <p:nvPr/>
        </p:nvSpPr>
        <p:spPr>
          <a:xfrm>
            <a:off x="7439025" y="2667000"/>
            <a:ext cx="4257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Delivery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39025" y="2895600"/>
            <a:ext cx="42576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Zomato, Swiggy use MBA for restaurant and dish recommendations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943725" y="35052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048500" y="36195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38100" y="19050"/>
                </a:moveTo>
                <a:cubicBezTo>
                  <a:pt x="38100" y="8543"/>
                  <a:pt x="46643" y="0"/>
                  <a:pt x="57150" y="0"/>
                </a:cubicBezTo>
                <a:lnTo>
                  <a:pt x="114300" y="0"/>
                </a:lnTo>
                <a:cubicBezTo>
                  <a:pt x="124807" y="0"/>
                  <a:pt x="133350" y="8543"/>
                  <a:pt x="133350" y="19050"/>
                </a:cubicBezTo>
                <a:lnTo>
                  <a:pt x="133350" y="38100"/>
                </a:lnTo>
                <a:lnTo>
                  <a:pt x="152400" y="38100"/>
                </a:lnTo>
                <a:cubicBezTo>
                  <a:pt x="162907" y="38100"/>
                  <a:pt x="171450" y="46643"/>
                  <a:pt x="171450" y="57150"/>
                </a:cubicBezTo>
                <a:lnTo>
                  <a:pt x="171450" y="133350"/>
                </a:lnTo>
                <a:cubicBezTo>
                  <a:pt x="171450" y="143857"/>
                  <a:pt x="162907" y="152400"/>
                  <a:pt x="15240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57150"/>
                </a:lnTo>
                <a:cubicBezTo>
                  <a:pt x="0" y="46643"/>
                  <a:pt x="8543" y="38100"/>
                  <a:pt x="19050" y="38100"/>
                </a:cubicBezTo>
                <a:lnTo>
                  <a:pt x="38100" y="38100"/>
                </a:lnTo>
                <a:lnTo>
                  <a:pt x="38100" y="19050"/>
                </a:lnTo>
                <a:close/>
                <a:moveTo>
                  <a:pt x="80962" y="104775"/>
                </a:moveTo>
                <a:cubicBezTo>
                  <a:pt x="75694" y="104775"/>
                  <a:pt x="71438" y="109031"/>
                  <a:pt x="71438" y="114300"/>
                </a:cubicBezTo>
                <a:lnTo>
                  <a:pt x="71438" y="138113"/>
                </a:lnTo>
                <a:lnTo>
                  <a:pt x="100013" y="138113"/>
                </a:lnTo>
                <a:lnTo>
                  <a:pt x="100013" y="114300"/>
                </a:lnTo>
                <a:cubicBezTo>
                  <a:pt x="100013" y="109031"/>
                  <a:pt x="95756" y="104775"/>
                  <a:pt x="90488" y="104775"/>
                </a:cubicBezTo>
                <a:lnTo>
                  <a:pt x="80962" y="104775"/>
                </a:lnTo>
                <a:close/>
                <a:moveTo>
                  <a:pt x="38100" y="109537"/>
                </a:moveTo>
                <a:lnTo>
                  <a:pt x="38100" y="100013"/>
                </a:lnTo>
                <a:cubicBezTo>
                  <a:pt x="38100" y="97393"/>
                  <a:pt x="35957" y="95250"/>
                  <a:pt x="33338" y="95250"/>
                </a:cubicBezTo>
                <a:lnTo>
                  <a:pt x="23813" y="95250"/>
                </a:lnTo>
                <a:cubicBezTo>
                  <a:pt x="21193" y="95250"/>
                  <a:pt x="19050" y="97393"/>
                  <a:pt x="19050" y="100013"/>
                </a:cubicBezTo>
                <a:lnTo>
                  <a:pt x="19050" y="109537"/>
                </a:lnTo>
                <a:cubicBezTo>
                  <a:pt x="19050" y="112157"/>
                  <a:pt x="21193" y="114300"/>
                  <a:pt x="23813" y="114300"/>
                </a:cubicBezTo>
                <a:lnTo>
                  <a:pt x="33338" y="114300"/>
                </a:lnTo>
                <a:cubicBezTo>
                  <a:pt x="35957" y="114300"/>
                  <a:pt x="38100" y="112157"/>
                  <a:pt x="38100" y="109537"/>
                </a:cubicBezTo>
                <a:close/>
                <a:moveTo>
                  <a:pt x="33338" y="76200"/>
                </a:moveTo>
                <a:cubicBezTo>
                  <a:pt x="35957" y="76200"/>
                  <a:pt x="38100" y="74057"/>
                  <a:pt x="38100" y="71438"/>
                </a:cubicBezTo>
                <a:lnTo>
                  <a:pt x="38100" y="61912"/>
                </a:lnTo>
                <a:cubicBezTo>
                  <a:pt x="38100" y="59293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9293"/>
                  <a:pt x="19050" y="61912"/>
                </a:cubicBezTo>
                <a:lnTo>
                  <a:pt x="19050" y="71438"/>
                </a:lnTo>
                <a:cubicBezTo>
                  <a:pt x="19050" y="74057"/>
                  <a:pt x="21193" y="76200"/>
                  <a:pt x="23813" y="76200"/>
                </a:cubicBezTo>
                <a:lnTo>
                  <a:pt x="33338" y="76200"/>
                </a:lnTo>
                <a:close/>
                <a:moveTo>
                  <a:pt x="152400" y="109537"/>
                </a:moveTo>
                <a:lnTo>
                  <a:pt x="152400" y="100013"/>
                </a:lnTo>
                <a:cubicBezTo>
                  <a:pt x="152400" y="97393"/>
                  <a:pt x="150257" y="95250"/>
                  <a:pt x="147638" y="95250"/>
                </a:cubicBezTo>
                <a:lnTo>
                  <a:pt x="138113" y="95250"/>
                </a:lnTo>
                <a:cubicBezTo>
                  <a:pt x="135493" y="95250"/>
                  <a:pt x="133350" y="97393"/>
                  <a:pt x="133350" y="100013"/>
                </a:cubicBezTo>
                <a:lnTo>
                  <a:pt x="133350" y="109537"/>
                </a:lnTo>
                <a:cubicBezTo>
                  <a:pt x="133350" y="112157"/>
                  <a:pt x="135493" y="114300"/>
                  <a:pt x="138113" y="114300"/>
                </a:cubicBezTo>
                <a:lnTo>
                  <a:pt x="147638" y="114300"/>
                </a:lnTo>
                <a:cubicBezTo>
                  <a:pt x="150257" y="114300"/>
                  <a:pt x="152400" y="112157"/>
                  <a:pt x="152400" y="109537"/>
                </a:cubicBezTo>
                <a:close/>
                <a:moveTo>
                  <a:pt x="147638" y="76200"/>
                </a:moveTo>
                <a:cubicBezTo>
                  <a:pt x="150257" y="76200"/>
                  <a:pt x="152400" y="74057"/>
                  <a:pt x="152400" y="71438"/>
                </a:cubicBezTo>
                <a:lnTo>
                  <a:pt x="152400" y="61912"/>
                </a:lnTo>
                <a:cubicBezTo>
                  <a:pt x="152400" y="59293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9293"/>
                  <a:pt x="133350" y="61912"/>
                </a:cubicBezTo>
                <a:lnTo>
                  <a:pt x="133350" y="71438"/>
                </a:lnTo>
                <a:cubicBezTo>
                  <a:pt x="133350" y="74057"/>
                  <a:pt x="135493" y="76200"/>
                  <a:pt x="138113" y="76200"/>
                </a:cubicBezTo>
                <a:lnTo>
                  <a:pt x="147638" y="76200"/>
                </a:lnTo>
                <a:close/>
                <a:moveTo>
                  <a:pt x="78581" y="30956"/>
                </a:moveTo>
                <a:lnTo>
                  <a:pt x="78581" y="40481"/>
                </a:lnTo>
                <a:lnTo>
                  <a:pt x="69056" y="40481"/>
                </a:lnTo>
                <a:cubicBezTo>
                  <a:pt x="66437" y="40481"/>
                  <a:pt x="64294" y="42624"/>
                  <a:pt x="64294" y="45244"/>
                </a:cubicBezTo>
                <a:lnTo>
                  <a:pt x="64294" y="50006"/>
                </a:lnTo>
                <a:cubicBezTo>
                  <a:pt x="64294" y="52626"/>
                  <a:pt x="66437" y="54769"/>
                  <a:pt x="69056" y="54769"/>
                </a:cubicBezTo>
                <a:lnTo>
                  <a:pt x="78581" y="54769"/>
                </a:lnTo>
                <a:lnTo>
                  <a:pt x="78581" y="64294"/>
                </a:lnTo>
                <a:cubicBezTo>
                  <a:pt x="78581" y="66913"/>
                  <a:pt x="80724" y="69056"/>
                  <a:pt x="83344" y="69056"/>
                </a:cubicBezTo>
                <a:lnTo>
                  <a:pt x="88106" y="69056"/>
                </a:lnTo>
                <a:cubicBezTo>
                  <a:pt x="90726" y="69056"/>
                  <a:pt x="92869" y="66913"/>
                  <a:pt x="92869" y="64294"/>
                </a:cubicBezTo>
                <a:lnTo>
                  <a:pt x="92869" y="54769"/>
                </a:lnTo>
                <a:lnTo>
                  <a:pt x="102394" y="54769"/>
                </a:lnTo>
                <a:cubicBezTo>
                  <a:pt x="105013" y="54769"/>
                  <a:pt x="107156" y="52626"/>
                  <a:pt x="107156" y="50006"/>
                </a:cubicBezTo>
                <a:lnTo>
                  <a:pt x="107156" y="45244"/>
                </a:lnTo>
                <a:cubicBezTo>
                  <a:pt x="107156" y="42624"/>
                  <a:pt x="105013" y="40481"/>
                  <a:pt x="102394" y="40481"/>
                </a:cubicBezTo>
                <a:lnTo>
                  <a:pt x="92869" y="40481"/>
                </a:lnTo>
                <a:lnTo>
                  <a:pt x="92869" y="30956"/>
                </a:lnTo>
                <a:cubicBezTo>
                  <a:pt x="92869" y="28337"/>
                  <a:pt x="90726" y="26194"/>
                  <a:pt x="88106" y="26194"/>
                </a:cubicBezTo>
                <a:lnTo>
                  <a:pt x="83344" y="26194"/>
                </a:lnTo>
                <a:cubicBezTo>
                  <a:pt x="80724" y="26194"/>
                  <a:pt x="78581" y="28337"/>
                  <a:pt x="78581" y="30956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2" name="Text 30"/>
          <p:cNvSpPr/>
          <p:nvPr/>
        </p:nvSpPr>
        <p:spPr>
          <a:xfrm>
            <a:off x="7439025" y="3467100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Healthcare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439025" y="3695700"/>
            <a:ext cx="3943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Identifying co-occurring symptoms and treatment patterns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943725" y="40767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058025" y="41910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04745" y="83344"/>
                </a:moveTo>
                <a:lnTo>
                  <a:pt x="47923" y="83344"/>
                </a:lnTo>
                <a:cubicBezTo>
                  <a:pt x="48786" y="102543"/>
                  <a:pt x="53042" y="120223"/>
                  <a:pt x="59085" y="133171"/>
                </a:cubicBezTo>
                <a:cubicBezTo>
                  <a:pt x="62478" y="140464"/>
                  <a:pt x="66139" y="145613"/>
                  <a:pt x="69533" y="148769"/>
                </a:cubicBezTo>
                <a:cubicBezTo>
                  <a:pt x="72866" y="151894"/>
                  <a:pt x="75158" y="152400"/>
                  <a:pt x="76349" y="152400"/>
                </a:cubicBezTo>
                <a:cubicBezTo>
                  <a:pt x="77539" y="152400"/>
                  <a:pt x="79831" y="151894"/>
                  <a:pt x="83165" y="148769"/>
                </a:cubicBezTo>
                <a:cubicBezTo>
                  <a:pt x="86558" y="145613"/>
                  <a:pt x="90220" y="140434"/>
                  <a:pt x="93613" y="133171"/>
                </a:cubicBezTo>
                <a:cubicBezTo>
                  <a:pt x="99655" y="120223"/>
                  <a:pt x="103912" y="102543"/>
                  <a:pt x="104775" y="83344"/>
                </a:cubicBezTo>
                <a:close/>
                <a:moveTo>
                  <a:pt x="47893" y="69056"/>
                </a:moveTo>
                <a:lnTo>
                  <a:pt x="104715" y="69056"/>
                </a:lnTo>
                <a:cubicBezTo>
                  <a:pt x="103882" y="49857"/>
                  <a:pt x="99626" y="32177"/>
                  <a:pt x="93583" y="19229"/>
                </a:cubicBezTo>
                <a:cubicBezTo>
                  <a:pt x="90190" y="11966"/>
                  <a:pt x="86529" y="6787"/>
                  <a:pt x="83135" y="3631"/>
                </a:cubicBezTo>
                <a:cubicBezTo>
                  <a:pt x="79802" y="506"/>
                  <a:pt x="77510" y="0"/>
                  <a:pt x="76319" y="0"/>
                </a:cubicBezTo>
                <a:cubicBezTo>
                  <a:pt x="75128" y="0"/>
                  <a:pt x="72836" y="506"/>
                  <a:pt x="69503" y="3631"/>
                </a:cubicBezTo>
                <a:cubicBezTo>
                  <a:pt x="66109" y="6787"/>
                  <a:pt x="62448" y="11966"/>
                  <a:pt x="59055" y="19229"/>
                </a:cubicBezTo>
                <a:cubicBezTo>
                  <a:pt x="53013" y="32177"/>
                  <a:pt x="48756" y="49857"/>
                  <a:pt x="47893" y="69056"/>
                </a:cubicBezTo>
                <a:close/>
                <a:moveTo>
                  <a:pt x="33605" y="69056"/>
                </a:moveTo>
                <a:cubicBezTo>
                  <a:pt x="34647" y="43577"/>
                  <a:pt x="41225" y="19913"/>
                  <a:pt x="50840" y="4376"/>
                </a:cubicBezTo>
                <a:cubicBezTo>
                  <a:pt x="23426" y="14079"/>
                  <a:pt x="3244" y="39052"/>
                  <a:pt x="446" y="69056"/>
                </a:cubicBezTo>
                <a:lnTo>
                  <a:pt x="33605" y="69056"/>
                </a:lnTo>
                <a:close/>
                <a:moveTo>
                  <a:pt x="446" y="83344"/>
                </a:moveTo>
                <a:cubicBezTo>
                  <a:pt x="3244" y="113348"/>
                  <a:pt x="23426" y="138321"/>
                  <a:pt x="50840" y="148024"/>
                </a:cubicBezTo>
                <a:cubicBezTo>
                  <a:pt x="41225" y="132487"/>
                  <a:pt x="34647" y="108823"/>
                  <a:pt x="33605" y="83344"/>
                </a:cubicBezTo>
                <a:lnTo>
                  <a:pt x="446" y="83344"/>
                </a:lnTo>
                <a:close/>
                <a:moveTo>
                  <a:pt x="119033" y="83344"/>
                </a:moveTo>
                <a:cubicBezTo>
                  <a:pt x="117991" y="108823"/>
                  <a:pt x="111413" y="132487"/>
                  <a:pt x="101798" y="148024"/>
                </a:cubicBezTo>
                <a:cubicBezTo>
                  <a:pt x="129213" y="138291"/>
                  <a:pt x="149394" y="113348"/>
                  <a:pt x="152192" y="83344"/>
                </a:cubicBezTo>
                <a:lnTo>
                  <a:pt x="119033" y="83344"/>
                </a:lnTo>
                <a:close/>
                <a:moveTo>
                  <a:pt x="152192" y="69056"/>
                </a:moveTo>
                <a:cubicBezTo>
                  <a:pt x="149394" y="39052"/>
                  <a:pt x="129213" y="14079"/>
                  <a:pt x="101798" y="4376"/>
                </a:cubicBezTo>
                <a:cubicBezTo>
                  <a:pt x="111413" y="19913"/>
                  <a:pt x="117991" y="43577"/>
                  <a:pt x="119033" y="69056"/>
                </a:cubicBezTo>
                <a:lnTo>
                  <a:pt x="152192" y="69056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6" name="Text 34"/>
          <p:cNvSpPr/>
          <p:nvPr/>
        </p:nvSpPr>
        <p:spPr>
          <a:xfrm>
            <a:off x="7439025" y="4038600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Web Usage Mining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439025" y="4267200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Analyzing user navigation patterns and click streams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757988" y="5472113"/>
            <a:ext cx="5048250" cy="1000125"/>
          </a:xfrm>
          <a:custGeom>
            <a:avLst/>
            <a:gdLst/>
            <a:ahLst/>
            <a:cxnLst/>
            <a:rect l="l" t="t" r="r" b="b"/>
            <a:pathLst>
              <a:path w="5048250" h="1000125">
                <a:moveTo>
                  <a:pt x="76200" y="0"/>
                </a:moveTo>
                <a:lnTo>
                  <a:pt x="4972050" y="0"/>
                </a:lnTo>
                <a:cubicBezTo>
                  <a:pt x="5014134" y="0"/>
                  <a:pt x="5048250" y="34116"/>
                  <a:pt x="5048250" y="76200"/>
                </a:cubicBezTo>
                <a:lnTo>
                  <a:pt x="5048250" y="923925"/>
                </a:lnTo>
                <a:cubicBezTo>
                  <a:pt x="5048250" y="966009"/>
                  <a:pt x="5014134" y="1000125"/>
                  <a:pt x="4972050" y="1000125"/>
                </a:cubicBezTo>
                <a:lnTo>
                  <a:pt x="76200" y="1000125"/>
                </a:lnTo>
                <a:cubicBezTo>
                  <a:pt x="34116" y="1000125"/>
                  <a:pt x="0" y="966009"/>
                  <a:pt x="0" y="923925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53250" y="566261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0" name="Text 38"/>
          <p:cNvSpPr/>
          <p:nvPr/>
        </p:nvSpPr>
        <p:spPr>
          <a:xfrm>
            <a:off x="7162800" y="5629275"/>
            <a:ext cx="45624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Classic Example: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famous "beer and diapers" case showed these items were often purchased together on Friday evenings, leading to strategic product placement.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Association Rules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Support, Confidence &amp; Lift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38250"/>
            <a:ext cx="3705225" cy="2076450"/>
          </a:xfrm>
          <a:custGeom>
            <a:avLst/>
            <a:gdLst/>
            <a:ahLst/>
            <a:cxnLst/>
            <a:rect l="l" t="t" r="r" b="b"/>
            <a:pathLst>
              <a:path w="3705225" h="2076450">
                <a:moveTo>
                  <a:pt x="38100" y="0"/>
                </a:moveTo>
                <a:lnTo>
                  <a:pt x="3667125" y="0"/>
                </a:lnTo>
                <a:cubicBezTo>
                  <a:pt x="3688167" y="0"/>
                  <a:pt x="3705225" y="17058"/>
                  <a:pt x="3705225" y="38100"/>
                </a:cubicBezTo>
                <a:lnTo>
                  <a:pt x="3705225" y="2000244"/>
                </a:lnTo>
                <a:cubicBezTo>
                  <a:pt x="3705225" y="2042332"/>
                  <a:pt x="3671107" y="2076450"/>
                  <a:pt x="3629019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8A97E">
                  <a:alpha val="20000"/>
                </a:srgbClr>
              </a:gs>
              <a:gs pos="100000">
                <a:srgbClr val="C8A97E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81000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53340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5"/>
          <p:cNvSpPr/>
          <p:nvPr/>
        </p:nvSpPr>
        <p:spPr>
          <a:xfrm>
            <a:off x="485775" y="1409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4900" y="150495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Support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3400" y="19812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Frequency of occurrence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33400" y="22860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342900"/>
                </a:lnTo>
                <a:cubicBezTo>
                  <a:pt x="3400425" y="363928"/>
                  <a:pt x="3383353" y="381000"/>
                  <a:pt x="33623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1" name="Text 9"/>
          <p:cNvSpPr/>
          <p:nvPr/>
        </p:nvSpPr>
        <p:spPr>
          <a:xfrm>
            <a:off x="609600" y="23622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Support(X→Y) = |X∪Y| / |T|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3400" y="2743200"/>
            <a:ext cx="3476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how frequently the itemset appears in all transactions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41750" y="1238250"/>
            <a:ext cx="3705225" cy="2076450"/>
          </a:xfrm>
          <a:custGeom>
            <a:avLst/>
            <a:gdLst/>
            <a:ahLst/>
            <a:cxnLst/>
            <a:rect l="l" t="t" r="r" b="b"/>
            <a:pathLst>
              <a:path w="3705225" h="2076450">
                <a:moveTo>
                  <a:pt x="38100" y="0"/>
                </a:moveTo>
                <a:lnTo>
                  <a:pt x="3667125" y="0"/>
                </a:lnTo>
                <a:cubicBezTo>
                  <a:pt x="3688167" y="0"/>
                  <a:pt x="3705225" y="17058"/>
                  <a:pt x="3705225" y="38100"/>
                </a:cubicBezTo>
                <a:lnTo>
                  <a:pt x="3705225" y="2000244"/>
                </a:lnTo>
                <a:cubicBezTo>
                  <a:pt x="3705225" y="2042332"/>
                  <a:pt x="3671107" y="2076450"/>
                  <a:pt x="3629019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14" name="Shape 12"/>
          <p:cNvSpPr/>
          <p:nvPr/>
        </p:nvSpPr>
        <p:spPr>
          <a:xfrm>
            <a:off x="4241750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5" name="Shape 13"/>
          <p:cNvSpPr/>
          <p:nvPr/>
        </p:nvSpPr>
        <p:spPr>
          <a:xfrm>
            <a:off x="4394150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Text 14"/>
          <p:cNvSpPr/>
          <p:nvPr/>
        </p:nvSpPr>
        <p:spPr>
          <a:xfrm>
            <a:off x="4346525" y="1409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65650" y="1504950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394150" y="19812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Reliability of the rule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94150" y="22860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342900"/>
                </a:lnTo>
                <a:cubicBezTo>
                  <a:pt x="3400425" y="363928"/>
                  <a:pt x="3383353" y="381000"/>
                  <a:pt x="33623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4470350" y="23622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Confidence(X→Y) = |X∪Y| / |X|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94150" y="2743200"/>
            <a:ext cx="34766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Probability that Y is purchased when X is purchased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102575" y="1238250"/>
            <a:ext cx="3705225" cy="2076450"/>
          </a:xfrm>
          <a:custGeom>
            <a:avLst/>
            <a:gdLst/>
            <a:ahLst/>
            <a:cxnLst/>
            <a:rect l="l" t="t" r="r" b="b"/>
            <a:pathLst>
              <a:path w="3705225" h="2076450">
                <a:moveTo>
                  <a:pt x="38100" y="0"/>
                </a:moveTo>
                <a:lnTo>
                  <a:pt x="3667125" y="0"/>
                </a:lnTo>
                <a:cubicBezTo>
                  <a:pt x="3688167" y="0"/>
                  <a:pt x="3705225" y="17058"/>
                  <a:pt x="3705225" y="38100"/>
                </a:cubicBezTo>
                <a:lnTo>
                  <a:pt x="3705225" y="2000244"/>
                </a:lnTo>
                <a:cubicBezTo>
                  <a:pt x="3705225" y="2042332"/>
                  <a:pt x="3671107" y="2076450"/>
                  <a:pt x="3629019" y="2076450"/>
                </a:cubicBezTo>
                <a:lnTo>
                  <a:pt x="76206" y="2076450"/>
                </a:lnTo>
                <a:cubicBezTo>
                  <a:pt x="34118" y="2076450"/>
                  <a:pt x="0" y="2042332"/>
                  <a:pt x="0" y="2000244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788A9C">
                  <a:alpha val="20000"/>
                </a:srgbClr>
              </a:gs>
              <a:gs pos="100000">
                <a:srgbClr val="788A9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3" name="Shape 21"/>
          <p:cNvSpPr/>
          <p:nvPr/>
        </p:nvSpPr>
        <p:spPr>
          <a:xfrm>
            <a:off x="8102575" y="1238250"/>
            <a:ext cx="3705225" cy="38100"/>
          </a:xfrm>
          <a:custGeom>
            <a:avLst/>
            <a:gdLst/>
            <a:ahLst/>
            <a:cxnLst/>
            <a:rect l="l" t="t" r="r" b="b"/>
            <a:pathLst>
              <a:path w="3705225" h="38100">
                <a:moveTo>
                  <a:pt x="38100" y="0"/>
                </a:moveTo>
                <a:lnTo>
                  <a:pt x="3667125" y="0"/>
                </a:lnTo>
                <a:cubicBezTo>
                  <a:pt x="3688153" y="0"/>
                  <a:pt x="3705225" y="17072"/>
                  <a:pt x="3705225" y="38100"/>
                </a:cubicBezTo>
                <a:lnTo>
                  <a:pt x="370522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4" name="Shape 22"/>
          <p:cNvSpPr/>
          <p:nvPr/>
        </p:nvSpPr>
        <p:spPr>
          <a:xfrm>
            <a:off x="8254975" y="1409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5" name="Text 23"/>
          <p:cNvSpPr/>
          <p:nvPr/>
        </p:nvSpPr>
        <p:spPr>
          <a:xfrm>
            <a:off x="8207350" y="1409700"/>
            <a:ext cx="552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L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26475" y="1504950"/>
            <a:ext cx="381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54975" y="1981200"/>
            <a:ext cx="3476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Strength of association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54975" y="2286000"/>
            <a:ext cx="3400425" cy="381000"/>
          </a:xfrm>
          <a:custGeom>
            <a:avLst/>
            <a:gdLst/>
            <a:ahLst/>
            <a:cxnLst/>
            <a:rect l="l" t="t" r="r" b="b"/>
            <a:pathLst>
              <a:path w="3400425" h="381000">
                <a:moveTo>
                  <a:pt x="38100" y="0"/>
                </a:moveTo>
                <a:lnTo>
                  <a:pt x="3362325" y="0"/>
                </a:lnTo>
                <a:cubicBezTo>
                  <a:pt x="3383353" y="0"/>
                  <a:pt x="3400425" y="17072"/>
                  <a:pt x="3400425" y="38100"/>
                </a:cubicBezTo>
                <a:lnTo>
                  <a:pt x="3400425" y="342900"/>
                </a:lnTo>
                <a:cubicBezTo>
                  <a:pt x="3400425" y="363928"/>
                  <a:pt x="3383353" y="381000"/>
                  <a:pt x="3362325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8331175" y="2362200"/>
            <a:ext cx="3324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Lift(X→Y) = Confidence / Support(Y)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54975" y="2743200"/>
            <a:ext cx="3476625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Measures how much more likely Y is purchased with X than by chance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81000" y="3429000"/>
            <a:ext cx="11430000" cy="2514600"/>
          </a:xfrm>
          <a:custGeom>
            <a:avLst/>
            <a:gdLst/>
            <a:ahLst/>
            <a:cxnLst/>
            <a:rect l="l" t="t" r="r" b="b"/>
            <a:pathLst>
              <a:path w="11430000" h="2514600">
                <a:moveTo>
                  <a:pt x="76192" y="0"/>
                </a:moveTo>
                <a:lnTo>
                  <a:pt x="11353808" y="0"/>
                </a:lnTo>
                <a:cubicBezTo>
                  <a:pt x="11395888" y="0"/>
                  <a:pt x="11430000" y="34112"/>
                  <a:pt x="11430000" y="76192"/>
                </a:cubicBezTo>
                <a:lnTo>
                  <a:pt x="11430000" y="2438408"/>
                </a:lnTo>
                <a:cubicBezTo>
                  <a:pt x="11430000" y="2480488"/>
                  <a:pt x="11395888" y="2514600"/>
                  <a:pt x="11353808" y="2514600"/>
                </a:cubicBezTo>
                <a:lnTo>
                  <a:pt x="76192" y="2514600"/>
                </a:lnTo>
                <a:cubicBezTo>
                  <a:pt x="34112" y="2514600"/>
                  <a:pt x="0" y="2480488"/>
                  <a:pt x="0" y="2438408"/>
                </a:cubicBezTo>
                <a:lnTo>
                  <a:pt x="0" y="76192"/>
                </a:lnTo>
                <a:cubicBezTo>
                  <a:pt x="0" y="34141"/>
                  <a:pt x="34141" y="0"/>
                  <a:pt x="76192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32" name="Shape 30"/>
          <p:cNvSpPr/>
          <p:nvPr/>
        </p:nvSpPr>
        <p:spPr>
          <a:xfrm>
            <a:off x="581025" y="361950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23812" y="0"/>
                </a:moveTo>
                <a:cubicBezTo>
                  <a:pt x="10678" y="0"/>
                  <a:pt x="0" y="10678"/>
                  <a:pt x="0" y="23812"/>
                </a:cubicBezTo>
                <a:lnTo>
                  <a:pt x="0" y="166688"/>
                </a:lnTo>
                <a:cubicBezTo>
                  <a:pt x="0" y="179822"/>
                  <a:pt x="10678" y="190500"/>
                  <a:pt x="23812" y="190500"/>
                </a:cubicBezTo>
                <a:lnTo>
                  <a:pt x="119063" y="190500"/>
                </a:lnTo>
                <a:cubicBezTo>
                  <a:pt x="132197" y="190500"/>
                  <a:pt x="142875" y="179822"/>
                  <a:pt x="142875" y="166688"/>
                </a:cubicBezTo>
                <a:lnTo>
                  <a:pt x="142875" y="23812"/>
                </a:lnTo>
                <a:cubicBezTo>
                  <a:pt x="142875" y="10678"/>
                  <a:pt x="132197" y="0"/>
                  <a:pt x="119063" y="0"/>
                </a:cubicBezTo>
                <a:lnTo>
                  <a:pt x="23812" y="0"/>
                </a:lnTo>
                <a:close/>
                <a:moveTo>
                  <a:pt x="35719" y="23812"/>
                </a:moveTo>
                <a:lnTo>
                  <a:pt x="107156" y="23812"/>
                </a:lnTo>
                <a:cubicBezTo>
                  <a:pt x="113742" y="23812"/>
                  <a:pt x="119063" y="29133"/>
                  <a:pt x="119063" y="35719"/>
                </a:cubicBezTo>
                <a:lnTo>
                  <a:pt x="119063" y="47625"/>
                </a:lnTo>
                <a:cubicBezTo>
                  <a:pt x="119063" y="54211"/>
                  <a:pt x="113742" y="59531"/>
                  <a:pt x="107156" y="59531"/>
                </a:cubicBezTo>
                <a:lnTo>
                  <a:pt x="35719" y="59531"/>
                </a:lnTo>
                <a:cubicBezTo>
                  <a:pt x="29133" y="59531"/>
                  <a:pt x="23812" y="54211"/>
                  <a:pt x="23812" y="47625"/>
                </a:cubicBezTo>
                <a:lnTo>
                  <a:pt x="23812" y="35719"/>
                </a:lnTo>
                <a:cubicBezTo>
                  <a:pt x="23812" y="29133"/>
                  <a:pt x="29133" y="23812"/>
                  <a:pt x="35719" y="23812"/>
                </a:cubicBezTo>
                <a:close/>
                <a:moveTo>
                  <a:pt x="41672" y="86320"/>
                </a:moveTo>
                <a:cubicBezTo>
                  <a:pt x="41672" y="91249"/>
                  <a:pt x="37671" y="95250"/>
                  <a:pt x="32742" y="95250"/>
                </a:cubicBezTo>
                <a:cubicBezTo>
                  <a:pt x="27814" y="95250"/>
                  <a:pt x="23812" y="91249"/>
                  <a:pt x="23812" y="86320"/>
                </a:cubicBezTo>
                <a:cubicBezTo>
                  <a:pt x="23812" y="81392"/>
                  <a:pt x="27814" y="77391"/>
                  <a:pt x="32742" y="77391"/>
                </a:cubicBezTo>
                <a:cubicBezTo>
                  <a:pt x="37671" y="77391"/>
                  <a:pt x="41672" y="81392"/>
                  <a:pt x="41672" y="86320"/>
                </a:cubicBezTo>
                <a:close/>
                <a:moveTo>
                  <a:pt x="71438" y="95250"/>
                </a:moveTo>
                <a:cubicBezTo>
                  <a:pt x="66509" y="95250"/>
                  <a:pt x="62508" y="91249"/>
                  <a:pt x="62508" y="86320"/>
                </a:cubicBezTo>
                <a:cubicBezTo>
                  <a:pt x="62508" y="81392"/>
                  <a:pt x="66509" y="77391"/>
                  <a:pt x="71438" y="77391"/>
                </a:cubicBezTo>
                <a:cubicBezTo>
                  <a:pt x="76366" y="77391"/>
                  <a:pt x="80367" y="81392"/>
                  <a:pt x="80367" y="86320"/>
                </a:cubicBezTo>
                <a:cubicBezTo>
                  <a:pt x="80367" y="91249"/>
                  <a:pt x="76366" y="95250"/>
                  <a:pt x="71438" y="95250"/>
                </a:cubicBezTo>
                <a:close/>
                <a:moveTo>
                  <a:pt x="119063" y="86320"/>
                </a:moveTo>
                <a:cubicBezTo>
                  <a:pt x="119063" y="91249"/>
                  <a:pt x="115061" y="95250"/>
                  <a:pt x="110133" y="95250"/>
                </a:cubicBezTo>
                <a:cubicBezTo>
                  <a:pt x="105204" y="95250"/>
                  <a:pt x="101203" y="91249"/>
                  <a:pt x="101203" y="86320"/>
                </a:cubicBezTo>
                <a:cubicBezTo>
                  <a:pt x="101203" y="81392"/>
                  <a:pt x="105204" y="77391"/>
                  <a:pt x="110133" y="77391"/>
                </a:cubicBezTo>
                <a:cubicBezTo>
                  <a:pt x="115061" y="77391"/>
                  <a:pt x="119063" y="81392"/>
                  <a:pt x="119063" y="86320"/>
                </a:cubicBezTo>
                <a:close/>
                <a:moveTo>
                  <a:pt x="32742" y="130969"/>
                </a:moveTo>
                <a:cubicBezTo>
                  <a:pt x="27814" y="130969"/>
                  <a:pt x="23812" y="126967"/>
                  <a:pt x="23812" y="122039"/>
                </a:cubicBezTo>
                <a:cubicBezTo>
                  <a:pt x="23812" y="117111"/>
                  <a:pt x="27814" y="113109"/>
                  <a:pt x="32742" y="113109"/>
                </a:cubicBezTo>
                <a:cubicBezTo>
                  <a:pt x="37671" y="113109"/>
                  <a:pt x="41672" y="117111"/>
                  <a:pt x="41672" y="122039"/>
                </a:cubicBezTo>
                <a:cubicBezTo>
                  <a:pt x="41672" y="126967"/>
                  <a:pt x="37671" y="130969"/>
                  <a:pt x="32742" y="130969"/>
                </a:cubicBezTo>
                <a:close/>
                <a:moveTo>
                  <a:pt x="80367" y="122039"/>
                </a:moveTo>
                <a:cubicBezTo>
                  <a:pt x="80367" y="126967"/>
                  <a:pt x="76366" y="130969"/>
                  <a:pt x="71438" y="130969"/>
                </a:cubicBezTo>
                <a:cubicBezTo>
                  <a:pt x="66509" y="130969"/>
                  <a:pt x="62508" y="126967"/>
                  <a:pt x="62508" y="122039"/>
                </a:cubicBezTo>
                <a:cubicBezTo>
                  <a:pt x="62508" y="117111"/>
                  <a:pt x="66509" y="113109"/>
                  <a:pt x="71438" y="113109"/>
                </a:cubicBezTo>
                <a:cubicBezTo>
                  <a:pt x="76366" y="113109"/>
                  <a:pt x="80367" y="117111"/>
                  <a:pt x="80367" y="122039"/>
                </a:cubicBezTo>
                <a:close/>
                <a:moveTo>
                  <a:pt x="110133" y="130969"/>
                </a:moveTo>
                <a:cubicBezTo>
                  <a:pt x="105204" y="130969"/>
                  <a:pt x="101203" y="126967"/>
                  <a:pt x="101203" y="122039"/>
                </a:cubicBezTo>
                <a:cubicBezTo>
                  <a:pt x="101203" y="117111"/>
                  <a:pt x="105204" y="113109"/>
                  <a:pt x="110133" y="113109"/>
                </a:cubicBezTo>
                <a:cubicBezTo>
                  <a:pt x="115061" y="113109"/>
                  <a:pt x="119063" y="117111"/>
                  <a:pt x="119063" y="122039"/>
                </a:cubicBezTo>
                <a:cubicBezTo>
                  <a:pt x="119063" y="126967"/>
                  <a:pt x="115061" y="130969"/>
                  <a:pt x="110133" y="130969"/>
                </a:cubicBezTo>
                <a:close/>
                <a:moveTo>
                  <a:pt x="23812" y="157758"/>
                </a:moveTo>
                <a:cubicBezTo>
                  <a:pt x="23812" y="152809"/>
                  <a:pt x="27794" y="148828"/>
                  <a:pt x="32742" y="148828"/>
                </a:cubicBezTo>
                <a:lnTo>
                  <a:pt x="74414" y="148828"/>
                </a:lnTo>
                <a:cubicBezTo>
                  <a:pt x="79363" y="148828"/>
                  <a:pt x="83344" y="152809"/>
                  <a:pt x="83344" y="157758"/>
                </a:cubicBezTo>
                <a:cubicBezTo>
                  <a:pt x="83344" y="162706"/>
                  <a:pt x="79363" y="166688"/>
                  <a:pt x="74414" y="166688"/>
                </a:cubicBezTo>
                <a:lnTo>
                  <a:pt x="32742" y="166688"/>
                </a:lnTo>
                <a:cubicBezTo>
                  <a:pt x="27794" y="166688"/>
                  <a:pt x="23812" y="162706"/>
                  <a:pt x="23812" y="157758"/>
                </a:cubicBezTo>
                <a:close/>
                <a:moveTo>
                  <a:pt x="110133" y="148828"/>
                </a:moveTo>
                <a:cubicBezTo>
                  <a:pt x="115081" y="148828"/>
                  <a:pt x="119063" y="152809"/>
                  <a:pt x="119063" y="157758"/>
                </a:cubicBezTo>
                <a:cubicBezTo>
                  <a:pt x="119063" y="162706"/>
                  <a:pt x="115081" y="166688"/>
                  <a:pt x="110133" y="166688"/>
                </a:cubicBezTo>
                <a:cubicBezTo>
                  <a:pt x="105184" y="166688"/>
                  <a:pt x="101203" y="162706"/>
                  <a:pt x="101203" y="157758"/>
                </a:cubicBezTo>
                <a:cubicBezTo>
                  <a:pt x="101203" y="152809"/>
                  <a:pt x="105184" y="148828"/>
                  <a:pt x="110133" y="14882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3" name="Text 31"/>
          <p:cNvSpPr/>
          <p:nvPr/>
        </p:nvSpPr>
        <p:spPr>
          <a:xfrm>
            <a:off x="771525" y="3581400"/>
            <a:ext cx="10982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33400" y="3962400"/>
            <a:ext cx="556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Dataset: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533400" y="4267200"/>
            <a:ext cx="5486400" cy="1524000"/>
          </a:xfrm>
          <a:custGeom>
            <a:avLst/>
            <a:gdLst/>
            <a:ahLst/>
            <a:cxnLst/>
            <a:rect l="l" t="t" r="r" b="b"/>
            <a:pathLst>
              <a:path w="5486400" h="1524000">
                <a:moveTo>
                  <a:pt x="38100" y="0"/>
                </a:moveTo>
                <a:lnTo>
                  <a:pt x="5448300" y="0"/>
                </a:lnTo>
                <a:cubicBezTo>
                  <a:pt x="5469328" y="0"/>
                  <a:pt x="5486400" y="17072"/>
                  <a:pt x="5486400" y="38100"/>
                </a:cubicBezTo>
                <a:lnTo>
                  <a:pt x="5486400" y="1485900"/>
                </a:lnTo>
                <a:cubicBezTo>
                  <a:pt x="5486400" y="1506928"/>
                  <a:pt x="5469328" y="1524000"/>
                  <a:pt x="5448300" y="1524000"/>
                </a:cubicBezTo>
                <a:lnTo>
                  <a:pt x="38100" y="1524000"/>
                </a:lnTo>
                <a:cubicBezTo>
                  <a:pt x="17072" y="1524000"/>
                  <a:pt x="0" y="1506928"/>
                  <a:pt x="0" y="1485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Text 34"/>
          <p:cNvSpPr/>
          <p:nvPr/>
        </p:nvSpPr>
        <p:spPr>
          <a:xfrm>
            <a:off x="647700" y="43815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T1: {Milk, Bread}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7700" y="46482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T2: {Milk, Bread, Diaper, Beer}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7700" y="49149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T3: {Milk, Diaper, Beer, Coke}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7700" y="51816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T4: {Bread, Milk, Diaper, Beer}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700" y="5448300"/>
            <a:ext cx="533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T5: {Bread, Milk, Diaper, Coke}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172200" y="3962400"/>
            <a:ext cx="5562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Rule: {Milk, Diaper} → {Beer}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2200" y="4267200"/>
            <a:ext cx="5486400" cy="381000"/>
          </a:xfrm>
          <a:custGeom>
            <a:avLst/>
            <a:gdLst/>
            <a:ahLst/>
            <a:cxnLst/>
            <a:rect l="l" t="t" r="r" b="b"/>
            <a:pathLst>
              <a:path w="5486400" h="381000">
                <a:moveTo>
                  <a:pt x="38100" y="0"/>
                </a:moveTo>
                <a:lnTo>
                  <a:pt x="5448300" y="0"/>
                </a:lnTo>
                <a:cubicBezTo>
                  <a:pt x="5469328" y="0"/>
                  <a:pt x="5486400" y="17072"/>
                  <a:pt x="5486400" y="38100"/>
                </a:cubicBezTo>
                <a:lnTo>
                  <a:pt x="5486400" y="342900"/>
                </a:lnTo>
                <a:cubicBezTo>
                  <a:pt x="5486400" y="363928"/>
                  <a:pt x="5469328" y="381000"/>
                  <a:pt x="54483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Text 41"/>
          <p:cNvSpPr/>
          <p:nvPr/>
        </p:nvSpPr>
        <p:spPr>
          <a:xfrm>
            <a:off x="6248400" y="434340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2/5 =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40%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2200" y="4724400"/>
            <a:ext cx="5486400" cy="381000"/>
          </a:xfrm>
          <a:custGeom>
            <a:avLst/>
            <a:gdLst/>
            <a:ahLst/>
            <a:cxnLst/>
            <a:rect l="l" t="t" r="r" b="b"/>
            <a:pathLst>
              <a:path w="5486400" h="381000">
                <a:moveTo>
                  <a:pt x="38100" y="0"/>
                </a:moveTo>
                <a:lnTo>
                  <a:pt x="5448300" y="0"/>
                </a:lnTo>
                <a:cubicBezTo>
                  <a:pt x="5469328" y="0"/>
                  <a:pt x="5486400" y="17072"/>
                  <a:pt x="5486400" y="38100"/>
                </a:cubicBezTo>
                <a:lnTo>
                  <a:pt x="5486400" y="342900"/>
                </a:lnTo>
                <a:cubicBezTo>
                  <a:pt x="5486400" y="363928"/>
                  <a:pt x="5469328" y="381000"/>
                  <a:pt x="54483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5" name="Text 43"/>
          <p:cNvSpPr/>
          <p:nvPr/>
        </p:nvSpPr>
        <p:spPr>
          <a:xfrm>
            <a:off x="6248400" y="480060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Confidence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2/3 ≈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66.7%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172200" y="5181600"/>
            <a:ext cx="5486400" cy="381000"/>
          </a:xfrm>
          <a:custGeom>
            <a:avLst/>
            <a:gdLst/>
            <a:ahLst/>
            <a:cxnLst/>
            <a:rect l="l" t="t" r="r" b="b"/>
            <a:pathLst>
              <a:path w="5486400" h="381000">
                <a:moveTo>
                  <a:pt x="38100" y="0"/>
                </a:moveTo>
                <a:lnTo>
                  <a:pt x="5448300" y="0"/>
                </a:lnTo>
                <a:cubicBezTo>
                  <a:pt x="5469328" y="0"/>
                  <a:pt x="5486400" y="17072"/>
                  <a:pt x="5486400" y="38100"/>
                </a:cubicBezTo>
                <a:lnTo>
                  <a:pt x="5486400" y="342900"/>
                </a:lnTo>
                <a:cubicBezTo>
                  <a:pt x="5486400" y="363928"/>
                  <a:pt x="5469328" y="381000"/>
                  <a:pt x="5448300" y="381000"/>
                </a:cubicBezTo>
                <a:lnTo>
                  <a:pt x="38100" y="381000"/>
                </a:lnTo>
                <a:cubicBezTo>
                  <a:pt x="17072" y="381000"/>
                  <a:pt x="0" y="363928"/>
                  <a:pt x="0" y="3429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Text 45"/>
          <p:cNvSpPr/>
          <p:nvPr/>
        </p:nvSpPr>
        <p:spPr>
          <a:xfrm>
            <a:off x="6248400" y="5257800"/>
            <a:ext cx="541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0.667/0.6 =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1.11</a:t>
            </a:r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(positive association)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5763" y="6062663"/>
            <a:ext cx="3724275" cy="733425"/>
          </a:xfrm>
          <a:custGeom>
            <a:avLst/>
            <a:gdLst/>
            <a:ahLst/>
            <a:cxnLst/>
            <a:rect l="l" t="t" r="r" b="b"/>
            <a:pathLst>
              <a:path w="3724275" h="733425">
                <a:moveTo>
                  <a:pt x="76203" y="0"/>
                </a:moveTo>
                <a:lnTo>
                  <a:pt x="3648072" y="0"/>
                </a:lnTo>
                <a:cubicBezTo>
                  <a:pt x="3690130" y="0"/>
                  <a:pt x="3724275" y="34145"/>
                  <a:pt x="3724275" y="76203"/>
                </a:cubicBezTo>
                <a:lnTo>
                  <a:pt x="3724275" y="657222"/>
                </a:lnTo>
                <a:cubicBezTo>
                  <a:pt x="3724275" y="699280"/>
                  <a:pt x="3690130" y="733425"/>
                  <a:pt x="36480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6725" y="61817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 &gt; 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66725" y="64484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Positive correlation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233863" y="6062663"/>
            <a:ext cx="3724275" cy="733425"/>
          </a:xfrm>
          <a:custGeom>
            <a:avLst/>
            <a:gdLst/>
            <a:ahLst/>
            <a:cxnLst/>
            <a:rect l="l" t="t" r="r" b="b"/>
            <a:pathLst>
              <a:path w="3724275" h="733425">
                <a:moveTo>
                  <a:pt x="76203" y="0"/>
                </a:moveTo>
                <a:lnTo>
                  <a:pt x="3648072" y="0"/>
                </a:lnTo>
                <a:cubicBezTo>
                  <a:pt x="3690130" y="0"/>
                  <a:pt x="3724275" y="34145"/>
                  <a:pt x="3724275" y="76203"/>
                </a:cubicBezTo>
                <a:lnTo>
                  <a:pt x="3724275" y="657222"/>
                </a:lnTo>
                <a:cubicBezTo>
                  <a:pt x="3724275" y="699280"/>
                  <a:pt x="3690130" y="733425"/>
                  <a:pt x="36480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788A9C">
              <a:alpha val="10196"/>
            </a:srgbClr>
          </a:solidFill>
          <a:ln w="12700">
            <a:solidFill>
              <a:srgbClr val="788A9C">
                <a:alpha val="30196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14825" y="61817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 = 1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4314825" y="64484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081962" y="6062663"/>
            <a:ext cx="3724275" cy="733425"/>
          </a:xfrm>
          <a:custGeom>
            <a:avLst/>
            <a:gdLst/>
            <a:ahLst/>
            <a:cxnLst/>
            <a:rect l="l" t="t" r="r" b="b"/>
            <a:pathLst>
              <a:path w="3724275" h="733425">
                <a:moveTo>
                  <a:pt x="76203" y="0"/>
                </a:moveTo>
                <a:lnTo>
                  <a:pt x="3648072" y="0"/>
                </a:lnTo>
                <a:cubicBezTo>
                  <a:pt x="3690130" y="0"/>
                  <a:pt x="3724275" y="34145"/>
                  <a:pt x="3724275" y="76203"/>
                </a:cubicBezTo>
                <a:lnTo>
                  <a:pt x="3724275" y="657222"/>
                </a:lnTo>
                <a:cubicBezTo>
                  <a:pt x="3724275" y="699280"/>
                  <a:pt x="3690130" y="733425"/>
                  <a:pt x="3648072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162925" y="61817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 &lt; 1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162925" y="6448425"/>
            <a:ext cx="3562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correlation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9836fd71249bd1c35e3c316b7f7c8c41a871372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0509" r="10509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713687" y="2019300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spc="15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Two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23187" y="2362200"/>
            <a:ext cx="2876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Apriori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629900" y="25241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Shape 4"/>
          <p:cNvSpPr/>
          <p:nvPr/>
        </p:nvSpPr>
        <p:spPr>
          <a:xfrm>
            <a:off x="10896600" y="24479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5"/>
          <p:cNvSpPr/>
          <p:nvPr/>
        </p:nvSpPr>
        <p:spPr>
          <a:xfrm>
            <a:off x="10782300" y="2447925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162300" y="409575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classic approach to frequent itemset mining using candidate generation and pruning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Apriori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Principles &amp; Process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5619750" cy="1543050"/>
          </a:xfrm>
          <a:custGeom>
            <a:avLst/>
            <a:gdLst/>
            <a:ahLst/>
            <a:cxnLst/>
            <a:rect l="l" t="t" r="r" b="b"/>
            <a:pathLst>
              <a:path w="5619750" h="1543050">
                <a:moveTo>
                  <a:pt x="38100" y="0"/>
                </a:moveTo>
                <a:lnTo>
                  <a:pt x="5543554" y="0"/>
                </a:lnTo>
                <a:cubicBezTo>
                  <a:pt x="5585636" y="0"/>
                  <a:pt x="5619750" y="34114"/>
                  <a:pt x="5619750" y="76196"/>
                </a:cubicBezTo>
                <a:lnTo>
                  <a:pt x="5619750" y="1466854"/>
                </a:lnTo>
                <a:cubicBezTo>
                  <a:pt x="5619750" y="1508936"/>
                  <a:pt x="5585636" y="1543050"/>
                  <a:pt x="5543554" y="1543050"/>
                </a:cubicBez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8A97E">
                  <a:alpha val="20000"/>
                </a:srgbClr>
              </a:gs>
              <a:gs pos="100000">
                <a:srgbClr val="C8A97E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3810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38100" y="1543050"/>
                </a:lnTo>
                <a:cubicBezTo>
                  <a:pt x="17072" y="1543050"/>
                  <a:pt x="0" y="1525978"/>
                  <a:pt x="0" y="15049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583406" y="140970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5"/>
          <p:cNvSpPr/>
          <p:nvPr/>
        </p:nvSpPr>
        <p:spPr>
          <a:xfrm>
            <a:off x="809625" y="13716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Apriori Property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790700"/>
            <a:ext cx="4575870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"All non-empty subsets of a frequent itemset must also be frequent."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1500" y="211455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anti-monotonicity property is the foundation of Apriori. If an itemset is infrequent, all its supersets must also be infrequent—enabling efficient pruning.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876550"/>
            <a:ext cx="5638800" cy="3600450"/>
          </a:xfrm>
          <a:custGeom>
            <a:avLst/>
            <a:gdLst/>
            <a:ahLst/>
            <a:cxnLst/>
            <a:rect l="l" t="t" r="r" b="b"/>
            <a:pathLst>
              <a:path w="5638800" h="3600450">
                <a:moveTo>
                  <a:pt x="76186" y="0"/>
                </a:moveTo>
                <a:lnTo>
                  <a:pt x="5562614" y="0"/>
                </a:lnTo>
                <a:cubicBezTo>
                  <a:pt x="5604691" y="0"/>
                  <a:pt x="5638800" y="34109"/>
                  <a:pt x="5638800" y="76186"/>
                </a:cubicBezTo>
                <a:lnTo>
                  <a:pt x="5638800" y="3524264"/>
                </a:lnTo>
                <a:cubicBezTo>
                  <a:pt x="5638800" y="3566341"/>
                  <a:pt x="5604691" y="3600450"/>
                  <a:pt x="5562614" y="3600450"/>
                </a:cubicBezTo>
                <a:lnTo>
                  <a:pt x="76186" y="3600450"/>
                </a:lnTo>
                <a:cubicBezTo>
                  <a:pt x="34109" y="3600450"/>
                  <a:pt x="0" y="3566341"/>
                  <a:pt x="0" y="3524264"/>
                </a:cubicBezTo>
                <a:lnTo>
                  <a:pt x="0" y="76186"/>
                </a:lnTo>
                <a:cubicBezTo>
                  <a:pt x="0" y="34138"/>
                  <a:pt x="34138" y="0"/>
                  <a:pt x="76186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1" name="Text 9"/>
          <p:cNvSpPr/>
          <p:nvPr/>
        </p:nvSpPr>
        <p:spPr>
          <a:xfrm>
            <a:off x="533400" y="302895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Steps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33400" y="34099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3" name="Text 11"/>
          <p:cNvSpPr/>
          <p:nvPr/>
        </p:nvSpPr>
        <p:spPr>
          <a:xfrm>
            <a:off x="495300" y="34099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52500" y="3409950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Parameters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52500" y="3638550"/>
            <a:ext cx="34956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Define minimum support and confidence thresholds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39433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7" name="Text 15"/>
          <p:cNvSpPr/>
          <p:nvPr/>
        </p:nvSpPr>
        <p:spPr>
          <a:xfrm>
            <a:off x="495300" y="39433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52500" y="3943350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Frequent 1-Itemsets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52500" y="4171950"/>
            <a:ext cx="3419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 database to count individual item frequencies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44767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1" name="Text 19"/>
          <p:cNvSpPr/>
          <p:nvPr/>
        </p:nvSpPr>
        <p:spPr>
          <a:xfrm>
            <a:off x="495300" y="44767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52500" y="447675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Candidates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52500" y="4705350"/>
            <a:ext cx="3390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frequent k-itemsets to create (k+1)-candidates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33400" y="50101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5" name="Text 23"/>
          <p:cNvSpPr/>
          <p:nvPr/>
        </p:nvSpPr>
        <p:spPr>
          <a:xfrm>
            <a:off x="495300" y="50101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52500" y="5010150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Prune &amp; Test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52500" y="5238750"/>
            <a:ext cx="396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Eliminate candidates with infrequent subsets, scan to verify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3400" y="554355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9" name="Text 27"/>
          <p:cNvSpPr/>
          <p:nvPr/>
        </p:nvSpPr>
        <p:spPr>
          <a:xfrm>
            <a:off x="495300" y="5543550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52500" y="554355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Rules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52500" y="5772150"/>
            <a:ext cx="3181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association rules from frequent itemsets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72200" y="1219200"/>
            <a:ext cx="5638800" cy="1828800"/>
          </a:xfrm>
          <a:custGeom>
            <a:avLst/>
            <a:gdLst/>
            <a:ahLst/>
            <a:cxnLst/>
            <a:rect l="l" t="t" r="r" b="b"/>
            <a:pathLst>
              <a:path w="5638800" h="1828800">
                <a:moveTo>
                  <a:pt x="76206" y="0"/>
                </a:moveTo>
                <a:lnTo>
                  <a:pt x="5562594" y="0"/>
                </a:lnTo>
                <a:cubicBezTo>
                  <a:pt x="5604681" y="0"/>
                  <a:pt x="5638800" y="34119"/>
                  <a:pt x="5638800" y="76206"/>
                </a:cubicBezTo>
                <a:lnTo>
                  <a:pt x="5638800" y="1752594"/>
                </a:lnTo>
                <a:cubicBezTo>
                  <a:pt x="5638800" y="1794681"/>
                  <a:pt x="5604681" y="1828800"/>
                  <a:pt x="5562594" y="1828800"/>
                </a:cubicBezTo>
                <a:lnTo>
                  <a:pt x="76206" y="1828800"/>
                </a:lnTo>
                <a:cubicBezTo>
                  <a:pt x="34119" y="1828800"/>
                  <a:pt x="0" y="1794681"/>
                  <a:pt x="0" y="17525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33" name="Text 31"/>
          <p:cNvSpPr/>
          <p:nvPr/>
        </p:nvSpPr>
        <p:spPr>
          <a:xfrm>
            <a:off x="6324600" y="137160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Characteristics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348413" y="17811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5" name="Text 33"/>
          <p:cNvSpPr/>
          <p:nvPr/>
        </p:nvSpPr>
        <p:spPr>
          <a:xfrm>
            <a:off x="6653213" y="175260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Breadth-First Search: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Explores level by level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348413" y="20859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7" name="Text 35"/>
          <p:cNvSpPr/>
          <p:nvPr/>
        </p:nvSpPr>
        <p:spPr>
          <a:xfrm>
            <a:off x="6653213" y="2057400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Database Scans: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One scan per level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48413" y="2390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113987" y="71225"/>
                </a:moveTo>
                <a:lnTo>
                  <a:pt x="87198" y="114088"/>
                </a:lnTo>
                <a:cubicBezTo>
                  <a:pt x="85792" y="116332"/>
                  <a:pt x="83381" y="117738"/>
                  <a:pt x="80736" y="117872"/>
                </a:cubicBezTo>
                <a:cubicBezTo>
                  <a:pt x="78090" y="118006"/>
                  <a:pt x="75545" y="116800"/>
                  <a:pt x="73971" y="114657"/>
                </a:cubicBezTo>
                <a:lnTo>
                  <a:pt x="57898" y="93226"/>
                </a:lnTo>
                <a:cubicBezTo>
                  <a:pt x="55219" y="89676"/>
                  <a:pt x="55956" y="84653"/>
                  <a:pt x="59505" y="81975"/>
                </a:cubicBezTo>
                <a:cubicBezTo>
                  <a:pt x="63055" y="79296"/>
                  <a:pt x="68078" y="80032"/>
                  <a:pt x="70757" y="83582"/>
                </a:cubicBezTo>
                <a:lnTo>
                  <a:pt x="79798" y="95637"/>
                </a:lnTo>
                <a:lnTo>
                  <a:pt x="100359" y="62720"/>
                </a:lnTo>
                <a:cubicBezTo>
                  <a:pt x="102703" y="58969"/>
                  <a:pt x="107659" y="57797"/>
                  <a:pt x="111443" y="60175"/>
                </a:cubicBezTo>
                <a:cubicBezTo>
                  <a:pt x="115226" y="62552"/>
                  <a:pt x="116365" y="67475"/>
                  <a:pt x="113987" y="71259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9" name="Text 37"/>
          <p:cNvSpPr/>
          <p:nvPr/>
        </p:nvSpPr>
        <p:spPr>
          <a:xfrm>
            <a:off x="6653213" y="2362200"/>
            <a:ext cx="3781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 Generation: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Creates all possible combinations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348413" y="26955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90647" y="0"/>
                  <a:pt x="95168" y="2712"/>
                  <a:pt x="97512" y="7032"/>
                </a:cubicBezTo>
                <a:lnTo>
                  <a:pt x="169843" y="140977"/>
                </a:lnTo>
                <a:cubicBezTo>
                  <a:pt x="172086" y="145130"/>
                  <a:pt x="171986" y="150153"/>
                  <a:pt x="169575" y="154205"/>
                </a:cubicBezTo>
                <a:cubicBezTo>
                  <a:pt x="167164" y="158256"/>
                  <a:pt x="162777" y="160734"/>
                  <a:pt x="158055" y="160734"/>
                </a:cubicBezTo>
                <a:lnTo>
                  <a:pt x="13395" y="160734"/>
                </a:lnTo>
                <a:cubicBezTo>
                  <a:pt x="8673" y="160734"/>
                  <a:pt x="4320" y="158256"/>
                  <a:pt x="1875" y="154205"/>
                </a:cubicBezTo>
                <a:cubicBezTo>
                  <a:pt x="-569" y="150153"/>
                  <a:pt x="-636" y="145130"/>
                  <a:pt x="1607" y="140977"/>
                </a:cubicBezTo>
                <a:lnTo>
                  <a:pt x="73938" y="7032"/>
                </a:lnTo>
                <a:cubicBezTo>
                  <a:pt x="76282" y="2712"/>
                  <a:pt x="80803" y="0"/>
                  <a:pt x="85725" y="0"/>
                </a:cubicBezTo>
                <a:close/>
                <a:moveTo>
                  <a:pt x="85725" y="56257"/>
                </a:moveTo>
                <a:cubicBezTo>
                  <a:pt x="81271" y="56257"/>
                  <a:pt x="77688" y="59840"/>
                  <a:pt x="77688" y="64294"/>
                </a:cubicBezTo>
                <a:lnTo>
                  <a:pt x="77688" y="101798"/>
                </a:lnTo>
                <a:cubicBezTo>
                  <a:pt x="77688" y="106252"/>
                  <a:pt x="81271" y="109835"/>
                  <a:pt x="85725" y="109835"/>
                </a:cubicBezTo>
                <a:cubicBezTo>
                  <a:pt x="90179" y="109835"/>
                  <a:pt x="93762" y="106252"/>
                  <a:pt x="93762" y="101798"/>
                </a:cubicBezTo>
                <a:lnTo>
                  <a:pt x="93762" y="64294"/>
                </a:lnTo>
                <a:cubicBezTo>
                  <a:pt x="93762" y="59840"/>
                  <a:pt x="90179" y="56257"/>
                  <a:pt x="85725" y="56257"/>
                </a:cubicBezTo>
                <a:close/>
                <a:moveTo>
                  <a:pt x="94666" y="128588"/>
                </a:moveTo>
                <a:cubicBezTo>
                  <a:pt x="94869" y="125269"/>
                  <a:pt x="93214" y="122111"/>
                  <a:pt x="90369" y="120390"/>
                </a:cubicBezTo>
                <a:cubicBezTo>
                  <a:pt x="87524" y="118670"/>
                  <a:pt x="83959" y="118670"/>
                  <a:pt x="81114" y="120390"/>
                </a:cubicBezTo>
                <a:cubicBezTo>
                  <a:pt x="78269" y="122111"/>
                  <a:pt x="76614" y="125269"/>
                  <a:pt x="76818" y="128587"/>
                </a:cubicBezTo>
                <a:cubicBezTo>
                  <a:pt x="76614" y="131906"/>
                  <a:pt x="78269" y="135064"/>
                  <a:pt x="81114" y="136785"/>
                </a:cubicBezTo>
                <a:cubicBezTo>
                  <a:pt x="83959" y="138505"/>
                  <a:pt x="87524" y="138505"/>
                  <a:pt x="90369" y="136785"/>
                </a:cubicBezTo>
                <a:cubicBezTo>
                  <a:pt x="93214" y="135064"/>
                  <a:pt x="94869" y="131906"/>
                  <a:pt x="94666" y="128588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41" name="Text 39"/>
          <p:cNvSpPr/>
          <p:nvPr/>
        </p:nvSpPr>
        <p:spPr>
          <a:xfrm>
            <a:off x="6653213" y="2667000"/>
            <a:ext cx="4086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Computational Cost: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Many candidates for large datasets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172200" y="3162300"/>
            <a:ext cx="5638800" cy="2495550"/>
          </a:xfrm>
          <a:custGeom>
            <a:avLst/>
            <a:gdLst/>
            <a:ahLst/>
            <a:cxnLst/>
            <a:rect l="l" t="t" r="r" b="b"/>
            <a:pathLst>
              <a:path w="5638800" h="2495550">
                <a:moveTo>
                  <a:pt x="76189" y="0"/>
                </a:moveTo>
                <a:lnTo>
                  <a:pt x="5562611" y="0"/>
                </a:lnTo>
                <a:cubicBezTo>
                  <a:pt x="5604661" y="0"/>
                  <a:pt x="5638800" y="34139"/>
                  <a:pt x="5638800" y="76189"/>
                </a:cubicBezTo>
                <a:lnTo>
                  <a:pt x="5638800" y="2419361"/>
                </a:lnTo>
                <a:cubicBezTo>
                  <a:pt x="5638800" y="2461439"/>
                  <a:pt x="5604689" y="2495550"/>
                  <a:pt x="5562611" y="2495550"/>
                </a:cubicBezTo>
                <a:lnTo>
                  <a:pt x="76189" y="2495550"/>
                </a:lnTo>
                <a:cubicBezTo>
                  <a:pt x="34139" y="2495550"/>
                  <a:pt x="0" y="2461411"/>
                  <a:pt x="0" y="2419361"/>
                </a:cubicBezTo>
                <a:lnTo>
                  <a:pt x="0" y="76189"/>
                </a:lnTo>
                <a:cubicBezTo>
                  <a:pt x="0" y="34139"/>
                  <a:pt x="34139" y="0"/>
                  <a:pt x="76189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43" name="Text 41"/>
          <p:cNvSpPr/>
          <p:nvPr/>
        </p:nvSpPr>
        <p:spPr>
          <a:xfrm>
            <a:off x="6324600" y="331470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&amp; Disadvantages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324600" y="36957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24600" y="40005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Easy to understand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324600" y="42672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Intuitive logic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324600" y="45339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Interpretable results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24600" y="48006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Strong foundation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9048750" y="36957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9048750" y="40005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Multiple DB scans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9048750" y="42672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Many candidates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048750" y="45339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Memory intensive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48750" y="4800600"/>
            <a:ext cx="2686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Scalability issues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176963" y="5776913"/>
            <a:ext cx="5629275" cy="695325"/>
          </a:xfrm>
          <a:custGeom>
            <a:avLst/>
            <a:gdLst/>
            <a:ahLst/>
            <a:cxnLst/>
            <a:rect l="l" t="t" r="r" b="b"/>
            <a:pathLst>
              <a:path w="5629275" h="695325">
                <a:moveTo>
                  <a:pt x="76201" y="0"/>
                </a:moveTo>
                <a:lnTo>
                  <a:pt x="5553074" y="0"/>
                </a:lnTo>
                <a:cubicBezTo>
                  <a:pt x="5595159" y="0"/>
                  <a:pt x="5629275" y="34116"/>
                  <a:pt x="5629275" y="76201"/>
                </a:cubicBezTo>
                <a:lnTo>
                  <a:pt x="5629275" y="619124"/>
                </a:lnTo>
                <a:cubicBezTo>
                  <a:pt x="5629275" y="661209"/>
                  <a:pt x="5595159" y="695325"/>
                  <a:pt x="55530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315075" y="592931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66675" y="47625"/>
                </a:moveTo>
                <a:cubicBezTo>
                  <a:pt x="66675" y="42368"/>
                  <a:pt x="70943" y="38100"/>
                  <a:pt x="76200" y="38100"/>
                </a:cubicBezTo>
                <a:cubicBezTo>
                  <a:pt x="81457" y="38100"/>
                  <a:pt x="85725" y="42368"/>
                  <a:pt x="85725" y="47625"/>
                </a:cubicBezTo>
                <a:cubicBezTo>
                  <a:pt x="85725" y="52882"/>
                  <a:pt x="81457" y="57150"/>
                  <a:pt x="76200" y="57150"/>
                </a:cubicBezTo>
                <a:cubicBezTo>
                  <a:pt x="70943" y="57150"/>
                  <a:pt x="66675" y="52882"/>
                  <a:pt x="66675" y="47625"/>
                </a:cubicBezTo>
                <a:close/>
                <a:moveTo>
                  <a:pt x="64294" y="66675"/>
                </a:moveTo>
                <a:lnTo>
                  <a:pt x="78581" y="66675"/>
                </a:lnTo>
                <a:cubicBezTo>
                  <a:pt x="82540" y="66675"/>
                  <a:pt x="85725" y="69860"/>
                  <a:pt x="85725" y="73819"/>
                </a:cubicBezTo>
                <a:lnTo>
                  <a:pt x="85725" y="100013"/>
                </a:lnTo>
                <a:lnTo>
                  <a:pt x="88106" y="100013"/>
                </a:lnTo>
                <a:cubicBezTo>
                  <a:pt x="92065" y="100013"/>
                  <a:pt x="95250" y="103197"/>
                  <a:pt x="95250" y="107156"/>
                </a:cubicBezTo>
                <a:cubicBezTo>
                  <a:pt x="95250" y="111115"/>
                  <a:pt x="92065" y="114300"/>
                  <a:pt x="88106" y="114300"/>
                </a:cubicBezTo>
                <a:lnTo>
                  <a:pt x="64294" y="114300"/>
                </a:lnTo>
                <a:cubicBezTo>
                  <a:pt x="60335" y="114300"/>
                  <a:pt x="57150" y="111115"/>
                  <a:pt x="57150" y="107156"/>
                </a:cubicBezTo>
                <a:cubicBezTo>
                  <a:pt x="57150" y="103197"/>
                  <a:pt x="60335" y="100013"/>
                  <a:pt x="64294" y="100013"/>
                </a:cubicBezTo>
                <a:lnTo>
                  <a:pt x="71438" y="100013"/>
                </a:lnTo>
                <a:lnTo>
                  <a:pt x="71438" y="80962"/>
                </a:lnTo>
                <a:lnTo>
                  <a:pt x="64294" y="80962"/>
                </a:lnTo>
                <a:cubicBezTo>
                  <a:pt x="60335" y="80962"/>
                  <a:pt x="57150" y="77778"/>
                  <a:pt x="57150" y="73819"/>
                </a:cubicBezTo>
                <a:cubicBezTo>
                  <a:pt x="57150" y="69860"/>
                  <a:pt x="60335" y="66675"/>
                  <a:pt x="64294" y="6667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6" name="Text 54"/>
          <p:cNvSpPr/>
          <p:nvPr/>
        </p:nvSpPr>
        <p:spPr>
          <a:xfrm>
            <a:off x="6543675" y="5895975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Complexity: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O(n×2^m) where n = transactions, m = items. Performance degrades with large datasets.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116" y="359116"/>
            <a:ext cx="1154559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spc="113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Apriori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59116" y="646409"/>
            <a:ext cx="11635370" cy="3591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45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Step-by-Step Example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9116" y="1149172"/>
            <a:ext cx="4524866" cy="2154698"/>
          </a:xfrm>
          <a:custGeom>
            <a:avLst/>
            <a:gdLst/>
            <a:ahLst/>
            <a:cxnLst/>
            <a:rect l="l" t="t" r="r" b="b"/>
            <a:pathLst>
              <a:path w="4524866" h="2154698">
                <a:moveTo>
                  <a:pt x="71816" y="0"/>
                </a:moveTo>
                <a:lnTo>
                  <a:pt x="4453050" y="0"/>
                </a:lnTo>
                <a:cubicBezTo>
                  <a:pt x="4492713" y="0"/>
                  <a:pt x="4524866" y="32153"/>
                  <a:pt x="4524866" y="71816"/>
                </a:cubicBezTo>
                <a:lnTo>
                  <a:pt x="4524866" y="2082882"/>
                </a:lnTo>
                <a:cubicBezTo>
                  <a:pt x="4524866" y="2122545"/>
                  <a:pt x="4492713" y="2154698"/>
                  <a:pt x="4453050" y="2154698"/>
                </a:cubicBezTo>
                <a:lnTo>
                  <a:pt x="71816" y="2154698"/>
                </a:lnTo>
                <a:cubicBezTo>
                  <a:pt x="32153" y="2154698"/>
                  <a:pt x="0" y="2122545"/>
                  <a:pt x="0" y="2082882"/>
                </a:cubicBezTo>
                <a:lnTo>
                  <a:pt x="0" y="71816"/>
                </a:lnTo>
                <a:cubicBezTo>
                  <a:pt x="0" y="32180"/>
                  <a:pt x="32180" y="0"/>
                  <a:pt x="71816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5" name="Text 3"/>
          <p:cNvSpPr/>
          <p:nvPr/>
        </p:nvSpPr>
        <p:spPr>
          <a:xfrm>
            <a:off x="466851" y="1256907"/>
            <a:ext cx="438121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Database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851" y="1544200"/>
            <a:ext cx="4309396" cy="1364642"/>
          </a:xfrm>
          <a:custGeom>
            <a:avLst/>
            <a:gdLst/>
            <a:ahLst/>
            <a:cxnLst/>
            <a:rect l="l" t="t" r="r" b="b"/>
            <a:pathLst>
              <a:path w="4309396" h="1364642">
                <a:moveTo>
                  <a:pt x="35917" y="0"/>
                </a:moveTo>
                <a:lnTo>
                  <a:pt x="4273479" y="0"/>
                </a:lnTo>
                <a:cubicBezTo>
                  <a:pt x="4293315" y="0"/>
                  <a:pt x="4309396" y="16081"/>
                  <a:pt x="4309396" y="35917"/>
                </a:cubicBezTo>
                <a:lnTo>
                  <a:pt x="4309396" y="1328725"/>
                </a:lnTo>
                <a:cubicBezTo>
                  <a:pt x="4309396" y="1348561"/>
                  <a:pt x="4293315" y="1364642"/>
                  <a:pt x="4273479" y="1364642"/>
                </a:cubicBezTo>
                <a:lnTo>
                  <a:pt x="35917" y="1364642"/>
                </a:lnTo>
                <a:cubicBezTo>
                  <a:pt x="16081" y="1364642"/>
                  <a:pt x="0" y="1348561"/>
                  <a:pt x="0" y="1328725"/>
                </a:cubicBezTo>
                <a:lnTo>
                  <a:pt x="0" y="35917"/>
                </a:lnTo>
                <a:cubicBezTo>
                  <a:pt x="0" y="16081"/>
                  <a:pt x="16081" y="0"/>
                  <a:pt x="3591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Text 5"/>
          <p:cNvSpPr/>
          <p:nvPr/>
        </p:nvSpPr>
        <p:spPr>
          <a:xfrm>
            <a:off x="538675" y="1616024"/>
            <a:ext cx="423757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T1: {Bread, Milk}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8675" y="1867405"/>
            <a:ext cx="423757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T2: {Bread, Diaper, Beer, Eggs}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8675" y="2118786"/>
            <a:ext cx="423757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T3: {Milk, Diaper, Beer, Coke}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8675" y="2370168"/>
            <a:ext cx="423757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T4: {Bread, Milk, Diaper, Beer}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8675" y="2621549"/>
            <a:ext cx="423757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T5: {Bread, Milk, Diaper, Coke}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851" y="2980666"/>
            <a:ext cx="438121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min_sup = 60% (≥3 transactions)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992489" y="1149172"/>
            <a:ext cx="6841166" cy="2154698"/>
          </a:xfrm>
          <a:custGeom>
            <a:avLst/>
            <a:gdLst/>
            <a:ahLst/>
            <a:cxnLst/>
            <a:rect l="l" t="t" r="r" b="b"/>
            <a:pathLst>
              <a:path w="6841166" h="2154698">
                <a:moveTo>
                  <a:pt x="71816" y="0"/>
                </a:moveTo>
                <a:lnTo>
                  <a:pt x="6769350" y="0"/>
                </a:lnTo>
                <a:cubicBezTo>
                  <a:pt x="6809013" y="0"/>
                  <a:pt x="6841166" y="32153"/>
                  <a:pt x="6841166" y="71816"/>
                </a:cubicBezTo>
                <a:lnTo>
                  <a:pt x="6841166" y="2082882"/>
                </a:lnTo>
                <a:cubicBezTo>
                  <a:pt x="6841166" y="2122545"/>
                  <a:pt x="6809013" y="2154698"/>
                  <a:pt x="6769350" y="2154698"/>
                </a:cubicBezTo>
                <a:lnTo>
                  <a:pt x="71816" y="2154698"/>
                </a:lnTo>
                <a:cubicBezTo>
                  <a:pt x="32153" y="2154698"/>
                  <a:pt x="0" y="2122545"/>
                  <a:pt x="0" y="2082882"/>
                </a:cubicBezTo>
                <a:lnTo>
                  <a:pt x="0" y="71816"/>
                </a:lnTo>
                <a:cubicBezTo>
                  <a:pt x="0" y="32180"/>
                  <a:pt x="32180" y="0"/>
                  <a:pt x="71816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4" name="Text 12"/>
          <p:cNvSpPr/>
          <p:nvPr/>
        </p:nvSpPr>
        <p:spPr>
          <a:xfrm>
            <a:off x="5100224" y="1256907"/>
            <a:ext cx="669752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1: Frequent 1-Itemsets (C₁ → L₁)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100224" y="1544200"/>
            <a:ext cx="1265885" cy="736189"/>
          </a:xfrm>
          <a:custGeom>
            <a:avLst/>
            <a:gdLst/>
            <a:ahLst/>
            <a:cxnLst/>
            <a:rect l="l" t="t" r="r" b="b"/>
            <a:pathLst>
              <a:path w="1265885" h="736189">
                <a:moveTo>
                  <a:pt x="35911" y="0"/>
                </a:moveTo>
                <a:lnTo>
                  <a:pt x="1229974" y="0"/>
                </a:lnTo>
                <a:cubicBezTo>
                  <a:pt x="1249807" y="0"/>
                  <a:pt x="1265885" y="16078"/>
                  <a:pt x="1265885" y="35911"/>
                </a:cubicBezTo>
                <a:lnTo>
                  <a:pt x="1265885" y="700277"/>
                </a:lnTo>
                <a:cubicBezTo>
                  <a:pt x="1265885" y="720110"/>
                  <a:pt x="1249807" y="736189"/>
                  <a:pt x="1229974" y="736189"/>
                </a:cubicBezTo>
                <a:lnTo>
                  <a:pt x="35911" y="736189"/>
                </a:lnTo>
                <a:cubicBezTo>
                  <a:pt x="16078" y="736189"/>
                  <a:pt x="0" y="720110"/>
                  <a:pt x="0" y="700277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5136135" y="1616024"/>
            <a:ext cx="11940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Bread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36135" y="1831493"/>
            <a:ext cx="11940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(80%)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39966" y="1544200"/>
            <a:ext cx="1265885" cy="736189"/>
          </a:xfrm>
          <a:custGeom>
            <a:avLst/>
            <a:gdLst/>
            <a:ahLst/>
            <a:cxnLst/>
            <a:rect l="l" t="t" r="r" b="b"/>
            <a:pathLst>
              <a:path w="1265885" h="736189">
                <a:moveTo>
                  <a:pt x="35911" y="0"/>
                </a:moveTo>
                <a:lnTo>
                  <a:pt x="1229974" y="0"/>
                </a:lnTo>
                <a:cubicBezTo>
                  <a:pt x="1249807" y="0"/>
                  <a:pt x="1265885" y="16078"/>
                  <a:pt x="1265885" y="35911"/>
                </a:cubicBezTo>
                <a:lnTo>
                  <a:pt x="1265885" y="700277"/>
                </a:lnTo>
                <a:cubicBezTo>
                  <a:pt x="1265885" y="720110"/>
                  <a:pt x="1249807" y="736189"/>
                  <a:pt x="1229974" y="736189"/>
                </a:cubicBezTo>
                <a:lnTo>
                  <a:pt x="35911" y="736189"/>
                </a:lnTo>
                <a:cubicBezTo>
                  <a:pt x="16078" y="736189"/>
                  <a:pt x="0" y="720110"/>
                  <a:pt x="0" y="700277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9" name="Text 17"/>
          <p:cNvSpPr/>
          <p:nvPr/>
        </p:nvSpPr>
        <p:spPr>
          <a:xfrm>
            <a:off x="6475878" y="1616024"/>
            <a:ext cx="11940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Milk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5878" y="1831493"/>
            <a:ext cx="11940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(80%)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779709" y="1544200"/>
            <a:ext cx="1265885" cy="736189"/>
          </a:xfrm>
          <a:custGeom>
            <a:avLst/>
            <a:gdLst/>
            <a:ahLst/>
            <a:cxnLst/>
            <a:rect l="l" t="t" r="r" b="b"/>
            <a:pathLst>
              <a:path w="1265885" h="736189">
                <a:moveTo>
                  <a:pt x="35911" y="0"/>
                </a:moveTo>
                <a:lnTo>
                  <a:pt x="1229974" y="0"/>
                </a:lnTo>
                <a:cubicBezTo>
                  <a:pt x="1249807" y="0"/>
                  <a:pt x="1265885" y="16078"/>
                  <a:pt x="1265885" y="35911"/>
                </a:cubicBezTo>
                <a:lnTo>
                  <a:pt x="1265885" y="700277"/>
                </a:lnTo>
                <a:cubicBezTo>
                  <a:pt x="1265885" y="720110"/>
                  <a:pt x="1249807" y="736189"/>
                  <a:pt x="1229974" y="736189"/>
                </a:cubicBezTo>
                <a:lnTo>
                  <a:pt x="35911" y="736189"/>
                </a:lnTo>
                <a:cubicBezTo>
                  <a:pt x="16078" y="736189"/>
                  <a:pt x="0" y="720110"/>
                  <a:pt x="0" y="700277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2" name="Text 20"/>
          <p:cNvSpPr/>
          <p:nvPr/>
        </p:nvSpPr>
        <p:spPr>
          <a:xfrm>
            <a:off x="7815620" y="1616024"/>
            <a:ext cx="11940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Diaper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815620" y="1831493"/>
            <a:ext cx="11940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(80%)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19451" y="1544200"/>
            <a:ext cx="1265885" cy="736189"/>
          </a:xfrm>
          <a:custGeom>
            <a:avLst/>
            <a:gdLst/>
            <a:ahLst/>
            <a:cxnLst/>
            <a:rect l="l" t="t" r="r" b="b"/>
            <a:pathLst>
              <a:path w="1265885" h="736189">
                <a:moveTo>
                  <a:pt x="35911" y="0"/>
                </a:moveTo>
                <a:lnTo>
                  <a:pt x="1229974" y="0"/>
                </a:lnTo>
                <a:cubicBezTo>
                  <a:pt x="1249807" y="0"/>
                  <a:pt x="1265885" y="16078"/>
                  <a:pt x="1265885" y="35911"/>
                </a:cubicBezTo>
                <a:lnTo>
                  <a:pt x="1265885" y="700277"/>
                </a:lnTo>
                <a:cubicBezTo>
                  <a:pt x="1265885" y="720110"/>
                  <a:pt x="1249807" y="736189"/>
                  <a:pt x="1229974" y="736189"/>
                </a:cubicBezTo>
                <a:lnTo>
                  <a:pt x="35911" y="736189"/>
                </a:lnTo>
                <a:cubicBezTo>
                  <a:pt x="16078" y="736189"/>
                  <a:pt x="0" y="720110"/>
                  <a:pt x="0" y="700277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5" name="Text 23"/>
          <p:cNvSpPr/>
          <p:nvPr/>
        </p:nvSpPr>
        <p:spPr>
          <a:xfrm>
            <a:off x="9155363" y="1616024"/>
            <a:ext cx="11940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55363" y="1831493"/>
            <a:ext cx="1194062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(60%)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463682" y="1548689"/>
            <a:ext cx="1256907" cy="727211"/>
          </a:xfrm>
          <a:custGeom>
            <a:avLst/>
            <a:gdLst/>
            <a:ahLst/>
            <a:cxnLst/>
            <a:rect l="l" t="t" r="r" b="b"/>
            <a:pathLst>
              <a:path w="1256907" h="727211">
                <a:moveTo>
                  <a:pt x="35910" y="0"/>
                </a:moveTo>
                <a:lnTo>
                  <a:pt x="1220998" y="0"/>
                </a:lnTo>
                <a:cubicBezTo>
                  <a:pt x="1240830" y="0"/>
                  <a:pt x="1256907" y="16077"/>
                  <a:pt x="1256907" y="35910"/>
                </a:cubicBezTo>
                <a:lnTo>
                  <a:pt x="1256907" y="691301"/>
                </a:lnTo>
                <a:cubicBezTo>
                  <a:pt x="1256907" y="711133"/>
                  <a:pt x="1240830" y="727211"/>
                  <a:pt x="1220998" y="727211"/>
                </a:cubicBezTo>
                <a:lnTo>
                  <a:pt x="35910" y="727211"/>
                </a:lnTo>
                <a:cubicBezTo>
                  <a:pt x="16077" y="727211"/>
                  <a:pt x="0" y="711133"/>
                  <a:pt x="0" y="691301"/>
                </a:cubicBezTo>
                <a:lnTo>
                  <a:pt x="0" y="35910"/>
                </a:lnTo>
                <a:cubicBezTo>
                  <a:pt x="0" y="16091"/>
                  <a:pt x="16091" y="0"/>
                  <a:pt x="35910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 w="12700">
            <a:solidFill>
              <a:srgbClr val="4A6C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04083" y="1625001"/>
            <a:ext cx="1176106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Coke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504083" y="1840471"/>
            <a:ext cx="1176106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(40%)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513061" y="2055941"/>
            <a:ext cx="1158150" cy="143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848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pruned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59116" y="3411605"/>
            <a:ext cx="5683016" cy="2011052"/>
          </a:xfrm>
          <a:custGeom>
            <a:avLst/>
            <a:gdLst/>
            <a:ahLst/>
            <a:cxnLst/>
            <a:rect l="l" t="t" r="r" b="b"/>
            <a:pathLst>
              <a:path w="5683016" h="2011052">
                <a:moveTo>
                  <a:pt x="71815" y="0"/>
                </a:moveTo>
                <a:lnTo>
                  <a:pt x="5611202" y="0"/>
                </a:lnTo>
                <a:cubicBezTo>
                  <a:pt x="5650864" y="0"/>
                  <a:pt x="5683016" y="32153"/>
                  <a:pt x="5683016" y="71815"/>
                </a:cubicBezTo>
                <a:lnTo>
                  <a:pt x="5683016" y="1939237"/>
                </a:lnTo>
                <a:cubicBezTo>
                  <a:pt x="5683016" y="1978899"/>
                  <a:pt x="5650864" y="2011052"/>
                  <a:pt x="5611202" y="2011052"/>
                </a:cubicBezTo>
                <a:lnTo>
                  <a:pt x="71815" y="2011052"/>
                </a:lnTo>
                <a:cubicBezTo>
                  <a:pt x="32153" y="2011052"/>
                  <a:pt x="0" y="1978899"/>
                  <a:pt x="0" y="1939237"/>
                </a:cubicBezTo>
                <a:lnTo>
                  <a:pt x="0" y="71815"/>
                </a:lnTo>
                <a:cubicBezTo>
                  <a:pt x="0" y="32153"/>
                  <a:pt x="32153" y="0"/>
                  <a:pt x="71815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32" name="Text 30"/>
          <p:cNvSpPr/>
          <p:nvPr/>
        </p:nvSpPr>
        <p:spPr>
          <a:xfrm>
            <a:off x="466851" y="3519340"/>
            <a:ext cx="553937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2: Candidate 2-Itemsets (C₂)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66851" y="3806633"/>
            <a:ext cx="1777626" cy="574586"/>
          </a:xfrm>
          <a:custGeom>
            <a:avLst/>
            <a:gdLst/>
            <a:ahLst/>
            <a:cxnLst/>
            <a:rect l="l" t="t" r="r" b="b"/>
            <a:pathLst>
              <a:path w="1777626" h="574586">
                <a:moveTo>
                  <a:pt x="35912" y="0"/>
                </a:moveTo>
                <a:lnTo>
                  <a:pt x="1741714" y="0"/>
                </a:lnTo>
                <a:cubicBezTo>
                  <a:pt x="1761548" y="0"/>
                  <a:pt x="1777626" y="16078"/>
                  <a:pt x="1777626" y="35912"/>
                </a:cubicBezTo>
                <a:lnTo>
                  <a:pt x="1777626" y="538675"/>
                </a:lnTo>
                <a:cubicBezTo>
                  <a:pt x="1777626" y="558508"/>
                  <a:pt x="1761548" y="574586"/>
                  <a:pt x="1741714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4" name="Text 32"/>
          <p:cNvSpPr/>
          <p:nvPr/>
        </p:nvSpPr>
        <p:spPr>
          <a:xfrm>
            <a:off x="502763" y="3878457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{B,Mi}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02763" y="4093926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(60%)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2313635" y="3806633"/>
            <a:ext cx="1777626" cy="574586"/>
          </a:xfrm>
          <a:custGeom>
            <a:avLst/>
            <a:gdLst/>
            <a:ahLst/>
            <a:cxnLst/>
            <a:rect l="l" t="t" r="r" b="b"/>
            <a:pathLst>
              <a:path w="1777626" h="574586">
                <a:moveTo>
                  <a:pt x="35912" y="0"/>
                </a:moveTo>
                <a:lnTo>
                  <a:pt x="1741714" y="0"/>
                </a:lnTo>
                <a:cubicBezTo>
                  <a:pt x="1761548" y="0"/>
                  <a:pt x="1777626" y="16078"/>
                  <a:pt x="1777626" y="35912"/>
                </a:cubicBezTo>
                <a:lnTo>
                  <a:pt x="1777626" y="538675"/>
                </a:lnTo>
                <a:cubicBezTo>
                  <a:pt x="1777626" y="558508"/>
                  <a:pt x="1761548" y="574586"/>
                  <a:pt x="1741714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7" name="Text 35"/>
          <p:cNvSpPr/>
          <p:nvPr/>
        </p:nvSpPr>
        <p:spPr>
          <a:xfrm>
            <a:off x="2349547" y="3878457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{B,D}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2349547" y="4093926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(60%)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4160419" y="3806633"/>
            <a:ext cx="1777626" cy="574586"/>
          </a:xfrm>
          <a:custGeom>
            <a:avLst/>
            <a:gdLst/>
            <a:ahLst/>
            <a:cxnLst/>
            <a:rect l="l" t="t" r="r" b="b"/>
            <a:pathLst>
              <a:path w="1777626" h="574586">
                <a:moveTo>
                  <a:pt x="35912" y="0"/>
                </a:moveTo>
                <a:lnTo>
                  <a:pt x="1741714" y="0"/>
                </a:lnTo>
                <a:cubicBezTo>
                  <a:pt x="1761548" y="0"/>
                  <a:pt x="1777626" y="16078"/>
                  <a:pt x="1777626" y="35912"/>
                </a:cubicBezTo>
                <a:lnTo>
                  <a:pt x="1777626" y="538675"/>
                </a:lnTo>
                <a:cubicBezTo>
                  <a:pt x="1777626" y="558508"/>
                  <a:pt x="1761548" y="574586"/>
                  <a:pt x="1741714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8"/>
          <p:cNvSpPr/>
          <p:nvPr/>
        </p:nvSpPr>
        <p:spPr>
          <a:xfrm>
            <a:off x="4196331" y="3878457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{B,Be}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196331" y="4093926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(40%)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466851" y="4453043"/>
            <a:ext cx="1777626" cy="574586"/>
          </a:xfrm>
          <a:custGeom>
            <a:avLst/>
            <a:gdLst/>
            <a:ahLst/>
            <a:cxnLst/>
            <a:rect l="l" t="t" r="r" b="b"/>
            <a:pathLst>
              <a:path w="1777626" h="574586">
                <a:moveTo>
                  <a:pt x="35912" y="0"/>
                </a:moveTo>
                <a:lnTo>
                  <a:pt x="1741714" y="0"/>
                </a:lnTo>
                <a:cubicBezTo>
                  <a:pt x="1761548" y="0"/>
                  <a:pt x="1777626" y="16078"/>
                  <a:pt x="1777626" y="35912"/>
                </a:cubicBezTo>
                <a:lnTo>
                  <a:pt x="1777626" y="538675"/>
                </a:lnTo>
                <a:cubicBezTo>
                  <a:pt x="1777626" y="558508"/>
                  <a:pt x="1761548" y="574586"/>
                  <a:pt x="1741714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Text 41"/>
          <p:cNvSpPr/>
          <p:nvPr/>
        </p:nvSpPr>
        <p:spPr>
          <a:xfrm>
            <a:off x="502763" y="4524866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{Mi,D}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502763" y="4740336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(60%)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2313635" y="4453043"/>
            <a:ext cx="1777626" cy="574586"/>
          </a:xfrm>
          <a:custGeom>
            <a:avLst/>
            <a:gdLst/>
            <a:ahLst/>
            <a:cxnLst/>
            <a:rect l="l" t="t" r="r" b="b"/>
            <a:pathLst>
              <a:path w="1777626" h="574586">
                <a:moveTo>
                  <a:pt x="35912" y="0"/>
                </a:moveTo>
                <a:lnTo>
                  <a:pt x="1741714" y="0"/>
                </a:lnTo>
                <a:cubicBezTo>
                  <a:pt x="1761548" y="0"/>
                  <a:pt x="1777626" y="16078"/>
                  <a:pt x="1777626" y="35912"/>
                </a:cubicBezTo>
                <a:lnTo>
                  <a:pt x="1777626" y="538675"/>
                </a:lnTo>
                <a:cubicBezTo>
                  <a:pt x="1777626" y="558508"/>
                  <a:pt x="1761548" y="574586"/>
                  <a:pt x="1741714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6" name="Text 44"/>
          <p:cNvSpPr/>
          <p:nvPr/>
        </p:nvSpPr>
        <p:spPr>
          <a:xfrm>
            <a:off x="2349547" y="4524866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{Mi,Be}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349547" y="4740336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(40%)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4160419" y="4453043"/>
            <a:ext cx="1777626" cy="574586"/>
          </a:xfrm>
          <a:custGeom>
            <a:avLst/>
            <a:gdLst/>
            <a:ahLst/>
            <a:cxnLst/>
            <a:rect l="l" t="t" r="r" b="b"/>
            <a:pathLst>
              <a:path w="1777626" h="574586">
                <a:moveTo>
                  <a:pt x="35912" y="0"/>
                </a:moveTo>
                <a:lnTo>
                  <a:pt x="1741714" y="0"/>
                </a:lnTo>
                <a:cubicBezTo>
                  <a:pt x="1761548" y="0"/>
                  <a:pt x="1777626" y="16078"/>
                  <a:pt x="1777626" y="35912"/>
                </a:cubicBezTo>
                <a:lnTo>
                  <a:pt x="1777626" y="538675"/>
                </a:lnTo>
                <a:cubicBezTo>
                  <a:pt x="1777626" y="558508"/>
                  <a:pt x="1761548" y="574586"/>
                  <a:pt x="1741714" y="574586"/>
                </a:cubicBezTo>
                <a:lnTo>
                  <a:pt x="35912" y="574586"/>
                </a:lnTo>
                <a:cubicBezTo>
                  <a:pt x="16078" y="574586"/>
                  <a:pt x="0" y="558508"/>
                  <a:pt x="0" y="538675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9" name="Text 47"/>
          <p:cNvSpPr/>
          <p:nvPr/>
        </p:nvSpPr>
        <p:spPr>
          <a:xfrm>
            <a:off x="4196331" y="4524866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{D,Be}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196331" y="4740336"/>
            <a:ext cx="170580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</a:t>
            </a:r>
            <a:pPr algn="ctr">
              <a:lnSpc>
                <a:spcPct val="120000"/>
              </a:lnSpc>
            </a:pPr>
            <a:r>
              <a:rPr lang="en-US" sz="99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(60%)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66851" y="5099452"/>
            <a:ext cx="553937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Frequent 2-Itemsets (L₂): {B,Mi}, {B,D}, {Mi,D}, {D,Be}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50849" y="3411605"/>
            <a:ext cx="5683016" cy="2011052"/>
          </a:xfrm>
          <a:custGeom>
            <a:avLst/>
            <a:gdLst/>
            <a:ahLst/>
            <a:cxnLst/>
            <a:rect l="l" t="t" r="r" b="b"/>
            <a:pathLst>
              <a:path w="5683016" h="2011052">
                <a:moveTo>
                  <a:pt x="71815" y="0"/>
                </a:moveTo>
                <a:lnTo>
                  <a:pt x="5611202" y="0"/>
                </a:lnTo>
                <a:cubicBezTo>
                  <a:pt x="5650864" y="0"/>
                  <a:pt x="5683016" y="32153"/>
                  <a:pt x="5683016" y="71815"/>
                </a:cubicBezTo>
                <a:lnTo>
                  <a:pt x="5683016" y="1939237"/>
                </a:lnTo>
                <a:cubicBezTo>
                  <a:pt x="5683016" y="1978899"/>
                  <a:pt x="5650864" y="2011052"/>
                  <a:pt x="5611202" y="2011052"/>
                </a:cubicBezTo>
                <a:lnTo>
                  <a:pt x="71815" y="2011052"/>
                </a:lnTo>
                <a:cubicBezTo>
                  <a:pt x="32153" y="2011052"/>
                  <a:pt x="0" y="1978899"/>
                  <a:pt x="0" y="1939237"/>
                </a:cubicBezTo>
                <a:lnTo>
                  <a:pt x="0" y="71815"/>
                </a:lnTo>
                <a:cubicBezTo>
                  <a:pt x="0" y="32153"/>
                  <a:pt x="32153" y="0"/>
                  <a:pt x="71815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53" name="Text 51"/>
          <p:cNvSpPr/>
          <p:nvPr/>
        </p:nvSpPr>
        <p:spPr>
          <a:xfrm>
            <a:off x="6258584" y="3519340"/>
            <a:ext cx="553937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3: Candidate 3-Itemsets (C₃)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58584" y="3806633"/>
            <a:ext cx="5467546" cy="682321"/>
          </a:xfrm>
          <a:custGeom>
            <a:avLst/>
            <a:gdLst/>
            <a:ahLst/>
            <a:cxnLst/>
            <a:rect l="l" t="t" r="r" b="b"/>
            <a:pathLst>
              <a:path w="5467546" h="682321">
                <a:moveTo>
                  <a:pt x="35911" y="0"/>
                </a:moveTo>
                <a:lnTo>
                  <a:pt x="5431636" y="0"/>
                </a:lnTo>
                <a:cubicBezTo>
                  <a:pt x="5451469" y="0"/>
                  <a:pt x="5467546" y="16078"/>
                  <a:pt x="5467546" y="35911"/>
                </a:cubicBezTo>
                <a:lnTo>
                  <a:pt x="5467546" y="646411"/>
                </a:lnTo>
                <a:cubicBezTo>
                  <a:pt x="5467546" y="666243"/>
                  <a:pt x="5451469" y="682321"/>
                  <a:pt x="5431636" y="682321"/>
                </a:cubicBezTo>
                <a:lnTo>
                  <a:pt x="35911" y="682321"/>
                </a:lnTo>
                <a:cubicBezTo>
                  <a:pt x="16078" y="682321"/>
                  <a:pt x="0" y="666243"/>
                  <a:pt x="0" y="646411"/>
                </a:cubicBezTo>
                <a:lnTo>
                  <a:pt x="0" y="35911"/>
                </a:lnTo>
                <a:cubicBezTo>
                  <a:pt x="0" y="16091"/>
                  <a:pt x="16091" y="0"/>
                  <a:pt x="3591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5" name="Text 53"/>
          <p:cNvSpPr/>
          <p:nvPr/>
        </p:nvSpPr>
        <p:spPr>
          <a:xfrm>
            <a:off x="6325919" y="3914368"/>
            <a:ext cx="5332878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7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{Bread, Milk, Diaper}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30408" y="4165750"/>
            <a:ext cx="532390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= 2/5 = 40% </a:t>
            </a:r>
            <a:pPr algn="ctr">
              <a:lnSpc>
                <a:spcPct val="120000"/>
              </a:lnSpc>
            </a:pPr>
            <a:r>
              <a:rPr lang="en-US" sz="113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Pruned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258584" y="4560778"/>
            <a:ext cx="5539370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frequent 3-itemsets meet threshold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359116" y="5530392"/>
            <a:ext cx="11473767" cy="1328730"/>
          </a:xfrm>
          <a:custGeom>
            <a:avLst/>
            <a:gdLst/>
            <a:ahLst/>
            <a:cxnLst/>
            <a:rect l="l" t="t" r="r" b="b"/>
            <a:pathLst>
              <a:path w="11473767" h="1328730">
                <a:moveTo>
                  <a:pt x="71818" y="0"/>
                </a:moveTo>
                <a:lnTo>
                  <a:pt x="11401949" y="0"/>
                </a:lnTo>
                <a:cubicBezTo>
                  <a:pt x="11441613" y="0"/>
                  <a:pt x="11473767" y="32154"/>
                  <a:pt x="11473767" y="71818"/>
                </a:cubicBezTo>
                <a:lnTo>
                  <a:pt x="11473767" y="1256913"/>
                </a:lnTo>
                <a:cubicBezTo>
                  <a:pt x="11473767" y="1296577"/>
                  <a:pt x="11441613" y="1328730"/>
                  <a:pt x="11401949" y="1328730"/>
                </a:cubicBezTo>
                <a:lnTo>
                  <a:pt x="71818" y="1328730"/>
                </a:lnTo>
                <a:cubicBezTo>
                  <a:pt x="32154" y="1328730"/>
                  <a:pt x="0" y="1296577"/>
                  <a:pt x="0" y="1256913"/>
                </a:cubicBezTo>
                <a:lnTo>
                  <a:pt x="0" y="71818"/>
                </a:lnTo>
                <a:cubicBezTo>
                  <a:pt x="0" y="32154"/>
                  <a:pt x="32154" y="0"/>
                  <a:pt x="71818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59" name="Text 57"/>
          <p:cNvSpPr/>
          <p:nvPr/>
        </p:nvSpPr>
        <p:spPr>
          <a:xfrm>
            <a:off x="466851" y="5638127"/>
            <a:ext cx="11330121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Step 4: Generate Association Rules (min_conf = 80%)</a:t>
            </a: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466851" y="5925420"/>
            <a:ext cx="2738262" cy="538675"/>
          </a:xfrm>
          <a:custGeom>
            <a:avLst/>
            <a:gdLst/>
            <a:ahLst/>
            <a:cxnLst/>
            <a:rect l="l" t="t" r="r" b="b"/>
            <a:pathLst>
              <a:path w="2738262" h="538675">
                <a:moveTo>
                  <a:pt x="35913" y="0"/>
                </a:moveTo>
                <a:lnTo>
                  <a:pt x="2702349" y="0"/>
                </a:lnTo>
                <a:cubicBezTo>
                  <a:pt x="2722183" y="0"/>
                  <a:pt x="2738262" y="16079"/>
                  <a:pt x="2738262" y="35913"/>
                </a:cubicBezTo>
                <a:lnTo>
                  <a:pt x="2738262" y="502761"/>
                </a:lnTo>
                <a:cubicBezTo>
                  <a:pt x="2738262" y="522596"/>
                  <a:pt x="2722183" y="538675"/>
                  <a:pt x="2702349" y="538675"/>
                </a:cubicBezTo>
                <a:lnTo>
                  <a:pt x="35913" y="538675"/>
                </a:lnTo>
                <a:cubicBezTo>
                  <a:pt x="16079" y="538675"/>
                  <a:pt x="0" y="522596"/>
                  <a:pt x="0" y="502761"/>
                </a:cubicBezTo>
                <a:lnTo>
                  <a:pt x="0" y="35913"/>
                </a:lnTo>
                <a:cubicBezTo>
                  <a:pt x="0" y="16092"/>
                  <a:pt x="16092" y="0"/>
                  <a:pt x="3591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1" name="Text 59"/>
          <p:cNvSpPr/>
          <p:nvPr/>
        </p:nvSpPr>
        <p:spPr>
          <a:xfrm>
            <a:off x="538675" y="5997243"/>
            <a:ext cx="265746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{B}→{Mi}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538675" y="6176801"/>
            <a:ext cx="266643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conf=75%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3308850" y="5925420"/>
            <a:ext cx="2738262" cy="538675"/>
          </a:xfrm>
          <a:custGeom>
            <a:avLst/>
            <a:gdLst/>
            <a:ahLst/>
            <a:cxnLst/>
            <a:rect l="l" t="t" r="r" b="b"/>
            <a:pathLst>
              <a:path w="2738262" h="538675">
                <a:moveTo>
                  <a:pt x="35913" y="0"/>
                </a:moveTo>
                <a:lnTo>
                  <a:pt x="2702349" y="0"/>
                </a:lnTo>
                <a:cubicBezTo>
                  <a:pt x="2722183" y="0"/>
                  <a:pt x="2738262" y="16079"/>
                  <a:pt x="2738262" y="35913"/>
                </a:cubicBezTo>
                <a:lnTo>
                  <a:pt x="2738262" y="502761"/>
                </a:lnTo>
                <a:cubicBezTo>
                  <a:pt x="2738262" y="522596"/>
                  <a:pt x="2722183" y="538675"/>
                  <a:pt x="2702349" y="538675"/>
                </a:cubicBezTo>
                <a:lnTo>
                  <a:pt x="35913" y="538675"/>
                </a:lnTo>
                <a:cubicBezTo>
                  <a:pt x="16079" y="538675"/>
                  <a:pt x="0" y="522596"/>
                  <a:pt x="0" y="502761"/>
                </a:cubicBezTo>
                <a:lnTo>
                  <a:pt x="0" y="35913"/>
                </a:lnTo>
                <a:cubicBezTo>
                  <a:pt x="0" y="16092"/>
                  <a:pt x="16092" y="0"/>
                  <a:pt x="3591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4" name="Text 62"/>
          <p:cNvSpPr/>
          <p:nvPr/>
        </p:nvSpPr>
        <p:spPr>
          <a:xfrm>
            <a:off x="3380674" y="5997243"/>
            <a:ext cx="265746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{Mi}→{B}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3380674" y="6176801"/>
            <a:ext cx="266643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conf=75%</a:t>
            </a: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6150849" y="5925420"/>
            <a:ext cx="2738262" cy="538675"/>
          </a:xfrm>
          <a:custGeom>
            <a:avLst/>
            <a:gdLst/>
            <a:ahLst/>
            <a:cxnLst/>
            <a:rect l="l" t="t" r="r" b="b"/>
            <a:pathLst>
              <a:path w="2738262" h="538675">
                <a:moveTo>
                  <a:pt x="35913" y="0"/>
                </a:moveTo>
                <a:lnTo>
                  <a:pt x="2702349" y="0"/>
                </a:lnTo>
                <a:cubicBezTo>
                  <a:pt x="2722183" y="0"/>
                  <a:pt x="2738262" y="16079"/>
                  <a:pt x="2738262" y="35913"/>
                </a:cubicBezTo>
                <a:lnTo>
                  <a:pt x="2738262" y="502761"/>
                </a:lnTo>
                <a:cubicBezTo>
                  <a:pt x="2738262" y="522596"/>
                  <a:pt x="2722183" y="538675"/>
                  <a:pt x="2702349" y="538675"/>
                </a:cubicBezTo>
                <a:lnTo>
                  <a:pt x="35913" y="538675"/>
                </a:lnTo>
                <a:cubicBezTo>
                  <a:pt x="16079" y="538675"/>
                  <a:pt x="0" y="522596"/>
                  <a:pt x="0" y="502761"/>
                </a:cubicBezTo>
                <a:lnTo>
                  <a:pt x="0" y="35913"/>
                </a:lnTo>
                <a:cubicBezTo>
                  <a:pt x="0" y="16092"/>
                  <a:pt x="16092" y="0"/>
                  <a:pt x="3591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7" name="Text 65"/>
          <p:cNvSpPr/>
          <p:nvPr/>
        </p:nvSpPr>
        <p:spPr>
          <a:xfrm>
            <a:off x="6222673" y="5997243"/>
            <a:ext cx="265746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{D}→{B}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6222673" y="6176801"/>
            <a:ext cx="266643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conf=75%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8992848" y="5925420"/>
            <a:ext cx="2738262" cy="538675"/>
          </a:xfrm>
          <a:custGeom>
            <a:avLst/>
            <a:gdLst/>
            <a:ahLst/>
            <a:cxnLst/>
            <a:rect l="l" t="t" r="r" b="b"/>
            <a:pathLst>
              <a:path w="2738262" h="538675">
                <a:moveTo>
                  <a:pt x="35913" y="0"/>
                </a:moveTo>
                <a:lnTo>
                  <a:pt x="2702349" y="0"/>
                </a:lnTo>
                <a:cubicBezTo>
                  <a:pt x="2722183" y="0"/>
                  <a:pt x="2738262" y="16079"/>
                  <a:pt x="2738262" y="35913"/>
                </a:cubicBezTo>
                <a:lnTo>
                  <a:pt x="2738262" y="502761"/>
                </a:lnTo>
                <a:cubicBezTo>
                  <a:pt x="2738262" y="522596"/>
                  <a:pt x="2722183" y="538675"/>
                  <a:pt x="2702349" y="538675"/>
                </a:cubicBezTo>
                <a:lnTo>
                  <a:pt x="35913" y="538675"/>
                </a:lnTo>
                <a:cubicBezTo>
                  <a:pt x="16079" y="538675"/>
                  <a:pt x="0" y="522596"/>
                  <a:pt x="0" y="502761"/>
                </a:cubicBezTo>
                <a:lnTo>
                  <a:pt x="0" y="35913"/>
                </a:lnTo>
                <a:cubicBezTo>
                  <a:pt x="0" y="16092"/>
                  <a:pt x="16092" y="0"/>
                  <a:pt x="3591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0" name="Text 68"/>
          <p:cNvSpPr/>
          <p:nvPr/>
        </p:nvSpPr>
        <p:spPr>
          <a:xfrm>
            <a:off x="9064672" y="5997243"/>
            <a:ext cx="2657461" cy="179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9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{D}→{Be}</a:t>
            </a:r>
            <a:endParaRPr lang="en-US" sz="1600" dirty="0"/>
          </a:p>
        </p:txBody>
      </p:sp>
      <p:sp>
        <p:nvSpPr>
          <p:cNvPr id="71" name="Text 69"/>
          <p:cNvSpPr/>
          <p:nvPr/>
        </p:nvSpPr>
        <p:spPr>
          <a:xfrm>
            <a:off x="9064672" y="6176801"/>
            <a:ext cx="2666439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conf=75%</a:t>
            </a: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484807" y="6567340"/>
            <a:ext cx="143647" cy="143647"/>
          </a:xfrm>
          <a:custGeom>
            <a:avLst/>
            <a:gdLst/>
            <a:ahLst/>
            <a:cxnLst/>
            <a:rect l="l" t="t" r="r" b="b"/>
            <a:pathLst>
              <a:path w="143647" h="143647">
                <a:moveTo>
                  <a:pt x="71823" y="143647"/>
                </a:moveTo>
                <a:cubicBezTo>
                  <a:pt x="111464" y="143647"/>
                  <a:pt x="143647" y="111464"/>
                  <a:pt x="143647" y="71823"/>
                </a:cubicBezTo>
                <a:cubicBezTo>
                  <a:pt x="143647" y="32183"/>
                  <a:pt x="111464" y="0"/>
                  <a:pt x="71823" y="0"/>
                </a:cubicBezTo>
                <a:cubicBezTo>
                  <a:pt x="32183" y="0"/>
                  <a:pt x="0" y="32183"/>
                  <a:pt x="0" y="71823"/>
                </a:cubicBezTo>
                <a:cubicBezTo>
                  <a:pt x="0" y="111464"/>
                  <a:pt x="32183" y="143647"/>
                  <a:pt x="71823" y="143647"/>
                </a:cubicBezTo>
                <a:close/>
                <a:moveTo>
                  <a:pt x="62845" y="44890"/>
                </a:moveTo>
                <a:cubicBezTo>
                  <a:pt x="62845" y="39935"/>
                  <a:pt x="66868" y="35912"/>
                  <a:pt x="71823" y="35912"/>
                </a:cubicBezTo>
                <a:cubicBezTo>
                  <a:pt x="76778" y="35912"/>
                  <a:pt x="80801" y="39935"/>
                  <a:pt x="80801" y="44890"/>
                </a:cubicBezTo>
                <a:cubicBezTo>
                  <a:pt x="80801" y="49845"/>
                  <a:pt x="76778" y="53867"/>
                  <a:pt x="71823" y="53867"/>
                </a:cubicBezTo>
                <a:cubicBezTo>
                  <a:pt x="66868" y="53867"/>
                  <a:pt x="62845" y="49845"/>
                  <a:pt x="62845" y="44890"/>
                </a:cubicBezTo>
                <a:close/>
                <a:moveTo>
                  <a:pt x="60601" y="62845"/>
                </a:moveTo>
                <a:lnTo>
                  <a:pt x="74068" y="62845"/>
                </a:lnTo>
                <a:cubicBezTo>
                  <a:pt x="77799" y="62845"/>
                  <a:pt x="80801" y="65847"/>
                  <a:pt x="80801" y="69579"/>
                </a:cubicBezTo>
                <a:lnTo>
                  <a:pt x="80801" y="94268"/>
                </a:lnTo>
                <a:lnTo>
                  <a:pt x="83046" y="94268"/>
                </a:lnTo>
                <a:cubicBezTo>
                  <a:pt x="86777" y="94268"/>
                  <a:pt x="89779" y="97270"/>
                  <a:pt x="89779" y="101001"/>
                </a:cubicBezTo>
                <a:cubicBezTo>
                  <a:pt x="89779" y="104733"/>
                  <a:pt x="86777" y="107735"/>
                  <a:pt x="83046" y="107735"/>
                </a:cubicBezTo>
                <a:lnTo>
                  <a:pt x="60601" y="107735"/>
                </a:lnTo>
                <a:cubicBezTo>
                  <a:pt x="56869" y="107735"/>
                  <a:pt x="53867" y="104733"/>
                  <a:pt x="53867" y="101001"/>
                </a:cubicBezTo>
                <a:cubicBezTo>
                  <a:pt x="53867" y="97270"/>
                  <a:pt x="56869" y="94268"/>
                  <a:pt x="60601" y="94268"/>
                </a:cubicBezTo>
                <a:lnTo>
                  <a:pt x="67334" y="94268"/>
                </a:lnTo>
                <a:lnTo>
                  <a:pt x="67334" y="76312"/>
                </a:lnTo>
                <a:lnTo>
                  <a:pt x="60601" y="76312"/>
                </a:lnTo>
                <a:cubicBezTo>
                  <a:pt x="56869" y="76312"/>
                  <a:pt x="53867" y="73310"/>
                  <a:pt x="53867" y="69579"/>
                </a:cubicBezTo>
                <a:cubicBezTo>
                  <a:pt x="53867" y="65847"/>
                  <a:pt x="56869" y="62845"/>
                  <a:pt x="60601" y="6284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3" name="Text 71"/>
          <p:cNvSpPr/>
          <p:nvPr/>
        </p:nvSpPr>
        <p:spPr>
          <a:xfrm>
            <a:off x="671796" y="6535918"/>
            <a:ext cx="11125176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With min_conf=80%, no rules qualify. Lowering to 70% yields valid rules.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c6bfebdbaeebd1e7014968daff457c5930b5478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447925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Text 2"/>
          <p:cNvSpPr/>
          <p:nvPr/>
        </p:nvSpPr>
        <p:spPr>
          <a:xfrm>
            <a:off x="266700" y="2447925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4000" y="2524125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4"/>
          <p:cNvSpPr/>
          <p:nvPr/>
        </p:nvSpPr>
        <p:spPr>
          <a:xfrm>
            <a:off x="1790700" y="2019300"/>
            <a:ext cx="2905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Three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90700" y="2362200"/>
            <a:ext cx="30956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FP-Growth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4095750"/>
            <a:ext cx="74295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Mining frequent itemsets without candidate generation using tree-based compression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1274" y="341274"/>
            <a:ext cx="1157770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spc="107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1274" y="614293"/>
            <a:ext cx="11663026" cy="341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8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Tree-Based Mining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8337" y="1092076"/>
            <a:ext cx="5673674" cy="1979387"/>
          </a:xfrm>
          <a:custGeom>
            <a:avLst/>
            <a:gdLst/>
            <a:ahLst/>
            <a:cxnLst/>
            <a:rect l="l" t="t" r="r" b="b"/>
            <a:pathLst>
              <a:path w="5673674" h="1979387">
                <a:moveTo>
                  <a:pt x="34127" y="0"/>
                </a:moveTo>
                <a:lnTo>
                  <a:pt x="5605425" y="0"/>
                </a:lnTo>
                <a:cubicBezTo>
                  <a:pt x="5643118" y="0"/>
                  <a:pt x="5673674" y="30556"/>
                  <a:pt x="5673674" y="68249"/>
                </a:cubicBezTo>
                <a:lnTo>
                  <a:pt x="5673674" y="1911138"/>
                </a:lnTo>
                <a:cubicBezTo>
                  <a:pt x="5673674" y="1948831"/>
                  <a:pt x="5643118" y="1979387"/>
                  <a:pt x="5605425" y="1979387"/>
                </a:cubicBezTo>
                <a:lnTo>
                  <a:pt x="34127" y="1979387"/>
                </a:lnTo>
                <a:cubicBezTo>
                  <a:pt x="15279" y="1979387"/>
                  <a:pt x="0" y="1964108"/>
                  <a:pt x="0" y="1945260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gradFill rotWithShape="1" flip="none">
            <a:gsLst>
              <a:gs pos="0">
                <a:srgbClr val="C8A97E">
                  <a:alpha val="20000"/>
                </a:srgbClr>
              </a:gs>
              <a:gs pos="100000">
                <a:srgbClr val="C8A97E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58337" y="1092076"/>
            <a:ext cx="34127" cy="1979387"/>
          </a:xfrm>
          <a:custGeom>
            <a:avLst/>
            <a:gdLst/>
            <a:ahLst/>
            <a:cxnLst/>
            <a:rect l="l" t="t" r="r" b="b"/>
            <a:pathLst>
              <a:path w="34127" h="1979387">
                <a:moveTo>
                  <a:pt x="34127" y="0"/>
                </a:moveTo>
                <a:lnTo>
                  <a:pt x="34127" y="0"/>
                </a:lnTo>
                <a:lnTo>
                  <a:pt x="34127" y="1979387"/>
                </a:lnTo>
                <a:lnTo>
                  <a:pt x="34127" y="1979387"/>
                </a:lnTo>
                <a:cubicBezTo>
                  <a:pt x="15279" y="1979387"/>
                  <a:pt x="0" y="1964108"/>
                  <a:pt x="0" y="1945260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Text 4"/>
          <p:cNvSpPr/>
          <p:nvPr/>
        </p:nvSpPr>
        <p:spPr>
          <a:xfrm>
            <a:off x="511910" y="1228585"/>
            <a:ext cx="5468910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Innovation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1910" y="1569859"/>
            <a:ext cx="5451846" cy="443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(Frequent Pattern Growth) compresses the database into an </a:t>
            </a:r>
            <a:pPr>
              <a:lnSpc>
                <a:spcPct val="14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FP-Tree</a:t>
            </a:r>
            <a:pPr>
              <a:lnSpc>
                <a:spcPct val="140000"/>
              </a:lnSpc>
            </a:pPr>
            <a:r>
              <a:rPr lang="en-US" sz="10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eliminating expensive candidate generation and multiple database scans.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1910" y="2115896"/>
            <a:ext cx="5383591" cy="819057"/>
          </a:xfrm>
          <a:custGeom>
            <a:avLst/>
            <a:gdLst/>
            <a:ahLst/>
            <a:cxnLst/>
            <a:rect l="l" t="t" r="r" b="b"/>
            <a:pathLst>
              <a:path w="5383591" h="819057">
                <a:moveTo>
                  <a:pt x="34130" y="0"/>
                </a:moveTo>
                <a:lnTo>
                  <a:pt x="5349461" y="0"/>
                </a:lnTo>
                <a:cubicBezTo>
                  <a:pt x="5368311" y="0"/>
                  <a:pt x="5383591" y="15281"/>
                  <a:pt x="5383591" y="34130"/>
                </a:cubicBezTo>
                <a:lnTo>
                  <a:pt x="5383591" y="784927"/>
                </a:lnTo>
                <a:cubicBezTo>
                  <a:pt x="5383591" y="803776"/>
                  <a:pt x="5368311" y="819057"/>
                  <a:pt x="5349461" y="819057"/>
                </a:cubicBezTo>
                <a:lnTo>
                  <a:pt x="34130" y="819057"/>
                </a:lnTo>
                <a:cubicBezTo>
                  <a:pt x="15293" y="819057"/>
                  <a:pt x="0" y="803764"/>
                  <a:pt x="0" y="784927"/>
                </a:cubicBezTo>
                <a:lnTo>
                  <a:pt x="0" y="34130"/>
                </a:lnTo>
                <a:cubicBezTo>
                  <a:pt x="0" y="15293"/>
                  <a:pt x="15293" y="0"/>
                  <a:pt x="3413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Shape 7"/>
          <p:cNvSpPr/>
          <p:nvPr/>
        </p:nvSpPr>
        <p:spPr>
          <a:xfrm>
            <a:off x="639888" y="2248140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Text 8"/>
          <p:cNvSpPr/>
          <p:nvPr/>
        </p:nvSpPr>
        <p:spPr>
          <a:xfrm>
            <a:off x="830783" y="2218279"/>
            <a:ext cx="503059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</a:t>
            </a:r>
            <a:pPr>
              <a:lnSpc>
                <a:spcPct val="130000"/>
              </a:lnSpc>
            </a:pPr>
            <a:r>
              <a:rPr lang="en-US" sz="107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database scans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required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9888" y="2452904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2" name="Text 10"/>
          <p:cNvSpPr/>
          <p:nvPr/>
        </p:nvSpPr>
        <p:spPr>
          <a:xfrm>
            <a:off x="853184" y="2448638"/>
            <a:ext cx="1513802" cy="149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candidate generation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9888" y="2657668"/>
            <a:ext cx="119446" cy="136509"/>
          </a:xfrm>
          <a:custGeom>
            <a:avLst/>
            <a:gdLst/>
            <a:ahLst/>
            <a:cxnLst/>
            <a:rect l="l" t="t" r="r" b="b"/>
            <a:pathLst>
              <a:path w="119446" h="136509">
                <a:moveTo>
                  <a:pt x="115926" y="18690"/>
                </a:moveTo>
                <a:cubicBezTo>
                  <a:pt x="119739" y="21463"/>
                  <a:pt x="120592" y="26795"/>
                  <a:pt x="117819" y="30608"/>
                </a:cubicBezTo>
                <a:lnTo>
                  <a:pt x="49565" y="124458"/>
                </a:lnTo>
                <a:cubicBezTo>
                  <a:pt x="48098" y="126485"/>
                  <a:pt x="45832" y="127738"/>
                  <a:pt x="43326" y="127951"/>
                </a:cubicBezTo>
                <a:cubicBezTo>
                  <a:pt x="40820" y="128164"/>
                  <a:pt x="38393" y="127231"/>
                  <a:pt x="36634" y="125471"/>
                </a:cubicBezTo>
                <a:lnTo>
                  <a:pt x="2506" y="91344"/>
                </a:lnTo>
                <a:cubicBezTo>
                  <a:pt x="-827" y="88011"/>
                  <a:pt x="-827" y="82599"/>
                  <a:pt x="2506" y="79266"/>
                </a:cubicBezTo>
                <a:cubicBezTo>
                  <a:pt x="5839" y="75933"/>
                  <a:pt x="11251" y="75933"/>
                  <a:pt x="14584" y="79266"/>
                </a:cubicBezTo>
                <a:lnTo>
                  <a:pt x="41646" y="106328"/>
                </a:lnTo>
                <a:lnTo>
                  <a:pt x="104035" y="20556"/>
                </a:lnTo>
                <a:cubicBezTo>
                  <a:pt x="106808" y="16744"/>
                  <a:pt x="112140" y="15891"/>
                  <a:pt x="115953" y="18663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4" name="Text 12"/>
          <p:cNvSpPr/>
          <p:nvPr/>
        </p:nvSpPr>
        <p:spPr>
          <a:xfrm>
            <a:off x="830783" y="2627807"/>
            <a:ext cx="5030592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Compact </a:t>
            </a:r>
            <a:pPr>
              <a:lnSpc>
                <a:spcPct val="130000"/>
              </a:lnSpc>
            </a:pPr>
            <a:r>
              <a:rPr lang="en-US" sz="107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 structure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41274" y="3173845"/>
            <a:ext cx="5690738" cy="3685755"/>
          </a:xfrm>
          <a:custGeom>
            <a:avLst/>
            <a:gdLst/>
            <a:ahLst/>
            <a:cxnLst/>
            <a:rect l="l" t="t" r="r" b="b"/>
            <a:pathLst>
              <a:path w="5690738" h="3685755">
                <a:moveTo>
                  <a:pt x="68260" y="0"/>
                </a:moveTo>
                <a:lnTo>
                  <a:pt x="5622477" y="0"/>
                </a:lnTo>
                <a:cubicBezTo>
                  <a:pt x="5660151" y="0"/>
                  <a:pt x="5690738" y="30586"/>
                  <a:pt x="5690738" y="68260"/>
                </a:cubicBezTo>
                <a:lnTo>
                  <a:pt x="5690738" y="3617495"/>
                </a:lnTo>
                <a:cubicBezTo>
                  <a:pt x="5690738" y="3655169"/>
                  <a:pt x="5660151" y="3685755"/>
                  <a:pt x="5622477" y="3685755"/>
                </a:cubicBezTo>
                <a:lnTo>
                  <a:pt x="68260" y="3685755"/>
                </a:lnTo>
                <a:cubicBezTo>
                  <a:pt x="30586" y="3685755"/>
                  <a:pt x="0" y="3655169"/>
                  <a:pt x="0" y="3617495"/>
                </a:cubicBezTo>
                <a:lnTo>
                  <a:pt x="0" y="68260"/>
                </a:lnTo>
                <a:cubicBezTo>
                  <a:pt x="0" y="30586"/>
                  <a:pt x="30586" y="0"/>
                  <a:pt x="6826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6" name="Text 14"/>
          <p:cNvSpPr/>
          <p:nvPr/>
        </p:nvSpPr>
        <p:spPr>
          <a:xfrm>
            <a:off x="477783" y="3310354"/>
            <a:ext cx="550303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Steps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77783" y="3651628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8" name="Text 16"/>
          <p:cNvSpPr/>
          <p:nvPr/>
        </p:nvSpPr>
        <p:spPr>
          <a:xfrm>
            <a:off x="443656" y="3651628"/>
            <a:ext cx="34127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3184" y="3651628"/>
            <a:ext cx="286669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First Scan: Count Items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3184" y="3856392"/>
            <a:ext cx="286669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 frequency of each item, filter by min_sup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7783" y="4129411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2" name="Text 20"/>
          <p:cNvSpPr/>
          <p:nvPr/>
        </p:nvSpPr>
        <p:spPr>
          <a:xfrm>
            <a:off x="443656" y="4129411"/>
            <a:ext cx="34127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3184" y="4129411"/>
            <a:ext cx="239744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Second Scan: Build FP-Tree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3184" y="4334175"/>
            <a:ext cx="2397447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Sort items by frequency, insert into tree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77783" y="4607194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6" name="Text 24"/>
          <p:cNvSpPr/>
          <p:nvPr/>
        </p:nvSpPr>
        <p:spPr>
          <a:xfrm>
            <a:off x="443656" y="4607194"/>
            <a:ext cx="34127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3184" y="4607194"/>
            <a:ext cx="255102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Mine Conditional Pattern Bases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3184" y="4811958"/>
            <a:ext cx="2551020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prefix paths for each frequent item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77783" y="5084977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0" name="Text 28"/>
          <p:cNvSpPr/>
          <p:nvPr/>
        </p:nvSpPr>
        <p:spPr>
          <a:xfrm>
            <a:off x="443656" y="5084977"/>
            <a:ext cx="34127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53184" y="5084977"/>
            <a:ext cx="224387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Conditional FP-Trees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53184" y="5289741"/>
            <a:ext cx="224387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Construct smaller trees for each item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77783" y="5562760"/>
            <a:ext cx="273019" cy="273019"/>
          </a:xfrm>
          <a:custGeom>
            <a:avLst/>
            <a:gdLst/>
            <a:ahLst/>
            <a:cxnLst/>
            <a:rect l="l" t="t" r="r" b="b"/>
            <a:pathLst>
              <a:path w="273019" h="273019">
                <a:moveTo>
                  <a:pt x="136509" y="0"/>
                </a:moveTo>
                <a:lnTo>
                  <a:pt x="136509" y="0"/>
                </a:lnTo>
                <a:cubicBezTo>
                  <a:pt x="211902" y="0"/>
                  <a:pt x="273019" y="61117"/>
                  <a:pt x="273019" y="136509"/>
                </a:cubicBezTo>
                <a:lnTo>
                  <a:pt x="273019" y="136509"/>
                </a:lnTo>
                <a:cubicBezTo>
                  <a:pt x="273019" y="211902"/>
                  <a:pt x="211902" y="273019"/>
                  <a:pt x="136509" y="273019"/>
                </a:cubicBezTo>
                <a:lnTo>
                  <a:pt x="136509" y="273019"/>
                </a:lnTo>
                <a:cubicBezTo>
                  <a:pt x="61117" y="273019"/>
                  <a:pt x="0" y="211902"/>
                  <a:pt x="0" y="136509"/>
                </a:cubicBezTo>
                <a:lnTo>
                  <a:pt x="0" y="136509"/>
                </a:lnTo>
                <a:cubicBezTo>
                  <a:pt x="0" y="61117"/>
                  <a:pt x="61117" y="0"/>
                  <a:pt x="136509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4" name="Text 32"/>
          <p:cNvSpPr/>
          <p:nvPr/>
        </p:nvSpPr>
        <p:spPr>
          <a:xfrm>
            <a:off x="443656" y="5562760"/>
            <a:ext cx="341274" cy="2730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75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3184" y="5562760"/>
            <a:ext cx="286669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Recursively Mine Patterns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3184" y="5767524"/>
            <a:ext cx="2866698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Extract frequent patterns from conditional trees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5654" y="1092076"/>
            <a:ext cx="5690738" cy="2747253"/>
          </a:xfrm>
          <a:custGeom>
            <a:avLst/>
            <a:gdLst/>
            <a:ahLst/>
            <a:cxnLst/>
            <a:rect l="l" t="t" r="r" b="b"/>
            <a:pathLst>
              <a:path w="5690738" h="2747253">
                <a:moveTo>
                  <a:pt x="68242" y="0"/>
                </a:moveTo>
                <a:lnTo>
                  <a:pt x="5622496" y="0"/>
                </a:lnTo>
                <a:cubicBezTo>
                  <a:pt x="5660185" y="0"/>
                  <a:pt x="5690738" y="30553"/>
                  <a:pt x="5690738" y="68242"/>
                </a:cubicBezTo>
                <a:lnTo>
                  <a:pt x="5690738" y="2679011"/>
                </a:lnTo>
                <a:cubicBezTo>
                  <a:pt x="5690738" y="2716700"/>
                  <a:pt x="5660185" y="2747253"/>
                  <a:pt x="5622496" y="2747253"/>
                </a:cubicBezTo>
                <a:lnTo>
                  <a:pt x="68242" y="2747253"/>
                </a:lnTo>
                <a:cubicBezTo>
                  <a:pt x="30553" y="2747253"/>
                  <a:pt x="0" y="2716700"/>
                  <a:pt x="0" y="2679011"/>
                </a:cubicBezTo>
                <a:lnTo>
                  <a:pt x="0" y="68242"/>
                </a:lnTo>
                <a:cubicBezTo>
                  <a:pt x="0" y="30578"/>
                  <a:pt x="30578" y="0"/>
                  <a:pt x="68242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38" name="Text 36"/>
          <p:cNvSpPr/>
          <p:nvPr/>
        </p:nvSpPr>
        <p:spPr>
          <a:xfrm>
            <a:off x="6302164" y="1228585"/>
            <a:ext cx="550303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FP-Tree Structure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302164" y="1569859"/>
            <a:ext cx="5417719" cy="1399222"/>
          </a:xfrm>
          <a:custGeom>
            <a:avLst/>
            <a:gdLst/>
            <a:ahLst/>
            <a:cxnLst/>
            <a:rect l="l" t="t" r="r" b="b"/>
            <a:pathLst>
              <a:path w="5417719" h="1399222">
                <a:moveTo>
                  <a:pt x="34127" y="0"/>
                </a:moveTo>
                <a:lnTo>
                  <a:pt x="5383592" y="0"/>
                </a:lnTo>
                <a:cubicBezTo>
                  <a:pt x="5402439" y="0"/>
                  <a:pt x="5417719" y="15279"/>
                  <a:pt x="5417719" y="34127"/>
                </a:cubicBezTo>
                <a:lnTo>
                  <a:pt x="5417719" y="1365095"/>
                </a:lnTo>
                <a:cubicBezTo>
                  <a:pt x="5417719" y="1383943"/>
                  <a:pt x="5402439" y="1399222"/>
                  <a:pt x="5383592" y="1399222"/>
                </a:cubicBezTo>
                <a:lnTo>
                  <a:pt x="34127" y="1399222"/>
                </a:lnTo>
                <a:cubicBezTo>
                  <a:pt x="15279" y="1399222"/>
                  <a:pt x="0" y="1383943"/>
                  <a:pt x="0" y="1365095"/>
                </a:cubicBezTo>
                <a:lnTo>
                  <a:pt x="0" y="34127"/>
                </a:lnTo>
                <a:cubicBezTo>
                  <a:pt x="0" y="15279"/>
                  <a:pt x="15279" y="0"/>
                  <a:pt x="3412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0" name="Text 38"/>
          <p:cNvSpPr/>
          <p:nvPr/>
        </p:nvSpPr>
        <p:spPr>
          <a:xfrm>
            <a:off x="6404546" y="1697836"/>
            <a:ext cx="860183" cy="1493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Components: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404546" y="1945260"/>
            <a:ext cx="528120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75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Root node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(null)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404546" y="2184151"/>
            <a:ext cx="528120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75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 prefix paths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count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04546" y="2423043"/>
            <a:ext cx="528120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75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Header table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node links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04546" y="2661934"/>
            <a:ext cx="5281209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75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Shared paths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common prefixes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06430" y="3075728"/>
            <a:ext cx="5409187" cy="622824"/>
          </a:xfrm>
          <a:custGeom>
            <a:avLst/>
            <a:gdLst/>
            <a:ahLst/>
            <a:cxnLst/>
            <a:rect l="l" t="t" r="r" b="b"/>
            <a:pathLst>
              <a:path w="5409187" h="622824">
                <a:moveTo>
                  <a:pt x="34125" y="0"/>
                </a:moveTo>
                <a:lnTo>
                  <a:pt x="5375062" y="0"/>
                </a:lnTo>
                <a:cubicBezTo>
                  <a:pt x="5393909" y="0"/>
                  <a:pt x="5409187" y="15278"/>
                  <a:pt x="5409187" y="34125"/>
                </a:cubicBezTo>
                <a:lnTo>
                  <a:pt x="5409187" y="588700"/>
                </a:lnTo>
                <a:cubicBezTo>
                  <a:pt x="5409187" y="607546"/>
                  <a:pt x="5393909" y="622824"/>
                  <a:pt x="5375062" y="622824"/>
                </a:cubicBezTo>
                <a:lnTo>
                  <a:pt x="34125" y="622824"/>
                </a:lnTo>
                <a:cubicBezTo>
                  <a:pt x="15278" y="622824"/>
                  <a:pt x="0" y="607546"/>
                  <a:pt x="0" y="588700"/>
                </a:cubicBezTo>
                <a:lnTo>
                  <a:pt x="0" y="34125"/>
                </a:lnTo>
                <a:cubicBezTo>
                  <a:pt x="0" y="15291"/>
                  <a:pt x="15291" y="0"/>
                  <a:pt x="34125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7205" y="3212238"/>
            <a:ext cx="102382" cy="136509"/>
          </a:xfrm>
          <a:custGeom>
            <a:avLst/>
            <a:gdLst/>
            <a:ahLst/>
            <a:cxnLst/>
            <a:rect l="l" t="t" r="r" b="b"/>
            <a:pathLst>
              <a:path w="102382" h="136509">
                <a:moveTo>
                  <a:pt x="78093" y="102382"/>
                </a:moveTo>
                <a:cubicBezTo>
                  <a:pt x="80039" y="96436"/>
                  <a:pt x="83932" y="91051"/>
                  <a:pt x="88331" y="86412"/>
                </a:cubicBezTo>
                <a:cubicBezTo>
                  <a:pt x="97050" y="77240"/>
                  <a:pt x="102382" y="64842"/>
                  <a:pt x="102382" y="51191"/>
                </a:cubicBezTo>
                <a:cubicBezTo>
                  <a:pt x="102382" y="22929"/>
                  <a:pt x="79453" y="0"/>
                  <a:pt x="51191" y="0"/>
                </a:cubicBezTo>
                <a:cubicBezTo>
                  <a:pt x="22929" y="0"/>
                  <a:pt x="0" y="22929"/>
                  <a:pt x="0" y="51191"/>
                </a:cubicBezTo>
                <a:cubicBezTo>
                  <a:pt x="0" y="64842"/>
                  <a:pt x="5332" y="77240"/>
                  <a:pt x="14051" y="86412"/>
                </a:cubicBezTo>
                <a:cubicBezTo>
                  <a:pt x="18450" y="91051"/>
                  <a:pt x="22369" y="96436"/>
                  <a:pt x="24289" y="102382"/>
                </a:cubicBezTo>
                <a:lnTo>
                  <a:pt x="78066" y="102382"/>
                </a:lnTo>
                <a:close/>
                <a:moveTo>
                  <a:pt x="76787" y="115180"/>
                </a:moveTo>
                <a:lnTo>
                  <a:pt x="25596" y="115180"/>
                </a:lnTo>
                <a:lnTo>
                  <a:pt x="25596" y="119446"/>
                </a:lnTo>
                <a:cubicBezTo>
                  <a:pt x="25596" y="131230"/>
                  <a:pt x="35141" y="140775"/>
                  <a:pt x="46925" y="140775"/>
                </a:cubicBezTo>
                <a:lnTo>
                  <a:pt x="55457" y="140775"/>
                </a:lnTo>
                <a:cubicBezTo>
                  <a:pt x="67242" y="140775"/>
                  <a:pt x="76787" y="131230"/>
                  <a:pt x="76787" y="119446"/>
                </a:cubicBezTo>
                <a:lnTo>
                  <a:pt x="76787" y="115180"/>
                </a:lnTo>
                <a:close/>
                <a:moveTo>
                  <a:pt x="49058" y="29861"/>
                </a:moveTo>
                <a:cubicBezTo>
                  <a:pt x="38447" y="29861"/>
                  <a:pt x="29861" y="38447"/>
                  <a:pt x="29861" y="49058"/>
                </a:cubicBezTo>
                <a:cubicBezTo>
                  <a:pt x="29861" y="52604"/>
                  <a:pt x="27009" y="55457"/>
                  <a:pt x="23463" y="55457"/>
                </a:cubicBezTo>
                <a:cubicBezTo>
                  <a:pt x="19917" y="55457"/>
                  <a:pt x="17064" y="52604"/>
                  <a:pt x="17064" y="49058"/>
                </a:cubicBezTo>
                <a:cubicBezTo>
                  <a:pt x="17064" y="31381"/>
                  <a:pt x="31381" y="17064"/>
                  <a:pt x="49058" y="17064"/>
                </a:cubicBezTo>
                <a:cubicBezTo>
                  <a:pt x="52604" y="17064"/>
                  <a:pt x="55457" y="19917"/>
                  <a:pt x="55457" y="23463"/>
                </a:cubicBezTo>
                <a:cubicBezTo>
                  <a:pt x="55457" y="27009"/>
                  <a:pt x="52604" y="29861"/>
                  <a:pt x="49058" y="29861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7" name="Text 45"/>
          <p:cNvSpPr/>
          <p:nvPr/>
        </p:nvSpPr>
        <p:spPr>
          <a:xfrm>
            <a:off x="6629568" y="3182376"/>
            <a:ext cx="5047655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Feature: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Paths with common prefixes are merged, dramatically reducing tree size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65654" y="3941710"/>
            <a:ext cx="5690738" cy="2184151"/>
          </a:xfrm>
          <a:custGeom>
            <a:avLst/>
            <a:gdLst/>
            <a:ahLst/>
            <a:cxnLst/>
            <a:rect l="l" t="t" r="r" b="b"/>
            <a:pathLst>
              <a:path w="5690738" h="2184151">
                <a:moveTo>
                  <a:pt x="68255" y="0"/>
                </a:moveTo>
                <a:lnTo>
                  <a:pt x="5622483" y="0"/>
                </a:lnTo>
                <a:cubicBezTo>
                  <a:pt x="5660179" y="0"/>
                  <a:pt x="5690738" y="30559"/>
                  <a:pt x="5690738" y="68255"/>
                </a:cubicBezTo>
                <a:lnTo>
                  <a:pt x="5690738" y="2115896"/>
                </a:lnTo>
                <a:cubicBezTo>
                  <a:pt x="5690738" y="2153592"/>
                  <a:pt x="5660179" y="2184151"/>
                  <a:pt x="5622483" y="2184151"/>
                </a:cubicBezTo>
                <a:lnTo>
                  <a:pt x="68255" y="2184151"/>
                </a:lnTo>
                <a:cubicBezTo>
                  <a:pt x="30559" y="2184151"/>
                  <a:pt x="0" y="2153592"/>
                  <a:pt x="0" y="2115896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49" name="Text 47"/>
          <p:cNvSpPr/>
          <p:nvPr/>
        </p:nvSpPr>
        <p:spPr>
          <a:xfrm>
            <a:off x="6302164" y="4078220"/>
            <a:ext cx="5503037" cy="23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4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FP-Growth vs Apriori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302164" y="4419493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129844" y="4419493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FP-Growth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9957524" y="4419493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Apriori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302164" y="4692512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Candidates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129844" y="4692512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Not needed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9957524" y="4692512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Generated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302164" y="4965531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 Scans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129844" y="4965531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9957524" y="4965531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6302164" y="5238550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Speed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8129844" y="5238550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9957524" y="5238550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Slower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6302164" y="5511569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129844" y="5511569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Higher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9957524" y="5511569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Lower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6302164" y="5784588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For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8129844" y="5784588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 datasets</a:t>
            </a:r>
            <a:endParaRPr lang="en-US" sz="1600" dirty="0"/>
          </a:p>
        </p:txBody>
      </p:sp>
      <p:sp>
        <p:nvSpPr>
          <p:cNvPr id="67" name="Text 65"/>
          <p:cNvSpPr/>
          <p:nvPr/>
        </p:nvSpPr>
        <p:spPr>
          <a:xfrm>
            <a:off x="9957524" y="5784588"/>
            <a:ext cx="1825814" cy="20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Small datasets</a:t>
            </a: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6169920" y="6232509"/>
            <a:ext cx="5682206" cy="622824"/>
          </a:xfrm>
          <a:custGeom>
            <a:avLst/>
            <a:gdLst/>
            <a:ahLst/>
            <a:cxnLst/>
            <a:rect l="l" t="t" r="r" b="b"/>
            <a:pathLst>
              <a:path w="5682206" h="622824">
                <a:moveTo>
                  <a:pt x="68255" y="0"/>
                </a:moveTo>
                <a:lnTo>
                  <a:pt x="5613950" y="0"/>
                </a:lnTo>
                <a:cubicBezTo>
                  <a:pt x="5651647" y="0"/>
                  <a:pt x="5682206" y="30559"/>
                  <a:pt x="5682206" y="68255"/>
                </a:cubicBezTo>
                <a:lnTo>
                  <a:pt x="5682206" y="554569"/>
                </a:lnTo>
                <a:cubicBezTo>
                  <a:pt x="5682206" y="592265"/>
                  <a:pt x="5651647" y="622824"/>
                  <a:pt x="5613950" y="622824"/>
                </a:cubicBezTo>
                <a:lnTo>
                  <a:pt x="68255" y="622824"/>
                </a:lnTo>
                <a:cubicBezTo>
                  <a:pt x="30559" y="622824"/>
                  <a:pt x="0" y="592265"/>
                  <a:pt x="0" y="554569"/>
                </a:cubicBezTo>
                <a:lnTo>
                  <a:pt x="0" y="68255"/>
                </a:lnTo>
                <a:cubicBezTo>
                  <a:pt x="0" y="30559"/>
                  <a:pt x="30559" y="0"/>
                  <a:pt x="68255" y="0"/>
                </a:cubicBezTo>
                <a:close/>
              </a:path>
            </a:pathLst>
          </a:custGeom>
          <a:solidFill>
            <a:srgbClr val="4A6C8C">
              <a:alpha val="10196"/>
            </a:srgbClr>
          </a:solidFill>
          <a:ln w="12700">
            <a:solidFill>
              <a:srgbClr val="4A6C8C">
                <a:alpha val="30196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293632" y="6369019"/>
            <a:ext cx="136509" cy="136509"/>
          </a:xfrm>
          <a:custGeom>
            <a:avLst/>
            <a:gdLst/>
            <a:ahLst/>
            <a:cxnLst/>
            <a:rect l="l" t="t" r="r" b="b"/>
            <a:pathLst>
              <a:path w="136509" h="136509">
                <a:moveTo>
                  <a:pt x="17064" y="17064"/>
                </a:moveTo>
                <a:cubicBezTo>
                  <a:pt x="17064" y="12345"/>
                  <a:pt x="13251" y="8532"/>
                  <a:pt x="8532" y="8532"/>
                </a:cubicBezTo>
                <a:cubicBezTo>
                  <a:pt x="3813" y="8532"/>
                  <a:pt x="0" y="12345"/>
                  <a:pt x="0" y="17064"/>
                </a:cubicBezTo>
                <a:lnTo>
                  <a:pt x="0" y="106648"/>
                </a:lnTo>
                <a:cubicBezTo>
                  <a:pt x="0" y="118433"/>
                  <a:pt x="9545" y="127978"/>
                  <a:pt x="21330" y="127978"/>
                </a:cubicBezTo>
                <a:lnTo>
                  <a:pt x="127978" y="127978"/>
                </a:lnTo>
                <a:cubicBezTo>
                  <a:pt x="132697" y="127978"/>
                  <a:pt x="136509" y="124165"/>
                  <a:pt x="136509" y="119446"/>
                </a:cubicBezTo>
                <a:cubicBezTo>
                  <a:pt x="136509" y="114727"/>
                  <a:pt x="132697" y="110914"/>
                  <a:pt x="127978" y="110914"/>
                </a:cubicBezTo>
                <a:lnTo>
                  <a:pt x="21330" y="110914"/>
                </a:lnTo>
                <a:cubicBezTo>
                  <a:pt x="18983" y="110914"/>
                  <a:pt x="17064" y="108994"/>
                  <a:pt x="17064" y="106648"/>
                </a:cubicBezTo>
                <a:lnTo>
                  <a:pt x="17064" y="17064"/>
                </a:lnTo>
                <a:close/>
                <a:moveTo>
                  <a:pt x="125471" y="40153"/>
                </a:moveTo>
                <a:cubicBezTo>
                  <a:pt x="128804" y="36820"/>
                  <a:pt x="128804" y="31408"/>
                  <a:pt x="125471" y="28075"/>
                </a:cubicBezTo>
                <a:cubicBezTo>
                  <a:pt x="122139" y="24742"/>
                  <a:pt x="116726" y="24742"/>
                  <a:pt x="113393" y="28075"/>
                </a:cubicBezTo>
                <a:lnTo>
                  <a:pt x="85318" y="56177"/>
                </a:lnTo>
                <a:lnTo>
                  <a:pt x="70014" y="40900"/>
                </a:lnTo>
                <a:cubicBezTo>
                  <a:pt x="66682" y="37567"/>
                  <a:pt x="61269" y="37567"/>
                  <a:pt x="57937" y="40900"/>
                </a:cubicBezTo>
                <a:lnTo>
                  <a:pt x="32341" y="66495"/>
                </a:lnTo>
                <a:cubicBezTo>
                  <a:pt x="29008" y="69828"/>
                  <a:pt x="29008" y="75240"/>
                  <a:pt x="32341" y="78573"/>
                </a:cubicBezTo>
                <a:cubicBezTo>
                  <a:pt x="35674" y="81906"/>
                  <a:pt x="41086" y="81906"/>
                  <a:pt x="44419" y="78573"/>
                </a:cubicBezTo>
                <a:lnTo>
                  <a:pt x="63989" y="59003"/>
                </a:lnTo>
                <a:lnTo>
                  <a:pt x="79293" y="74307"/>
                </a:lnTo>
                <a:cubicBezTo>
                  <a:pt x="82626" y="77640"/>
                  <a:pt x="88038" y="77640"/>
                  <a:pt x="91371" y="74307"/>
                </a:cubicBezTo>
                <a:lnTo>
                  <a:pt x="125498" y="40180"/>
                </a:ln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70" name="Text 68"/>
          <p:cNvSpPr/>
          <p:nvPr/>
        </p:nvSpPr>
        <p:spPr>
          <a:xfrm>
            <a:off x="6493059" y="6339157"/>
            <a:ext cx="5320674" cy="409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5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Applications:</a:t>
            </a:r>
            <a:pPr>
              <a:lnSpc>
                <a:spcPct val="130000"/>
              </a:lnSpc>
            </a:pPr>
            <a:r>
              <a:rPr lang="en-US" sz="1075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Market basket analysis, recommendation systems, web usage mining, text mining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ac9912532933898694d7011e37b28b0110e252f8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21875" b="218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713687" y="2205038"/>
            <a:ext cx="2686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spc="15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Four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523187" y="2547938"/>
            <a:ext cx="28765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ECLAT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629900" y="2709863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Shape 4"/>
          <p:cNvSpPr/>
          <p:nvPr/>
        </p:nvSpPr>
        <p:spPr>
          <a:xfrm>
            <a:off x="10896600" y="263366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5"/>
          <p:cNvSpPr/>
          <p:nvPr/>
        </p:nvSpPr>
        <p:spPr>
          <a:xfrm>
            <a:off x="10782300" y="2633663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04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360465" y="4281488"/>
            <a:ext cx="722947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 data format mining using depth-first search and TID intersection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3342" y="333342"/>
            <a:ext cx="1159198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spc="105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ECLAT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33342" y="600016"/>
            <a:ext cx="11675319" cy="3333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62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Equivalence Class Clustering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0010" y="1066696"/>
            <a:ext cx="5683489" cy="1800049"/>
          </a:xfrm>
          <a:custGeom>
            <a:avLst/>
            <a:gdLst/>
            <a:ahLst/>
            <a:cxnLst/>
            <a:rect l="l" t="t" r="r" b="b"/>
            <a:pathLst>
              <a:path w="5683489" h="1800049">
                <a:moveTo>
                  <a:pt x="33334" y="0"/>
                </a:moveTo>
                <a:lnTo>
                  <a:pt x="5616815" y="0"/>
                </a:lnTo>
                <a:cubicBezTo>
                  <a:pt x="5653638" y="0"/>
                  <a:pt x="5683489" y="29851"/>
                  <a:pt x="5683489" y="66674"/>
                </a:cubicBezTo>
                <a:lnTo>
                  <a:pt x="5683489" y="1733375"/>
                </a:lnTo>
                <a:cubicBezTo>
                  <a:pt x="5683489" y="1770198"/>
                  <a:pt x="5653638" y="1800049"/>
                  <a:pt x="5616815" y="1800049"/>
                </a:cubicBezTo>
                <a:lnTo>
                  <a:pt x="33334" y="1800049"/>
                </a:lnTo>
                <a:cubicBezTo>
                  <a:pt x="14924" y="1800049"/>
                  <a:pt x="0" y="1785125"/>
                  <a:pt x="0" y="1766715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gradFill rotWithShape="1" flip="none">
            <a:gsLst>
              <a:gs pos="0">
                <a:srgbClr val="C8A97E">
                  <a:alpha val="20000"/>
                </a:srgbClr>
              </a:gs>
              <a:gs pos="100000">
                <a:srgbClr val="C8A97E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50010" y="1066696"/>
            <a:ext cx="33334" cy="1800049"/>
          </a:xfrm>
          <a:custGeom>
            <a:avLst/>
            <a:gdLst/>
            <a:ahLst/>
            <a:cxnLst/>
            <a:rect l="l" t="t" r="r" b="b"/>
            <a:pathLst>
              <a:path w="33334" h="1800049">
                <a:moveTo>
                  <a:pt x="33334" y="0"/>
                </a:moveTo>
                <a:lnTo>
                  <a:pt x="33334" y="0"/>
                </a:lnTo>
                <a:lnTo>
                  <a:pt x="33334" y="1800049"/>
                </a:lnTo>
                <a:lnTo>
                  <a:pt x="33334" y="1800049"/>
                </a:lnTo>
                <a:cubicBezTo>
                  <a:pt x="14924" y="1800049"/>
                  <a:pt x="0" y="1785125"/>
                  <a:pt x="0" y="1766715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Text 4"/>
          <p:cNvSpPr/>
          <p:nvPr/>
        </p:nvSpPr>
        <p:spPr>
          <a:xfrm>
            <a:off x="500014" y="1200033"/>
            <a:ext cx="5483483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ECLAT?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0014" y="1533375"/>
            <a:ext cx="5466816" cy="4333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ECLAT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(Equivalence Class Clustering and bottom-up Lattice Traversal) uses a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 data format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where each item stores a list of Transaction IDs (TIDs) where it appears.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0014" y="2066723"/>
            <a:ext cx="5400148" cy="666685"/>
          </a:xfrm>
          <a:custGeom>
            <a:avLst/>
            <a:gdLst/>
            <a:ahLst/>
            <a:cxnLst/>
            <a:rect l="l" t="t" r="r" b="b"/>
            <a:pathLst>
              <a:path w="5400148" h="666685">
                <a:moveTo>
                  <a:pt x="33334" y="0"/>
                </a:moveTo>
                <a:lnTo>
                  <a:pt x="5366813" y="0"/>
                </a:lnTo>
                <a:cubicBezTo>
                  <a:pt x="5385223" y="0"/>
                  <a:pt x="5400148" y="14924"/>
                  <a:pt x="5400148" y="33334"/>
                </a:cubicBezTo>
                <a:lnTo>
                  <a:pt x="5400148" y="633351"/>
                </a:lnTo>
                <a:cubicBezTo>
                  <a:pt x="5400148" y="651761"/>
                  <a:pt x="5385223" y="666685"/>
                  <a:pt x="5366813" y="666685"/>
                </a:cubicBezTo>
                <a:lnTo>
                  <a:pt x="33334" y="666685"/>
                </a:lnTo>
                <a:cubicBezTo>
                  <a:pt x="14924" y="666685"/>
                  <a:pt x="0" y="651761"/>
                  <a:pt x="0" y="633351"/>
                </a:cubicBezTo>
                <a:lnTo>
                  <a:pt x="0" y="33334"/>
                </a:lnTo>
                <a:cubicBezTo>
                  <a:pt x="0" y="14924"/>
                  <a:pt x="14924" y="0"/>
                  <a:pt x="33334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600016" y="2191727"/>
            <a:ext cx="965131" cy="1458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Advantage: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00016" y="2433400"/>
            <a:ext cx="526681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calculation becomes simple </a:t>
            </a:r>
            <a:pPr>
              <a:lnSpc>
                <a:spcPct val="130000"/>
              </a:lnSpc>
            </a:pPr>
            <a:r>
              <a:rPr lang="en-US" sz="105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TID set intersection</a:t>
            </a:r>
            <a:pPr>
              <a:lnSpc>
                <a:spcPct val="13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—no database scanning needed!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33342" y="2966748"/>
            <a:ext cx="5700156" cy="1666712"/>
          </a:xfrm>
          <a:custGeom>
            <a:avLst/>
            <a:gdLst/>
            <a:ahLst/>
            <a:cxnLst/>
            <a:rect l="l" t="t" r="r" b="b"/>
            <a:pathLst>
              <a:path w="5700156" h="1666712">
                <a:moveTo>
                  <a:pt x="66668" y="0"/>
                </a:moveTo>
                <a:lnTo>
                  <a:pt x="5633487" y="0"/>
                </a:lnTo>
                <a:cubicBezTo>
                  <a:pt x="5670307" y="0"/>
                  <a:pt x="5700156" y="29848"/>
                  <a:pt x="5700156" y="66668"/>
                </a:cubicBezTo>
                <a:lnTo>
                  <a:pt x="5700156" y="1600044"/>
                </a:lnTo>
                <a:cubicBezTo>
                  <a:pt x="5700156" y="1636864"/>
                  <a:pt x="5670307" y="1666712"/>
                  <a:pt x="5633487" y="1666712"/>
                </a:cubicBezTo>
                <a:lnTo>
                  <a:pt x="66668" y="1666712"/>
                </a:lnTo>
                <a:cubicBezTo>
                  <a:pt x="29848" y="1666712"/>
                  <a:pt x="0" y="1636864"/>
                  <a:pt x="0" y="1600044"/>
                </a:cubicBezTo>
                <a:lnTo>
                  <a:pt x="0" y="66668"/>
                </a:lnTo>
                <a:cubicBezTo>
                  <a:pt x="0" y="29848"/>
                  <a:pt x="29848" y="0"/>
                  <a:pt x="66668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2" name="Text 10"/>
          <p:cNvSpPr/>
          <p:nvPr/>
        </p:nvSpPr>
        <p:spPr>
          <a:xfrm>
            <a:off x="466679" y="3100085"/>
            <a:ext cx="5516817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Format Comparison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6679" y="3433427"/>
            <a:ext cx="273340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 (Apriori)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66679" y="3700101"/>
            <a:ext cx="2666740" cy="800022"/>
          </a:xfrm>
          <a:custGeom>
            <a:avLst/>
            <a:gdLst/>
            <a:ahLst/>
            <a:cxnLst/>
            <a:rect l="l" t="t" r="r" b="b"/>
            <a:pathLst>
              <a:path w="2666740" h="800022">
                <a:moveTo>
                  <a:pt x="33337" y="0"/>
                </a:moveTo>
                <a:lnTo>
                  <a:pt x="2633403" y="0"/>
                </a:lnTo>
                <a:cubicBezTo>
                  <a:pt x="2651814" y="0"/>
                  <a:pt x="2666740" y="14925"/>
                  <a:pt x="2666740" y="33337"/>
                </a:cubicBezTo>
                <a:lnTo>
                  <a:pt x="2666740" y="766685"/>
                </a:lnTo>
                <a:cubicBezTo>
                  <a:pt x="2666740" y="785096"/>
                  <a:pt x="2651814" y="800022"/>
                  <a:pt x="2633403" y="800022"/>
                </a:cubicBezTo>
                <a:lnTo>
                  <a:pt x="33337" y="800022"/>
                </a:lnTo>
                <a:cubicBezTo>
                  <a:pt x="14925" y="800022"/>
                  <a:pt x="0" y="785096"/>
                  <a:pt x="0" y="766685"/>
                </a:cubicBezTo>
                <a:lnTo>
                  <a:pt x="0" y="33337"/>
                </a:lnTo>
                <a:cubicBezTo>
                  <a:pt x="0" y="14925"/>
                  <a:pt x="14925" y="0"/>
                  <a:pt x="3333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Text 13"/>
          <p:cNvSpPr/>
          <p:nvPr/>
        </p:nvSpPr>
        <p:spPr>
          <a:xfrm>
            <a:off x="533348" y="3766770"/>
            <a:ext cx="260007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T1: {A,B,C}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33348" y="4000109"/>
            <a:ext cx="260007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T2: {A,C}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33348" y="4233449"/>
            <a:ext cx="260007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T3: {B,C}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31534" y="3433427"/>
            <a:ext cx="273340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 (ECLAT)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31534" y="3700101"/>
            <a:ext cx="2666740" cy="800022"/>
          </a:xfrm>
          <a:custGeom>
            <a:avLst/>
            <a:gdLst/>
            <a:ahLst/>
            <a:cxnLst/>
            <a:rect l="l" t="t" r="r" b="b"/>
            <a:pathLst>
              <a:path w="2666740" h="800022">
                <a:moveTo>
                  <a:pt x="33337" y="0"/>
                </a:moveTo>
                <a:lnTo>
                  <a:pt x="2633403" y="0"/>
                </a:lnTo>
                <a:cubicBezTo>
                  <a:pt x="2651814" y="0"/>
                  <a:pt x="2666740" y="14925"/>
                  <a:pt x="2666740" y="33337"/>
                </a:cubicBezTo>
                <a:lnTo>
                  <a:pt x="2666740" y="766685"/>
                </a:lnTo>
                <a:cubicBezTo>
                  <a:pt x="2666740" y="785096"/>
                  <a:pt x="2651814" y="800022"/>
                  <a:pt x="2633403" y="800022"/>
                </a:cubicBezTo>
                <a:lnTo>
                  <a:pt x="33337" y="800022"/>
                </a:lnTo>
                <a:cubicBezTo>
                  <a:pt x="14925" y="800022"/>
                  <a:pt x="0" y="785096"/>
                  <a:pt x="0" y="766685"/>
                </a:cubicBezTo>
                <a:lnTo>
                  <a:pt x="0" y="33337"/>
                </a:lnTo>
                <a:cubicBezTo>
                  <a:pt x="0" y="14925"/>
                  <a:pt x="14925" y="0"/>
                  <a:pt x="3333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3298202" y="3766770"/>
            <a:ext cx="260007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A: {1,2}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298202" y="4000109"/>
            <a:ext cx="260007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B: {1,3}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8202" y="4233449"/>
            <a:ext cx="260007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C: {1,2,3}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33342" y="4733463"/>
            <a:ext cx="5700156" cy="1925053"/>
          </a:xfrm>
          <a:custGeom>
            <a:avLst/>
            <a:gdLst/>
            <a:ahLst/>
            <a:cxnLst/>
            <a:rect l="l" t="t" r="r" b="b"/>
            <a:pathLst>
              <a:path w="5700156" h="1925053">
                <a:moveTo>
                  <a:pt x="66665" y="0"/>
                </a:moveTo>
                <a:lnTo>
                  <a:pt x="5633491" y="0"/>
                </a:lnTo>
                <a:cubicBezTo>
                  <a:pt x="5670309" y="0"/>
                  <a:pt x="5700156" y="29847"/>
                  <a:pt x="5700156" y="66665"/>
                </a:cubicBezTo>
                <a:lnTo>
                  <a:pt x="5700156" y="1858388"/>
                </a:lnTo>
                <a:cubicBezTo>
                  <a:pt x="5700156" y="1895206"/>
                  <a:pt x="5670309" y="1925053"/>
                  <a:pt x="5633491" y="1925053"/>
                </a:cubicBezTo>
                <a:lnTo>
                  <a:pt x="66665" y="1925053"/>
                </a:lnTo>
                <a:cubicBezTo>
                  <a:pt x="29847" y="1925053"/>
                  <a:pt x="0" y="1895206"/>
                  <a:pt x="0" y="1858388"/>
                </a:cubicBezTo>
                <a:lnTo>
                  <a:pt x="0" y="66665"/>
                </a:lnTo>
                <a:cubicBezTo>
                  <a:pt x="0" y="29871"/>
                  <a:pt x="29871" y="0"/>
                  <a:pt x="66665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24" name="Text 22"/>
          <p:cNvSpPr/>
          <p:nvPr/>
        </p:nvSpPr>
        <p:spPr>
          <a:xfrm>
            <a:off x="466679" y="4866800"/>
            <a:ext cx="5516817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ECLAT vs Apriori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66679" y="5200142"/>
            <a:ext cx="77502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Format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734570" y="5200142"/>
            <a:ext cx="508347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Vertical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7046" y="5200142"/>
            <a:ext cx="65835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Horizontal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679" y="5466816"/>
            <a:ext cx="975027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Search Strategy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319677" y="5466816"/>
            <a:ext cx="30000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DFS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684400" y="5466816"/>
            <a:ext cx="27500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BFS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679" y="5733490"/>
            <a:ext cx="608350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 Scans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8091" y="5733490"/>
            <a:ext cx="425012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Fewer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430552" y="5733490"/>
            <a:ext cx="533348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66679" y="6000164"/>
            <a:ext cx="55834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225506" y="6000164"/>
            <a:ext cx="858357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efficient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153852" y="6000164"/>
            <a:ext cx="8083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Less efficient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163124" y="1066696"/>
            <a:ext cx="5700156" cy="2866745"/>
          </a:xfrm>
          <a:custGeom>
            <a:avLst/>
            <a:gdLst/>
            <a:ahLst/>
            <a:cxnLst/>
            <a:rect l="l" t="t" r="r" b="b"/>
            <a:pathLst>
              <a:path w="5700156" h="2866745">
                <a:moveTo>
                  <a:pt x="66680" y="0"/>
                </a:moveTo>
                <a:lnTo>
                  <a:pt x="5633475" y="0"/>
                </a:lnTo>
                <a:cubicBezTo>
                  <a:pt x="5670302" y="0"/>
                  <a:pt x="5700156" y="29854"/>
                  <a:pt x="5700156" y="66680"/>
                </a:cubicBezTo>
                <a:lnTo>
                  <a:pt x="5700156" y="2800065"/>
                </a:lnTo>
                <a:cubicBezTo>
                  <a:pt x="5700156" y="2836891"/>
                  <a:pt x="5670302" y="2866745"/>
                  <a:pt x="5633475" y="2866745"/>
                </a:cubicBezTo>
                <a:lnTo>
                  <a:pt x="66680" y="2866745"/>
                </a:lnTo>
                <a:cubicBezTo>
                  <a:pt x="29854" y="2866745"/>
                  <a:pt x="0" y="2836891"/>
                  <a:pt x="0" y="2800065"/>
                </a:cubicBezTo>
                <a:lnTo>
                  <a:pt x="0" y="66680"/>
                </a:lnTo>
                <a:cubicBezTo>
                  <a:pt x="0" y="29854"/>
                  <a:pt x="29854" y="0"/>
                  <a:pt x="6668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38" name="Text 36"/>
          <p:cNvSpPr/>
          <p:nvPr/>
        </p:nvSpPr>
        <p:spPr>
          <a:xfrm>
            <a:off x="6296461" y="1200033"/>
            <a:ext cx="5516817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Process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296461" y="1533375"/>
            <a:ext cx="266674" cy="266674"/>
          </a:xfrm>
          <a:custGeom>
            <a:avLst/>
            <a:gdLst/>
            <a:ahLst/>
            <a:cxnLst/>
            <a:rect l="l" t="t" r="r" b="b"/>
            <a:pathLst>
              <a:path w="266674" h="266674">
                <a:moveTo>
                  <a:pt x="133337" y="0"/>
                </a:moveTo>
                <a:lnTo>
                  <a:pt x="133337" y="0"/>
                </a:lnTo>
                <a:cubicBezTo>
                  <a:pt x="206977" y="0"/>
                  <a:pt x="266674" y="59697"/>
                  <a:pt x="266674" y="133337"/>
                </a:cubicBezTo>
                <a:lnTo>
                  <a:pt x="266674" y="133337"/>
                </a:lnTo>
                <a:cubicBezTo>
                  <a:pt x="266674" y="206977"/>
                  <a:pt x="206977" y="266674"/>
                  <a:pt x="133337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127" y="1533375"/>
            <a:ext cx="333342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63138" y="1533375"/>
            <a:ext cx="252506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Scan &amp; Transform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663138" y="1733381"/>
            <a:ext cx="252506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Convert to vertical format (item → TID set)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96461" y="2000055"/>
            <a:ext cx="266674" cy="266674"/>
          </a:xfrm>
          <a:custGeom>
            <a:avLst/>
            <a:gdLst/>
            <a:ahLst/>
            <a:cxnLst/>
            <a:rect l="l" t="t" r="r" b="b"/>
            <a:pathLst>
              <a:path w="266674" h="266674">
                <a:moveTo>
                  <a:pt x="133337" y="0"/>
                </a:moveTo>
                <a:lnTo>
                  <a:pt x="133337" y="0"/>
                </a:lnTo>
                <a:cubicBezTo>
                  <a:pt x="206977" y="0"/>
                  <a:pt x="266674" y="59697"/>
                  <a:pt x="266674" y="133337"/>
                </a:cubicBezTo>
                <a:lnTo>
                  <a:pt x="266674" y="133337"/>
                </a:lnTo>
                <a:cubicBezTo>
                  <a:pt x="266674" y="206977"/>
                  <a:pt x="206977" y="266674"/>
                  <a:pt x="133337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127" y="2000055"/>
            <a:ext cx="333342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663138" y="2000055"/>
            <a:ext cx="165837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 Frequent 1-Itemsets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663138" y="2200060"/>
            <a:ext cx="1658379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Filter by |TID set| ≥ min_sup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296461" y="2466734"/>
            <a:ext cx="266674" cy="266674"/>
          </a:xfrm>
          <a:custGeom>
            <a:avLst/>
            <a:gdLst/>
            <a:ahLst/>
            <a:cxnLst/>
            <a:rect l="l" t="t" r="r" b="b"/>
            <a:pathLst>
              <a:path w="266674" h="266674">
                <a:moveTo>
                  <a:pt x="133337" y="0"/>
                </a:moveTo>
                <a:lnTo>
                  <a:pt x="133337" y="0"/>
                </a:lnTo>
                <a:cubicBezTo>
                  <a:pt x="206977" y="0"/>
                  <a:pt x="266674" y="59697"/>
                  <a:pt x="266674" y="133337"/>
                </a:cubicBezTo>
                <a:lnTo>
                  <a:pt x="266674" y="133337"/>
                </a:lnTo>
                <a:cubicBezTo>
                  <a:pt x="266674" y="206977"/>
                  <a:pt x="206977" y="266674"/>
                  <a:pt x="133337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8" name="Text 46"/>
          <p:cNvSpPr/>
          <p:nvPr/>
        </p:nvSpPr>
        <p:spPr>
          <a:xfrm>
            <a:off x="6263127" y="2466734"/>
            <a:ext cx="333342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6663138" y="2466734"/>
            <a:ext cx="20250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Generate Candidates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663138" y="2666740"/>
            <a:ext cx="202505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 k-itemsets sharing (k-1) prefix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6296461" y="2933414"/>
            <a:ext cx="266674" cy="266674"/>
          </a:xfrm>
          <a:custGeom>
            <a:avLst/>
            <a:gdLst/>
            <a:ahLst/>
            <a:cxnLst/>
            <a:rect l="l" t="t" r="r" b="b"/>
            <a:pathLst>
              <a:path w="266674" h="266674">
                <a:moveTo>
                  <a:pt x="133337" y="0"/>
                </a:moveTo>
                <a:lnTo>
                  <a:pt x="133337" y="0"/>
                </a:lnTo>
                <a:cubicBezTo>
                  <a:pt x="206977" y="0"/>
                  <a:pt x="266674" y="59697"/>
                  <a:pt x="266674" y="133337"/>
                </a:cubicBezTo>
                <a:lnTo>
                  <a:pt x="266674" y="133337"/>
                </a:lnTo>
                <a:cubicBezTo>
                  <a:pt x="266674" y="206977"/>
                  <a:pt x="206977" y="266674"/>
                  <a:pt x="133337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2" name="Text 50"/>
          <p:cNvSpPr/>
          <p:nvPr/>
        </p:nvSpPr>
        <p:spPr>
          <a:xfrm>
            <a:off x="6263127" y="2933414"/>
            <a:ext cx="333342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6663138" y="2933414"/>
            <a:ext cx="1908386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Intersect TID Sets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6663138" y="3133419"/>
            <a:ext cx="1908386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Support(X∪Y) = |TID(X) ∩ TID(Y)|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96461" y="3400093"/>
            <a:ext cx="266674" cy="266674"/>
          </a:xfrm>
          <a:custGeom>
            <a:avLst/>
            <a:gdLst/>
            <a:ahLst/>
            <a:cxnLst/>
            <a:rect l="l" t="t" r="r" b="b"/>
            <a:pathLst>
              <a:path w="266674" h="266674">
                <a:moveTo>
                  <a:pt x="133337" y="0"/>
                </a:moveTo>
                <a:lnTo>
                  <a:pt x="133337" y="0"/>
                </a:lnTo>
                <a:cubicBezTo>
                  <a:pt x="206977" y="0"/>
                  <a:pt x="266674" y="59697"/>
                  <a:pt x="266674" y="133337"/>
                </a:cubicBezTo>
                <a:lnTo>
                  <a:pt x="266674" y="133337"/>
                </a:lnTo>
                <a:cubicBezTo>
                  <a:pt x="266674" y="206977"/>
                  <a:pt x="206977" y="266674"/>
                  <a:pt x="133337" y="266674"/>
                </a:cubicBezTo>
                <a:lnTo>
                  <a:pt x="133337" y="266674"/>
                </a:lnTo>
                <a:cubicBezTo>
                  <a:pt x="59697" y="266674"/>
                  <a:pt x="0" y="206977"/>
                  <a:pt x="0" y="133337"/>
                </a:cubicBezTo>
                <a:lnTo>
                  <a:pt x="0" y="133337"/>
                </a:lnTo>
                <a:cubicBezTo>
                  <a:pt x="0" y="59697"/>
                  <a:pt x="59697" y="0"/>
                  <a:pt x="13333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6" name="Text 54"/>
          <p:cNvSpPr/>
          <p:nvPr/>
        </p:nvSpPr>
        <p:spPr>
          <a:xfrm>
            <a:off x="6263127" y="3400093"/>
            <a:ext cx="333342" cy="2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50" b="1" dirty="0">
                <a:solidFill>
                  <a:srgbClr val="1A1D2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6663138" y="3400093"/>
            <a:ext cx="199172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Prune &amp; Repeat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663138" y="3600098"/>
            <a:ext cx="1991721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Keep frequent, discard infrequent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163124" y="4033444"/>
            <a:ext cx="5700156" cy="2108391"/>
          </a:xfrm>
          <a:custGeom>
            <a:avLst/>
            <a:gdLst/>
            <a:ahLst/>
            <a:cxnLst/>
            <a:rect l="l" t="t" r="r" b="b"/>
            <a:pathLst>
              <a:path w="5700156" h="2108391">
                <a:moveTo>
                  <a:pt x="66667" y="0"/>
                </a:moveTo>
                <a:lnTo>
                  <a:pt x="5633489" y="0"/>
                </a:lnTo>
                <a:cubicBezTo>
                  <a:pt x="5670308" y="0"/>
                  <a:pt x="5700156" y="29848"/>
                  <a:pt x="5700156" y="66667"/>
                </a:cubicBezTo>
                <a:lnTo>
                  <a:pt x="5700156" y="2041724"/>
                </a:lnTo>
                <a:cubicBezTo>
                  <a:pt x="5700156" y="2078543"/>
                  <a:pt x="5670308" y="2108391"/>
                  <a:pt x="5633489" y="2108391"/>
                </a:cubicBezTo>
                <a:lnTo>
                  <a:pt x="66667" y="2108391"/>
                </a:lnTo>
                <a:cubicBezTo>
                  <a:pt x="29848" y="2108391"/>
                  <a:pt x="0" y="2078543"/>
                  <a:pt x="0" y="2041724"/>
                </a:cubicBezTo>
                <a:lnTo>
                  <a:pt x="0" y="66667"/>
                </a:lnTo>
                <a:cubicBezTo>
                  <a:pt x="0" y="29873"/>
                  <a:pt x="29873" y="0"/>
                  <a:pt x="66667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60" name="Text 58"/>
          <p:cNvSpPr/>
          <p:nvPr/>
        </p:nvSpPr>
        <p:spPr>
          <a:xfrm>
            <a:off x="6296461" y="4166781"/>
            <a:ext cx="5516817" cy="233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12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TID Intersection Example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6296461" y="4500123"/>
            <a:ext cx="5433482" cy="1208366"/>
          </a:xfrm>
          <a:custGeom>
            <a:avLst/>
            <a:gdLst/>
            <a:ahLst/>
            <a:cxnLst/>
            <a:rect l="l" t="t" r="r" b="b"/>
            <a:pathLst>
              <a:path w="5433482" h="1208366">
                <a:moveTo>
                  <a:pt x="33339" y="0"/>
                </a:moveTo>
                <a:lnTo>
                  <a:pt x="5400143" y="0"/>
                </a:lnTo>
                <a:cubicBezTo>
                  <a:pt x="5418556" y="0"/>
                  <a:pt x="5433482" y="14926"/>
                  <a:pt x="5433482" y="33339"/>
                </a:cubicBezTo>
                <a:lnTo>
                  <a:pt x="5433482" y="1175028"/>
                </a:lnTo>
                <a:cubicBezTo>
                  <a:pt x="5433482" y="1193440"/>
                  <a:pt x="5418556" y="1208366"/>
                  <a:pt x="5400143" y="1208366"/>
                </a:cubicBezTo>
                <a:lnTo>
                  <a:pt x="33339" y="1208366"/>
                </a:lnTo>
                <a:cubicBezTo>
                  <a:pt x="14926" y="1208366"/>
                  <a:pt x="0" y="1193440"/>
                  <a:pt x="0" y="1175028"/>
                </a:cubicBezTo>
                <a:lnTo>
                  <a:pt x="0" y="33339"/>
                </a:lnTo>
                <a:cubicBezTo>
                  <a:pt x="0" y="14926"/>
                  <a:pt x="14926" y="0"/>
                  <a:pt x="33339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62" name="Text 60"/>
          <p:cNvSpPr/>
          <p:nvPr/>
        </p:nvSpPr>
        <p:spPr>
          <a:xfrm>
            <a:off x="6396464" y="4600126"/>
            <a:ext cx="530014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TID(A) = {1,3,4,5,6}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6396464" y="4866800"/>
            <a:ext cx="530014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TID(B) = {1,3,5,6}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6396464" y="5137640"/>
            <a:ext cx="5233476" cy="8334"/>
          </a:xfrm>
          <a:custGeom>
            <a:avLst/>
            <a:gdLst/>
            <a:ahLst/>
            <a:cxnLst/>
            <a:rect l="l" t="t" r="r" b="b"/>
            <a:pathLst>
              <a:path w="5233476" h="8334">
                <a:moveTo>
                  <a:pt x="0" y="0"/>
                </a:moveTo>
                <a:lnTo>
                  <a:pt x="5233476" y="0"/>
                </a:lnTo>
                <a:lnTo>
                  <a:pt x="5233476" y="8334"/>
                </a:lnTo>
                <a:lnTo>
                  <a:pt x="0" y="8334"/>
                </a:lnTo>
                <a:lnTo>
                  <a:pt x="0" y="0"/>
                </a:lnTo>
                <a:close/>
              </a:path>
            </a:pathLst>
          </a:custGeom>
          <a:solidFill>
            <a:srgbClr val="788A9C">
              <a:alpha val="30196"/>
            </a:srgbClr>
          </a:solidFill>
          <a:ln/>
        </p:spPr>
      </p:sp>
      <p:sp>
        <p:nvSpPr>
          <p:cNvPr id="65" name="Text 63"/>
          <p:cNvSpPr/>
          <p:nvPr/>
        </p:nvSpPr>
        <p:spPr>
          <a:xfrm>
            <a:off x="6396464" y="5208476"/>
            <a:ext cx="530014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TID(A∩B) = {1,3,5,6}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6396464" y="5408481"/>
            <a:ext cx="5300145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Support({A,B}) = 4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6321462" y="5837660"/>
            <a:ext cx="116670" cy="133337"/>
          </a:xfrm>
          <a:custGeom>
            <a:avLst/>
            <a:gdLst/>
            <a:ahLst/>
            <a:cxnLst/>
            <a:rect l="l" t="t" r="r" b="b"/>
            <a:pathLst>
              <a:path w="116670" h="133337">
                <a:moveTo>
                  <a:pt x="88232" y="-2578"/>
                </a:moveTo>
                <a:cubicBezTo>
                  <a:pt x="91331" y="-339"/>
                  <a:pt x="92476" y="3724"/>
                  <a:pt x="91070" y="7266"/>
                </a:cubicBezTo>
                <a:lnTo>
                  <a:pt x="70653" y="58335"/>
                </a:lnTo>
                <a:lnTo>
                  <a:pt x="108336" y="58335"/>
                </a:lnTo>
                <a:cubicBezTo>
                  <a:pt x="111852" y="58335"/>
                  <a:pt x="114977" y="60522"/>
                  <a:pt x="116175" y="63830"/>
                </a:cubicBezTo>
                <a:cubicBezTo>
                  <a:pt x="117373" y="67137"/>
                  <a:pt x="116357" y="70835"/>
                  <a:pt x="113675" y="73075"/>
                </a:cubicBezTo>
                <a:lnTo>
                  <a:pt x="38673" y="135577"/>
                </a:lnTo>
                <a:cubicBezTo>
                  <a:pt x="35730" y="138025"/>
                  <a:pt x="31537" y="138155"/>
                  <a:pt x="28438" y="135915"/>
                </a:cubicBezTo>
                <a:cubicBezTo>
                  <a:pt x="25339" y="133676"/>
                  <a:pt x="24193" y="129613"/>
                  <a:pt x="25600" y="126071"/>
                </a:cubicBezTo>
                <a:lnTo>
                  <a:pt x="46017" y="75002"/>
                </a:lnTo>
                <a:lnTo>
                  <a:pt x="8334" y="75002"/>
                </a:lnTo>
                <a:cubicBezTo>
                  <a:pt x="4818" y="75002"/>
                  <a:pt x="1693" y="72814"/>
                  <a:pt x="495" y="69507"/>
                </a:cubicBezTo>
                <a:cubicBezTo>
                  <a:pt x="-703" y="66200"/>
                  <a:pt x="313" y="62502"/>
                  <a:pt x="2995" y="60262"/>
                </a:cubicBezTo>
                <a:lnTo>
                  <a:pt x="77997" y="-2240"/>
                </a:lnTo>
                <a:cubicBezTo>
                  <a:pt x="80940" y="-4688"/>
                  <a:pt x="85133" y="-4818"/>
                  <a:pt x="88232" y="-257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8" name="Text 66"/>
          <p:cNvSpPr/>
          <p:nvPr/>
        </p:nvSpPr>
        <p:spPr>
          <a:xfrm>
            <a:off x="6506879" y="5808492"/>
            <a:ext cx="5289732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set intersection replaces expensive database scanning!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6167291" y="6246004"/>
            <a:ext cx="5691822" cy="408344"/>
          </a:xfrm>
          <a:custGeom>
            <a:avLst/>
            <a:gdLst/>
            <a:ahLst/>
            <a:cxnLst/>
            <a:rect l="l" t="t" r="r" b="b"/>
            <a:pathLst>
              <a:path w="5691822" h="408344">
                <a:moveTo>
                  <a:pt x="66670" y="0"/>
                </a:moveTo>
                <a:lnTo>
                  <a:pt x="5625152" y="0"/>
                </a:lnTo>
                <a:cubicBezTo>
                  <a:pt x="5661973" y="0"/>
                  <a:pt x="5691822" y="29849"/>
                  <a:pt x="5691822" y="66670"/>
                </a:cubicBezTo>
                <a:lnTo>
                  <a:pt x="5691822" y="341674"/>
                </a:lnTo>
                <a:cubicBezTo>
                  <a:pt x="5691822" y="378495"/>
                  <a:pt x="5661973" y="408344"/>
                  <a:pt x="5625152" y="408344"/>
                </a:cubicBezTo>
                <a:lnTo>
                  <a:pt x="66670" y="408344"/>
                </a:lnTo>
                <a:cubicBezTo>
                  <a:pt x="29849" y="408344"/>
                  <a:pt x="0" y="378495"/>
                  <a:pt x="0" y="341674"/>
                </a:cubicBezTo>
                <a:lnTo>
                  <a:pt x="0" y="66670"/>
                </a:lnTo>
                <a:cubicBezTo>
                  <a:pt x="0" y="29874"/>
                  <a:pt x="29874" y="0"/>
                  <a:pt x="66670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6304795" y="6379341"/>
            <a:ext cx="100003" cy="133337"/>
          </a:xfrm>
          <a:custGeom>
            <a:avLst/>
            <a:gdLst/>
            <a:ahLst/>
            <a:cxnLst/>
            <a:rect l="l" t="t" r="r" b="b"/>
            <a:pathLst>
              <a:path w="100003" h="133337">
                <a:moveTo>
                  <a:pt x="76278" y="100003"/>
                </a:moveTo>
                <a:cubicBezTo>
                  <a:pt x="78179" y="94195"/>
                  <a:pt x="81981" y="88935"/>
                  <a:pt x="86278" y="84403"/>
                </a:cubicBezTo>
                <a:cubicBezTo>
                  <a:pt x="94794" y="75445"/>
                  <a:pt x="100003" y="63335"/>
                  <a:pt x="100003" y="50001"/>
                </a:cubicBezTo>
                <a:cubicBezTo>
                  <a:pt x="100003" y="22396"/>
                  <a:pt x="77606" y="0"/>
                  <a:pt x="50001" y="0"/>
                </a:cubicBezTo>
                <a:cubicBezTo>
                  <a:pt x="22396" y="0"/>
                  <a:pt x="0" y="22396"/>
                  <a:pt x="0" y="50001"/>
                </a:cubicBezTo>
                <a:cubicBezTo>
                  <a:pt x="0" y="63335"/>
                  <a:pt x="5208" y="75445"/>
                  <a:pt x="13724" y="84403"/>
                </a:cubicBezTo>
                <a:cubicBezTo>
                  <a:pt x="18021" y="88935"/>
                  <a:pt x="21850" y="94195"/>
                  <a:pt x="23725" y="100003"/>
                </a:cubicBezTo>
                <a:lnTo>
                  <a:pt x="76252" y="100003"/>
                </a:lnTo>
                <a:close/>
                <a:moveTo>
                  <a:pt x="75002" y="112503"/>
                </a:moveTo>
                <a:lnTo>
                  <a:pt x="25001" y="112503"/>
                </a:lnTo>
                <a:lnTo>
                  <a:pt x="25001" y="116670"/>
                </a:lnTo>
                <a:cubicBezTo>
                  <a:pt x="25001" y="128181"/>
                  <a:pt x="34324" y="137504"/>
                  <a:pt x="45835" y="137504"/>
                </a:cubicBezTo>
                <a:lnTo>
                  <a:pt x="54168" y="137504"/>
                </a:lnTo>
                <a:cubicBezTo>
                  <a:pt x="65679" y="137504"/>
                  <a:pt x="75002" y="128181"/>
                  <a:pt x="75002" y="116670"/>
                </a:cubicBezTo>
                <a:lnTo>
                  <a:pt x="75002" y="112503"/>
                </a:lnTo>
                <a:close/>
                <a:moveTo>
                  <a:pt x="47918" y="29167"/>
                </a:moveTo>
                <a:cubicBezTo>
                  <a:pt x="37553" y="29167"/>
                  <a:pt x="29167" y="37553"/>
                  <a:pt x="29167" y="47918"/>
                </a:cubicBezTo>
                <a:cubicBezTo>
                  <a:pt x="29167" y="51382"/>
                  <a:pt x="26381" y="54168"/>
                  <a:pt x="22917" y="54168"/>
                </a:cubicBezTo>
                <a:cubicBezTo>
                  <a:pt x="19454" y="54168"/>
                  <a:pt x="16667" y="51382"/>
                  <a:pt x="16667" y="47918"/>
                </a:cubicBezTo>
                <a:cubicBezTo>
                  <a:pt x="16667" y="30652"/>
                  <a:pt x="30652" y="16667"/>
                  <a:pt x="47918" y="16667"/>
                </a:cubicBezTo>
                <a:cubicBezTo>
                  <a:pt x="51382" y="16667"/>
                  <a:pt x="54168" y="19454"/>
                  <a:pt x="54168" y="22917"/>
                </a:cubicBezTo>
                <a:cubicBezTo>
                  <a:pt x="54168" y="26381"/>
                  <a:pt x="51382" y="29167"/>
                  <a:pt x="47918" y="29167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1" name="Text 69"/>
          <p:cNvSpPr/>
          <p:nvPr/>
        </p:nvSpPr>
        <p:spPr>
          <a:xfrm>
            <a:off x="6481879" y="6350174"/>
            <a:ext cx="5339734" cy="200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5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Equivalence Classes:</a:t>
            </a:r>
            <a:pPr>
              <a:lnSpc>
                <a:spcPct val="130000"/>
              </a:lnSpc>
            </a:pPr>
            <a:r>
              <a:rPr lang="en-US" sz="105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Items with same prefix are grouped, enabling parallel processing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c7a137a564490a87e1036af53e3a94933def839a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6731" b="673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63366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Text 2"/>
          <p:cNvSpPr/>
          <p:nvPr/>
        </p:nvSpPr>
        <p:spPr>
          <a:xfrm>
            <a:off x="266700" y="2633663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4000" y="2709863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4"/>
          <p:cNvSpPr/>
          <p:nvPr/>
        </p:nvSpPr>
        <p:spPr>
          <a:xfrm>
            <a:off x="1790700" y="2205038"/>
            <a:ext cx="4419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Five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90700" y="2547938"/>
            <a:ext cx="46101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Closed Frequent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Itemsets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4281488"/>
            <a:ext cx="6400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CHARM algorithm for mining non-redundant patterns efficiently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321" y="340321"/>
            <a:ext cx="11579422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spc="107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CHARM Algorithm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0321" y="612578"/>
            <a:ext cx="11664502" cy="3403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12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Mining Closed Itemsets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57337" y="1089027"/>
            <a:ext cx="5666345" cy="2314183"/>
          </a:xfrm>
          <a:custGeom>
            <a:avLst/>
            <a:gdLst/>
            <a:ahLst/>
            <a:cxnLst/>
            <a:rect l="l" t="t" r="r" b="b"/>
            <a:pathLst>
              <a:path w="5666345" h="2314183">
                <a:moveTo>
                  <a:pt x="34032" y="0"/>
                </a:moveTo>
                <a:lnTo>
                  <a:pt x="5598285" y="0"/>
                </a:lnTo>
                <a:cubicBezTo>
                  <a:pt x="5635873" y="0"/>
                  <a:pt x="5666345" y="30472"/>
                  <a:pt x="5666345" y="68060"/>
                </a:cubicBezTo>
                <a:lnTo>
                  <a:pt x="5666345" y="2246123"/>
                </a:lnTo>
                <a:cubicBezTo>
                  <a:pt x="5666345" y="2283711"/>
                  <a:pt x="5635873" y="2314183"/>
                  <a:pt x="5598285" y="2314183"/>
                </a:cubicBezTo>
                <a:lnTo>
                  <a:pt x="34032" y="2314183"/>
                </a:lnTo>
                <a:cubicBezTo>
                  <a:pt x="15237" y="2314183"/>
                  <a:pt x="0" y="2298946"/>
                  <a:pt x="0" y="2280151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gradFill rotWithShape="1" flip="none">
            <a:gsLst>
              <a:gs pos="0">
                <a:srgbClr val="C8A97E">
                  <a:alpha val="20000"/>
                </a:srgbClr>
              </a:gs>
              <a:gs pos="100000">
                <a:srgbClr val="C8A97E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57337" y="1089027"/>
            <a:ext cx="34032" cy="2314183"/>
          </a:xfrm>
          <a:custGeom>
            <a:avLst/>
            <a:gdLst/>
            <a:ahLst/>
            <a:cxnLst/>
            <a:rect l="l" t="t" r="r" b="b"/>
            <a:pathLst>
              <a:path w="34032" h="2314183">
                <a:moveTo>
                  <a:pt x="34032" y="0"/>
                </a:moveTo>
                <a:lnTo>
                  <a:pt x="34032" y="0"/>
                </a:lnTo>
                <a:lnTo>
                  <a:pt x="34032" y="2314183"/>
                </a:lnTo>
                <a:lnTo>
                  <a:pt x="34032" y="2314183"/>
                </a:lnTo>
                <a:cubicBezTo>
                  <a:pt x="15237" y="2314183"/>
                  <a:pt x="0" y="2298946"/>
                  <a:pt x="0" y="2280151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Text 4"/>
          <p:cNvSpPr/>
          <p:nvPr/>
        </p:nvSpPr>
        <p:spPr>
          <a:xfrm>
            <a:off x="510482" y="1225156"/>
            <a:ext cx="5462152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Closed Itemsets?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10482" y="1565477"/>
            <a:ext cx="5445136" cy="44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itemset is </a:t>
            </a:r>
            <a:pPr>
              <a:lnSpc>
                <a:spcPct val="140000"/>
              </a:lnSpc>
            </a:pPr>
            <a:r>
              <a:rPr lang="en-US" sz="107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closed</a:t>
            </a:r>
            <a:pPr>
              <a:lnSpc>
                <a:spcPct val="14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if no proper superset has the same support. Closed itemsets uniquely determine all frequent itemsets with their exact frequencies.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10482" y="2109990"/>
            <a:ext cx="5377072" cy="1157091"/>
          </a:xfrm>
          <a:custGeom>
            <a:avLst/>
            <a:gdLst/>
            <a:ahLst/>
            <a:cxnLst/>
            <a:rect l="l" t="t" r="r" b="b"/>
            <a:pathLst>
              <a:path w="5377072" h="1157091">
                <a:moveTo>
                  <a:pt x="34030" y="0"/>
                </a:moveTo>
                <a:lnTo>
                  <a:pt x="5343042" y="0"/>
                </a:lnTo>
                <a:cubicBezTo>
                  <a:pt x="5361836" y="0"/>
                  <a:pt x="5377072" y="15236"/>
                  <a:pt x="5377072" y="34030"/>
                </a:cubicBezTo>
                <a:lnTo>
                  <a:pt x="5377072" y="1123061"/>
                </a:lnTo>
                <a:cubicBezTo>
                  <a:pt x="5377072" y="1141856"/>
                  <a:pt x="5361836" y="1157091"/>
                  <a:pt x="5343042" y="1157091"/>
                </a:cubicBezTo>
                <a:lnTo>
                  <a:pt x="34030" y="1157091"/>
                </a:lnTo>
                <a:cubicBezTo>
                  <a:pt x="15236" y="1157091"/>
                  <a:pt x="0" y="1141856"/>
                  <a:pt x="0" y="1123061"/>
                </a:cubicBezTo>
                <a:lnTo>
                  <a:pt x="0" y="34030"/>
                </a:lnTo>
                <a:cubicBezTo>
                  <a:pt x="0" y="15248"/>
                  <a:pt x="15248" y="0"/>
                  <a:pt x="3403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9" name="Text 7"/>
          <p:cNvSpPr/>
          <p:nvPr/>
        </p:nvSpPr>
        <p:spPr>
          <a:xfrm>
            <a:off x="612578" y="2237611"/>
            <a:ext cx="565917" cy="148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Benefits: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578" y="2484343"/>
            <a:ext cx="5240943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7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 of magnitude smaller</a:t>
            </a:r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than all frequent itemsets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2578" y="2722568"/>
            <a:ext cx="5240943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Generate </a:t>
            </a:r>
            <a:pPr>
              <a:lnSpc>
                <a:spcPct val="130000"/>
              </a:lnSpc>
            </a:pPr>
            <a:r>
              <a:rPr lang="en-US" sz="107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non-redundant rules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578" y="2960793"/>
            <a:ext cx="5240943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Preserve complete information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0321" y="3505306"/>
            <a:ext cx="5683361" cy="3352162"/>
          </a:xfrm>
          <a:custGeom>
            <a:avLst/>
            <a:gdLst/>
            <a:ahLst/>
            <a:cxnLst/>
            <a:rect l="l" t="t" r="r" b="b"/>
            <a:pathLst>
              <a:path w="5683361" h="3352162">
                <a:moveTo>
                  <a:pt x="68049" y="0"/>
                </a:moveTo>
                <a:lnTo>
                  <a:pt x="5615312" y="0"/>
                </a:lnTo>
                <a:cubicBezTo>
                  <a:pt x="5652894" y="0"/>
                  <a:pt x="5683361" y="30467"/>
                  <a:pt x="5683361" y="68049"/>
                </a:cubicBezTo>
                <a:lnTo>
                  <a:pt x="5683361" y="3284113"/>
                </a:lnTo>
                <a:cubicBezTo>
                  <a:pt x="5683361" y="3321695"/>
                  <a:pt x="5652894" y="3352162"/>
                  <a:pt x="5615312" y="3352162"/>
                </a:cubicBezTo>
                <a:lnTo>
                  <a:pt x="68049" y="3352162"/>
                </a:lnTo>
                <a:cubicBezTo>
                  <a:pt x="30467" y="3352162"/>
                  <a:pt x="0" y="3321695"/>
                  <a:pt x="0" y="3284113"/>
                </a:cubicBezTo>
                <a:lnTo>
                  <a:pt x="0" y="68049"/>
                </a:lnTo>
                <a:cubicBezTo>
                  <a:pt x="0" y="30492"/>
                  <a:pt x="30492" y="0"/>
                  <a:pt x="68049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4" name="Text 12"/>
          <p:cNvSpPr/>
          <p:nvPr/>
        </p:nvSpPr>
        <p:spPr>
          <a:xfrm>
            <a:off x="476449" y="3641435"/>
            <a:ext cx="5496184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Closed Itemset Example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76449" y="3981756"/>
            <a:ext cx="5411104" cy="1395316"/>
          </a:xfrm>
          <a:custGeom>
            <a:avLst/>
            <a:gdLst/>
            <a:ahLst/>
            <a:cxnLst/>
            <a:rect l="l" t="t" r="r" b="b"/>
            <a:pathLst>
              <a:path w="5411104" h="1395316">
                <a:moveTo>
                  <a:pt x="34032" y="0"/>
                </a:moveTo>
                <a:lnTo>
                  <a:pt x="5377072" y="0"/>
                </a:lnTo>
                <a:cubicBezTo>
                  <a:pt x="5395867" y="0"/>
                  <a:pt x="5411104" y="15237"/>
                  <a:pt x="5411104" y="34032"/>
                </a:cubicBezTo>
                <a:lnTo>
                  <a:pt x="5411104" y="1361284"/>
                </a:lnTo>
                <a:cubicBezTo>
                  <a:pt x="5411104" y="1380080"/>
                  <a:pt x="5395867" y="1395316"/>
                  <a:pt x="5377072" y="1395316"/>
                </a:cubicBezTo>
                <a:lnTo>
                  <a:pt x="34032" y="1395316"/>
                </a:lnTo>
                <a:cubicBezTo>
                  <a:pt x="15237" y="1395316"/>
                  <a:pt x="0" y="1380080"/>
                  <a:pt x="0" y="1361284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578546" y="4083852"/>
            <a:ext cx="527497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Transaction data: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78546" y="4356109"/>
            <a:ext cx="527497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T1: {A,B,C,D}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78546" y="4594334"/>
            <a:ext cx="527497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T2: {A,B,C,D}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8546" y="4832558"/>
            <a:ext cx="527497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T3: {A,B,C,E}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8546" y="5070783"/>
            <a:ext cx="527497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T4: {A,B,C,E}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6449" y="5479168"/>
            <a:ext cx="5411104" cy="340321"/>
          </a:xfrm>
          <a:custGeom>
            <a:avLst/>
            <a:gdLst/>
            <a:ahLst/>
            <a:cxnLst/>
            <a:rect l="l" t="t" r="r" b="b"/>
            <a:pathLst>
              <a:path w="5411104" h="340321">
                <a:moveTo>
                  <a:pt x="34032" y="0"/>
                </a:moveTo>
                <a:lnTo>
                  <a:pt x="5377072" y="0"/>
                </a:lnTo>
                <a:cubicBezTo>
                  <a:pt x="5395867" y="0"/>
                  <a:pt x="5411104" y="15237"/>
                  <a:pt x="5411104" y="34032"/>
                </a:cubicBezTo>
                <a:lnTo>
                  <a:pt x="5411104" y="306289"/>
                </a:lnTo>
                <a:cubicBezTo>
                  <a:pt x="5411104" y="325084"/>
                  <a:pt x="5395867" y="340321"/>
                  <a:pt x="5377072" y="340321"/>
                </a:cubicBezTo>
                <a:lnTo>
                  <a:pt x="34032" y="340321"/>
                </a:lnTo>
                <a:cubicBezTo>
                  <a:pt x="15237" y="340321"/>
                  <a:pt x="0" y="325084"/>
                  <a:pt x="0" y="306289"/>
                </a:cubicBezTo>
                <a:lnTo>
                  <a:pt x="0" y="34032"/>
                </a:lnTo>
                <a:cubicBezTo>
                  <a:pt x="0" y="15237"/>
                  <a:pt x="15237" y="0"/>
                  <a:pt x="34032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44514" y="5547232"/>
            <a:ext cx="5343040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{A,B,C}</a:t>
            </a:r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Support: 4 </a:t>
            </a:r>
            <a:pPr>
              <a:lnSpc>
                <a:spcPct val="130000"/>
              </a:lnSpc>
            </a:pPr>
            <a:r>
              <a:rPr lang="en-US" sz="938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(NOT closed - {A,B,C,D} and {A,B,C,E} have same support)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80703" y="5891807"/>
            <a:ext cx="5402596" cy="348829"/>
          </a:xfrm>
          <a:custGeom>
            <a:avLst/>
            <a:gdLst/>
            <a:ahLst/>
            <a:cxnLst/>
            <a:rect l="l" t="t" r="r" b="b"/>
            <a:pathLst>
              <a:path w="5402596" h="348829">
                <a:moveTo>
                  <a:pt x="34032" y="0"/>
                </a:moveTo>
                <a:lnTo>
                  <a:pt x="5368564" y="0"/>
                </a:lnTo>
                <a:cubicBezTo>
                  <a:pt x="5387359" y="0"/>
                  <a:pt x="5402596" y="15237"/>
                  <a:pt x="5402596" y="34032"/>
                </a:cubicBezTo>
                <a:lnTo>
                  <a:pt x="5402596" y="314797"/>
                </a:lnTo>
                <a:cubicBezTo>
                  <a:pt x="5402596" y="333592"/>
                  <a:pt x="5387359" y="348829"/>
                  <a:pt x="5368564" y="348829"/>
                </a:cubicBezTo>
                <a:lnTo>
                  <a:pt x="34032" y="348829"/>
                </a:lnTo>
                <a:cubicBezTo>
                  <a:pt x="15237" y="348829"/>
                  <a:pt x="0" y="333592"/>
                  <a:pt x="0" y="314797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3022" y="5964126"/>
            <a:ext cx="5326024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{A,B,C,D}</a:t>
            </a:r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Support: 2 </a:t>
            </a:r>
            <a:pPr>
              <a:lnSpc>
                <a:spcPct val="130000"/>
              </a:lnSpc>
            </a:pPr>
            <a:r>
              <a:rPr lang="en-US" sz="938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(CLOSED - no superset has support 2)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80703" y="6317209"/>
            <a:ext cx="5402596" cy="348829"/>
          </a:xfrm>
          <a:custGeom>
            <a:avLst/>
            <a:gdLst/>
            <a:ahLst/>
            <a:cxnLst/>
            <a:rect l="l" t="t" r="r" b="b"/>
            <a:pathLst>
              <a:path w="5402596" h="348829">
                <a:moveTo>
                  <a:pt x="34032" y="0"/>
                </a:moveTo>
                <a:lnTo>
                  <a:pt x="5368564" y="0"/>
                </a:lnTo>
                <a:cubicBezTo>
                  <a:pt x="5387359" y="0"/>
                  <a:pt x="5402596" y="15237"/>
                  <a:pt x="5402596" y="34032"/>
                </a:cubicBezTo>
                <a:lnTo>
                  <a:pt x="5402596" y="314797"/>
                </a:lnTo>
                <a:cubicBezTo>
                  <a:pt x="5402596" y="333592"/>
                  <a:pt x="5387359" y="348829"/>
                  <a:pt x="5368564" y="348829"/>
                </a:cubicBezTo>
                <a:lnTo>
                  <a:pt x="34032" y="348829"/>
                </a:lnTo>
                <a:cubicBezTo>
                  <a:pt x="15237" y="348829"/>
                  <a:pt x="0" y="333592"/>
                  <a:pt x="0" y="314797"/>
                </a:cubicBezTo>
                <a:lnTo>
                  <a:pt x="0" y="34032"/>
                </a:lnTo>
                <a:cubicBezTo>
                  <a:pt x="0" y="15249"/>
                  <a:pt x="15249" y="0"/>
                  <a:pt x="34032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 w="12700">
            <a:solidFill>
              <a:srgbClr val="C8A97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3022" y="6389527"/>
            <a:ext cx="5326024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{A,B,C,E}</a:t>
            </a:r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Support: 2 </a:t>
            </a:r>
            <a:pPr>
              <a:lnSpc>
                <a:spcPct val="130000"/>
              </a:lnSpc>
            </a:pPr>
            <a:r>
              <a:rPr lang="en-US" sz="938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(CLOSED)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63532" y="1089027"/>
            <a:ext cx="5683361" cy="2450311"/>
          </a:xfrm>
          <a:custGeom>
            <a:avLst/>
            <a:gdLst/>
            <a:ahLst/>
            <a:cxnLst/>
            <a:rect l="l" t="t" r="r" b="b"/>
            <a:pathLst>
              <a:path w="5683361" h="2450311">
                <a:moveTo>
                  <a:pt x="68070" y="0"/>
                </a:moveTo>
                <a:lnTo>
                  <a:pt x="5615291" y="0"/>
                </a:lnTo>
                <a:cubicBezTo>
                  <a:pt x="5652885" y="0"/>
                  <a:pt x="5683361" y="30476"/>
                  <a:pt x="5683361" y="68070"/>
                </a:cubicBezTo>
                <a:lnTo>
                  <a:pt x="5683361" y="2382242"/>
                </a:lnTo>
                <a:cubicBezTo>
                  <a:pt x="5683361" y="2419835"/>
                  <a:pt x="5652885" y="2450311"/>
                  <a:pt x="5615291" y="2450311"/>
                </a:cubicBezTo>
                <a:lnTo>
                  <a:pt x="68070" y="2450311"/>
                </a:lnTo>
                <a:cubicBezTo>
                  <a:pt x="30476" y="2450311"/>
                  <a:pt x="0" y="2419835"/>
                  <a:pt x="0" y="2382242"/>
                </a:cubicBezTo>
                <a:lnTo>
                  <a:pt x="0" y="68070"/>
                </a:lnTo>
                <a:cubicBezTo>
                  <a:pt x="0" y="30501"/>
                  <a:pt x="30501" y="0"/>
                  <a:pt x="6807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28" name="Text 26"/>
          <p:cNvSpPr/>
          <p:nvPr/>
        </p:nvSpPr>
        <p:spPr>
          <a:xfrm>
            <a:off x="6299661" y="1225156"/>
            <a:ext cx="5496184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CHARM Innovations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311359" y="1599509"/>
            <a:ext cx="172288" cy="153144"/>
          </a:xfrm>
          <a:custGeom>
            <a:avLst/>
            <a:gdLst/>
            <a:ahLst/>
            <a:cxnLst/>
            <a:rect l="l" t="t" r="r" b="b"/>
            <a:pathLst>
              <a:path w="172288" h="153144">
                <a:moveTo>
                  <a:pt x="92575" y="-5653"/>
                </a:moveTo>
                <a:cubicBezTo>
                  <a:pt x="91348" y="-8046"/>
                  <a:pt x="88866" y="-9572"/>
                  <a:pt x="86174" y="-9572"/>
                </a:cubicBezTo>
                <a:cubicBezTo>
                  <a:pt x="83482" y="-9572"/>
                  <a:pt x="80999" y="-8046"/>
                  <a:pt x="79773" y="-5653"/>
                </a:cubicBezTo>
                <a:lnTo>
                  <a:pt x="57758" y="37479"/>
                </a:lnTo>
                <a:lnTo>
                  <a:pt x="9930" y="45076"/>
                </a:lnTo>
                <a:cubicBezTo>
                  <a:pt x="7268" y="45495"/>
                  <a:pt x="5055" y="47379"/>
                  <a:pt x="4217" y="49951"/>
                </a:cubicBezTo>
                <a:cubicBezTo>
                  <a:pt x="3380" y="52524"/>
                  <a:pt x="4068" y="55335"/>
                  <a:pt x="5952" y="57250"/>
                </a:cubicBezTo>
                <a:lnTo>
                  <a:pt x="40171" y="91498"/>
                </a:lnTo>
                <a:lnTo>
                  <a:pt x="32633" y="139326"/>
                </a:lnTo>
                <a:cubicBezTo>
                  <a:pt x="32214" y="141988"/>
                  <a:pt x="33321" y="144680"/>
                  <a:pt x="35504" y="146265"/>
                </a:cubicBezTo>
                <a:cubicBezTo>
                  <a:pt x="37688" y="147850"/>
                  <a:pt x="40559" y="148089"/>
                  <a:pt x="42982" y="146863"/>
                </a:cubicBezTo>
                <a:lnTo>
                  <a:pt x="86174" y="124908"/>
                </a:lnTo>
                <a:lnTo>
                  <a:pt x="129335" y="146863"/>
                </a:lnTo>
                <a:cubicBezTo>
                  <a:pt x="131728" y="148089"/>
                  <a:pt x="134630" y="147850"/>
                  <a:pt x="136813" y="146265"/>
                </a:cubicBezTo>
                <a:cubicBezTo>
                  <a:pt x="138997" y="144680"/>
                  <a:pt x="140103" y="142018"/>
                  <a:pt x="139684" y="139326"/>
                </a:cubicBezTo>
                <a:lnTo>
                  <a:pt x="132117" y="91498"/>
                </a:lnTo>
                <a:lnTo>
                  <a:pt x="166335" y="57250"/>
                </a:lnTo>
                <a:cubicBezTo>
                  <a:pt x="168250" y="55335"/>
                  <a:pt x="168908" y="52524"/>
                  <a:pt x="168070" y="49951"/>
                </a:cubicBezTo>
                <a:cubicBezTo>
                  <a:pt x="167233" y="47379"/>
                  <a:pt x="165049" y="45495"/>
                  <a:pt x="162357" y="45076"/>
                </a:cubicBezTo>
                <a:lnTo>
                  <a:pt x="114559" y="37479"/>
                </a:lnTo>
                <a:lnTo>
                  <a:pt x="92575" y="-565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0" name="Text 28"/>
          <p:cNvSpPr/>
          <p:nvPr/>
        </p:nvSpPr>
        <p:spPr>
          <a:xfrm>
            <a:off x="6593188" y="1565477"/>
            <a:ext cx="3164985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IT-Tree Search Space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93188" y="1769669"/>
            <a:ext cx="3164985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Simultaneously explores itemset &amp; transaction space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11359" y="2075958"/>
            <a:ext cx="172288" cy="153144"/>
          </a:xfrm>
          <a:custGeom>
            <a:avLst/>
            <a:gdLst/>
            <a:ahLst/>
            <a:cxnLst/>
            <a:rect l="l" t="t" r="r" b="b"/>
            <a:pathLst>
              <a:path w="172288" h="153144">
                <a:moveTo>
                  <a:pt x="92575" y="-5653"/>
                </a:moveTo>
                <a:cubicBezTo>
                  <a:pt x="91348" y="-8046"/>
                  <a:pt x="88866" y="-9572"/>
                  <a:pt x="86174" y="-9572"/>
                </a:cubicBezTo>
                <a:cubicBezTo>
                  <a:pt x="83482" y="-9572"/>
                  <a:pt x="80999" y="-8046"/>
                  <a:pt x="79773" y="-5653"/>
                </a:cubicBezTo>
                <a:lnTo>
                  <a:pt x="57758" y="37479"/>
                </a:lnTo>
                <a:lnTo>
                  <a:pt x="9930" y="45076"/>
                </a:lnTo>
                <a:cubicBezTo>
                  <a:pt x="7268" y="45495"/>
                  <a:pt x="5055" y="47379"/>
                  <a:pt x="4217" y="49951"/>
                </a:cubicBezTo>
                <a:cubicBezTo>
                  <a:pt x="3380" y="52524"/>
                  <a:pt x="4068" y="55335"/>
                  <a:pt x="5952" y="57250"/>
                </a:cubicBezTo>
                <a:lnTo>
                  <a:pt x="40171" y="91498"/>
                </a:lnTo>
                <a:lnTo>
                  <a:pt x="32633" y="139326"/>
                </a:lnTo>
                <a:cubicBezTo>
                  <a:pt x="32214" y="141988"/>
                  <a:pt x="33321" y="144680"/>
                  <a:pt x="35504" y="146265"/>
                </a:cubicBezTo>
                <a:cubicBezTo>
                  <a:pt x="37688" y="147850"/>
                  <a:pt x="40559" y="148089"/>
                  <a:pt x="42982" y="146863"/>
                </a:cubicBezTo>
                <a:lnTo>
                  <a:pt x="86174" y="124908"/>
                </a:lnTo>
                <a:lnTo>
                  <a:pt x="129335" y="146863"/>
                </a:lnTo>
                <a:cubicBezTo>
                  <a:pt x="131728" y="148089"/>
                  <a:pt x="134630" y="147850"/>
                  <a:pt x="136813" y="146265"/>
                </a:cubicBezTo>
                <a:cubicBezTo>
                  <a:pt x="138997" y="144680"/>
                  <a:pt x="140103" y="142018"/>
                  <a:pt x="139684" y="139326"/>
                </a:cubicBezTo>
                <a:lnTo>
                  <a:pt x="132117" y="91498"/>
                </a:lnTo>
                <a:lnTo>
                  <a:pt x="166335" y="57250"/>
                </a:lnTo>
                <a:cubicBezTo>
                  <a:pt x="168250" y="55335"/>
                  <a:pt x="168908" y="52524"/>
                  <a:pt x="168070" y="49951"/>
                </a:cubicBezTo>
                <a:cubicBezTo>
                  <a:pt x="167233" y="47379"/>
                  <a:pt x="165049" y="45495"/>
                  <a:pt x="162357" y="45076"/>
                </a:cubicBezTo>
                <a:lnTo>
                  <a:pt x="114559" y="37479"/>
                </a:lnTo>
                <a:lnTo>
                  <a:pt x="92575" y="-565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3" name="Text 31"/>
          <p:cNvSpPr/>
          <p:nvPr/>
        </p:nvSpPr>
        <p:spPr>
          <a:xfrm>
            <a:off x="6593188" y="2041926"/>
            <a:ext cx="2348215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Hybrid Search Method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93188" y="2246119"/>
            <a:ext cx="2348215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Skips levels to quickly identify closures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11359" y="2552408"/>
            <a:ext cx="172288" cy="153144"/>
          </a:xfrm>
          <a:custGeom>
            <a:avLst/>
            <a:gdLst/>
            <a:ahLst/>
            <a:cxnLst/>
            <a:rect l="l" t="t" r="r" b="b"/>
            <a:pathLst>
              <a:path w="172288" h="153144">
                <a:moveTo>
                  <a:pt x="92575" y="-5653"/>
                </a:moveTo>
                <a:cubicBezTo>
                  <a:pt x="91348" y="-8046"/>
                  <a:pt x="88866" y="-9572"/>
                  <a:pt x="86174" y="-9572"/>
                </a:cubicBezTo>
                <a:cubicBezTo>
                  <a:pt x="83482" y="-9572"/>
                  <a:pt x="80999" y="-8046"/>
                  <a:pt x="79773" y="-5653"/>
                </a:cubicBezTo>
                <a:lnTo>
                  <a:pt x="57758" y="37479"/>
                </a:lnTo>
                <a:lnTo>
                  <a:pt x="9930" y="45076"/>
                </a:lnTo>
                <a:cubicBezTo>
                  <a:pt x="7268" y="45495"/>
                  <a:pt x="5055" y="47379"/>
                  <a:pt x="4217" y="49951"/>
                </a:cubicBezTo>
                <a:cubicBezTo>
                  <a:pt x="3380" y="52524"/>
                  <a:pt x="4068" y="55335"/>
                  <a:pt x="5952" y="57250"/>
                </a:cubicBezTo>
                <a:lnTo>
                  <a:pt x="40171" y="91498"/>
                </a:lnTo>
                <a:lnTo>
                  <a:pt x="32633" y="139326"/>
                </a:lnTo>
                <a:cubicBezTo>
                  <a:pt x="32214" y="141988"/>
                  <a:pt x="33321" y="144680"/>
                  <a:pt x="35504" y="146265"/>
                </a:cubicBezTo>
                <a:cubicBezTo>
                  <a:pt x="37688" y="147850"/>
                  <a:pt x="40559" y="148089"/>
                  <a:pt x="42982" y="146863"/>
                </a:cubicBezTo>
                <a:lnTo>
                  <a:pt x="86174" y="124908"/>
                </a:lnTo>
                <a:lnTo>
                  <a:pt x="129335" y="146863"/>
                </a:lnTo>
                <a:cubicBezTo>
                  <a:pt x="131728" y="148089"/>
                  <a:pt x="134630" y="147850"/>
                  <a:pt x="136813" y="146265"/>
                </a:cubicBezTo>
                <a:cubicBezTo>
                  <a:pt x="138997" y="144680"/>
                  <a:pt x="140103" y="142018"/>
                  <a:pt x="139684" y="139326"/>
                </a:cubicBezTo>
                <a:lnTo>
                  <a:pt x="132117" y="91498"/>
                </a:lnTo>
                <a:lnTo>
                  <a:pt x="166335" y="57250"/>
                </a:lnTo>
                <a:cubicBezTo>
                  <a:pt x="168250" y="55335"/>
                  <a:pt x="168908" y="52524"/>
                  <a:pt x="168070" y="49951"/>
                </a:cubicBezTo>
                <a:cubicBezTo>
                  <a:pt x="167233" y="47379"/>
                  <a:pt x="165049" y="45495"/>
                  <a:pt x="162357" y="45076"/>
                </a:cubicBezTo>
                <a:lnTo>
                  <a:pt x="114559" y="37479"/>
                </a:lnTo>
                <a:lnTo>
                  <a:pt x="92575" y="-565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6" name="Text 34"/>
          <p:cNvSpPr/>
          <p:nvPr/>
        </p:nvSpPr>
        <p:spPr>
          <a:xfrm>
            <a:off x="6593188" y="2518375"/>
            <a:ext cx="3837119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Diffsets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93188" y="2722568"/>
            <a:ext cx="3837119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 TID differences, reducing memory by orders of magnitude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11359" y="3028857"/>
            <a:ext cx="172288" cy="153144"/>
          </a:xfrm>
          <a:custGeom>
            <a:avLst/>
            <a:gdLst/>
            <a:ahLst/>
            <a:cxnLst/>
            <a:rect l="l" t="t" r="r" b="b"/>
            <a:pathLst>
              <a:path w="172288" h="153144">
                <a:moveTo>
                  <a:pt x="92575" y="-5653"/>
                </a:moveTo>
                <a:cubicBezTo>
                  <a:pt x="91348" y="-8046"/>
                  <a:pt x="88866" y="-9572"/>
                  <a:pt x="86174" y="-9572"/>
                </a:cubicBezTo>
                <a:cubicBezTo>
                  <a:pt x="83482" y="-9572"/>
                  <a:pt x="80999" y="-8046"/>
                  <a:pt x="79773" y="-5653"/>
                </a:cubicBezTo>
                <a:lnTo>
                  <a:pt x="57758" y="37479"/>
                </a:lnTo>
                <a:lnTo>
                  <a:pt x="9930" y="45076"/>
                </a:lnTo>
                <a:cubicBezTo>
                  <a:pt x="7268" y="45495"/>
                  <a:pt x="5055" y="47379"/>
                  <a:pt x="4217" y="49951"/>
                </a:cubicBezTo>
                <a:cubicBezTo>
                  <a:pt x="3380" y="52524"/>
                  <a:pt x="4068" y="55335"/>
                  <a:pt x="5952" y="57250"/>
                </a:cubicBezTo>
                <a:lnTo>
                  <a:pt x="40171" y="91498"/>
                </a:lnTo>
                <a:lnTo>
                  <a:pt x="32633" y="139326"/>
                </a:lnTo>
                <a:cubicBezTo>
                  <a:pt x="32214" y="141988"/>
                  <a:pt x="33321" y="144680"/>
                  <a:pt x="35504" y="146265"/>
                </a:cubicBezTo>
                <a:cubicBezTo>
                  <a:pt x="37688" y="147850"/>
                  <a:pt x="40559" y="148089"/>
                  <a:pt x="42982" y="146863"/>
                </a:cubicBezTo>
                <a:lnTo>
                  <a:pt x="86174" y="124908"/>
                </a:lnTo>
                <a:lnTo>
                  <a:pt x="129335" y="146863"/>
                </a:lnTo>
                <a:cubicBezTo>
                  <a:pt x="131728" y="148089"/>
                  <a:pt x="134630" y="147850"/>
                  <a:pt x="136813" y="146265"/>
                </a:cubicBezTo>
                <a:cubicBezTo>
                  <a:pt x="138997" y="144680"/>
                  <a:pt x="140103" y="142018"/>
                  <a:pt x="139684" y="139326"/>
                </a:cubicBezTo>
                <a:lnTo>
                  <a:pt x="132117" y="91498"/>
                </a:lnTo>
                <a:lnTo>
                  <a:pt x="166335" y="57250"/>
                </a:lnTo>
                <a:cubicBezTo>
                  <a:pt x="168250" y="55335"/>
                  <a:pt x="168908" y="52524"/>
                  <a:pt x="168070" y="49951"/>
                </a:cubicBezTo>
                <a:cubicBezTo>
                  <a:pt x="167233" y="47379"/>
                  <a:pt x="165049" y="45495"/>
                  <a:pt x="162357" y="45076"/>
                </a:cubicBezTo>
                <a:lnTo>
                  <a:pt x="114559" y="37479"/>
                </a:lnTo>
                <a:lnTo>
                  <a:pt x="92575" y="-5653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9" name="Text 37"/>
          <p:cNvSpPr/>
          <p:nvPr/>
        </p:nvSpPr>
        <p:spPr>
          <a:xfrm>
            <a:off x="6593188" y="2994825"/>
            <a:ext cx="2109990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Hash-Based Subsumption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593188" y="3199017"/>
            <a:ext cx="2109990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Fast elimination of non-closed sets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63532" y="3641435"/>
            <a:ext cx="5683361" cy="2688536"/>
          </a:xfrm>
          <a:custGeom>
            <a:avLst/>
            <a:gdLst/>
            <a:ahLst/>
            <a:cxnLst/>
            <a:rect l="l" t="t" r="r" b="b"/>
            <a:pathLst>
              <a:path w="5683361" h="2688536">
                <a:moveTo>
                  <a:pt x="68074" y="0"/>
                </a:moveTo>
                <a:lnTo>
                  <a:pt x="5615287" y="0"/>
                </a:lnTo>
                <a:cubicBezTo>
                  <a:pt x="5652883" y="0"/>
                  <a:pt x="5683361" y="30478"/>
                  <a:pt x="5683361" y="68074"/>
                </a:cubicBezTo>
                <a:lnTo>
                  <a:pt x="5683361" y="2620462"/>
                </a:lnTo>
                <a:cubicBezTo>
                  <a:pt x="5683361" y="2658058"/>
                  <a:pt x="5652883" y="2688536"/>
                  <a:pt x="5615287" y="2688536"/>
                </a:cubicBezTo>
                <a:lnTo>
                  <a:pt x="68074" y="2688536"/>
                </a:lnTo>
                <a:cubicBezTo>
                  <a:pt x="30478" y="2688536"/>
                  <a:pt x="0" y="2658058"/>
                  <a:pt x="0" y="2620462"/>
                </a:cubicBezTo>
                <a:lnTo>
                  <a:pt x="0" y="68074"/>
                </a:lnTo>
                <a:cubicBezTo>
                  <a:pt x="0" y="30503"/>
                  <a:pt x="30503" y="0"/>
                  <a:pt x="68074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42" name="Text 40"/>
          <p:cNvSpPr/>
          <p:nvPr/>
        </p:nvSpPr>
        <p:spPr>
          <a:xfrm>
            <a:off x="6299661" y="3777563"/>
            <a:ext cx="5496184" cy="23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4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Comparison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99661" y="4117884"/>
            <a:ext cx="5411104" cy="646610"/>
          </a:xfrm>
          <a:custGeom>
            <a:avLst/>
            <a:gdLst/>
            <a:ahLst/>
            <a:cxnLst/>
            <a:rect l="l" t="t" r="r" b="b"/>
            <a:pathLst>
              <a:path w="5411104" h="646610">
                <a:moveTo>
                  <a:pt x="34031" y="0"/>
                </a:moveTo>
                <a:lnTo>
                  <a:pt x="5377073" y="0"/>
                </a:lnTo>
                <a:cubicBezTo>
                  <a:pt x="5395868" y="0"/>
                  <a:pt x="5411104" y="15236"/>
                  <a:pt x="5411104" y="34031"/>
                </a:cubicBezTo>
                <a:lnTo>
                  <a:pt x="5411104" y="612579"/>
                </a:lnTo>
                <a:cubicBezTo>
                  <a:pt x="5411104" y="631361"/>
                  <a:pt x="5395855" y="646610"/>
                  <a:pt x="5377073" y="646610"/>
                </a:cubicBezTo>
                <a:lnTo>
                  <a:pt x="34031" y="646610"/>
                </a:lnTo>
                <a:cubicBezTo>
                  <a:pt x="15236" y="646610"/>
                  <a:pt x="0" y="631374"/>
                  <a:pt x="0" y="612579"/>
                </a:cubicBezTo>
                <a:lnTo>
                  <a:pt x="0" y="34031"/>
                </a:lnTo>
                <a:cubicBezTo>
                  <a:pt x="0" y="15249"/>
                  <a:pt x="15249" y="0"/>
                  <a:pt x="3403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Text 42"/>
          <p:cNvSpPr/>
          <p:nvPr/>
        </p:nvSpPr>
        <p:spPr>
          <a:xfrm>
            <a:off x="6401757" y="4245505"/>
            <a:ext cx="1517486" cy="148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CHARM vs Close/Pascal: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401757" y="4458205"/>
            <a:ext cx="527497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Orders of magnitude faster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9661" y="4832558"/>
            <a:ext cx="5411104" cy="646610"/>
          </a:xfrm>
          <a:custGeom>
            <a:avLst/>
            <a:gdLst/>
            <a:ahLst/>
            <a:cxnLst/>
            <a:rect l="l" t="t" r="r" b="b"/>
            <a:pathLst>
              <a:path w="5411104" h="646610">
                <a:moveTo>
                  <a:pt x="34031" y="0"/>
                </a:moveTo>
                <a:lnTo>
                  <a:pt x="5377073" y="0"/>
                </a:lnTo>
                <a:cubicBezTo>
                  <a:pt x="5395868" y="0"/>
                  <a:pt x="5411104" y="15236"/>
                  <a:pt x="5411104" y="34031"/>
                </a:cubicBezTo>
                <a:lnTo>
                  <a:pt x="5411104" y="612579"/>
                </a:lnTo>
                <a:cubicBezTo>
                  <a:pt x="5411104" y="631361"/>
                  <a:pt x="5395855" y="646610"/>
                  <a:pt x="5377073" y="646610"/>
                </a:cubicBezTo>
                <a:lnTo>
                  <a:pt x="34031" y="646610"/>
                </a:lnTo>
                <a:cubicBezTo>
                  <a:pt x="15236" y="646610"/>
                  <a:pt x="0" y="631374"/>
                  <a:pt x="0" y="612579"/>
                </a:cubicBezTo>
                <a:lnTo>
                  <a:pt x="0" y="34031"/>
                </a:lnTo>
                <a:cubicBezTo>
                  <a:pt x="0" y="15249"/>
                  <a:pt x="15249" y="0"/>
                  <a:pt x="3403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Text 45"/>
          <p:cNvSpPr/>
          <p:nvPr/>
        </p:nvSpPr>
        <p:spPr>
          <a:xfrm>
            <a:off x="6401757" y="4960179"/>
            <a:ext cx="1134226" cy="148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CHARM vs Closet: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401757" y="5172879"/>
            <a:ext cx="527497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10×+ improvement at low support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299661" y="5547232"/>
            <a:ext cx="5411104" cy="646610"/>
          </a:xfrm>
          <a:custGeom>
            <a:avLst/>
            <a:gdLst/>
            <a:ahLst/>
            <a:cxnLst/>
            <a:rect l="l" t="t" r="r" b="b"/>
            <a:pathLst>
              <a:path w="5411104" h="646610">
                <a:moveTo>
                  <a:pt x="34031" y="0"/>
                </a:moveTo>
                <a:lnTo>
                  <a:pt x="5377073" y="0"/>
                </a:lnTo>
                <a:cubicBezTo>
                  <a:pt x="5395868" y="0"/>
                  <a:pt x="5411104" y="15236"/>
                  <a:pt x="5411104" y="34031"/>
                </a:cubicBezTo>
                <a:lnTo>
                  <a:pt x="5411104" y="612579"/>
                </a:lnTo>
                <a:cubicBezTo>
                  <a:pt x="5411104" y="631361"/>
                  <a:pt x="5395855" y="646610"/>
                  <a:pt x="5377073" y="646610"/>
                </a:cubicBezTo>
                <a:lnTo>
                  <a:pt x="34031" y="646610"/>
                </a:lnTo>
                <a:cubicBezTo>
                  <a:pt x="15236" y="646610"/>
                  <a:pt x="0" y="631374"/>
                  <a:pt x="0" y="612579"/>
                </a:cubicBezTo>
                <a:lnTo>
                  <a:pt x="0" y="34031"/>
                </a:lnTo>
                <a:cubicBezTo>
                  <a:pt x="0" y="15249"/>
                  <a:pt x="15249" y="0"/>
                  <a:pt x="3403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0" name="Text 48"/>
          <p:cNvSpPr/>
          <p:nvPr/>
        </p:nvSpPr>
        <p:spPr>
          <a:xfrm>
            <a:off x="6401757" y="5674853"/>
            <a:ext cx="1086634" cy="1488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CHARM vs Mafia: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401757" y="5887553"/>
            <a:ext cx="5274976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10×+ faster for low supports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167786" y="6436321"/>
            <a:ext cx="5674853" cy="416893"/>
          </a:xfrm>
          <a:custGeom>
            <a:avLst/>
            <a:gdLst/>
            <a:ahLst/>
            <a:cxnLst/>
            <a:rect l="l" t="t" r="r" b="b"/>
            <a:pathLst>
              <a:path w="5674853" h="416893">
                <a:moveTo>
                  <a:pt x="68066" y="0"/>
                </a:moveTo>
                <a:lnTo>
                  <a:pt x="5606787" y="0"/>
                </a:lnTo>
                <a:cubicBezTo>
                  <a:pt x="5644378" y="0"/>
                  <a:pt x="5674853" y="30474"/>
                  <a:pt x="5674853" y="68066"/>
                </a:cubicBezTo>
                <a:lnTo>
                  <a:pt x="5674853" y="348827"/>
                </a:lnTo>
                <a:cubicBezTo>
                  <a:pt x="5674853" y="386419"/>
                  <a:pt x="5644378" y="416893"/>
                  <a:pt x="5606787" y="416893"/>
                </a:cubicBezTo>
                <a:lnTo>
                  <a:pt x="68066" y="416893"/>
                </a:lnTo>
                <a:cubicBezTo>
                  <a:pt x="30474" y="416893"/>
                  <a:pt x="0" y="386419"/>
                  <a:pt x="0" y="348827"/>
                </a:cubicBezTo>
                <a:lnTo>
                  <a:pt x="0" y="68066"/>
                </a:lnTo>
                <a:cubicBezTo>
                  <a:pt x="0" y="30499"/>
                  <a:pt x="30499" y="0"/>
                  <a:pt x="68066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291153" y="6572449"/>
            <a:ext cx="136128" cy="136128"/>
          </a:xfrm>
          <a:custGeom>
            <a:avLst/>
            <a:gdLst/>
            <a:ahLst/>
            <a:cxnLst/>
            <a:rect l="l" t="t" r="r" b="b"/>
            <a:pathLst>
              <a:path w="136128" h="136128">
                <a:moveTo>
                  <a:pt x="17016" y="17016"/>
                </a:moveTo>
                <a:cubicBezTo>
                  <a:pt x="17016" y="12310"/>
                  <a:pt x="13214" y="8508"/>
                  <a:pt x="8508" y="8508"/>
                </a:cubicBezTo>
                <a:cubicBezTo>
                  <a:pt x="3802" y="8508"/>
                  <a:pt x="0" y="12310"/>
                  <a:pt x="0" y="17016"/>
                </a:cubicBezTo>
                <a:lnTo>
                  <a:pt x="0" y="106350"/>
                </a:lnTo>
                <a:cubicBezTo>
                  <a:pt x="0" y="118102"/>
                  <a:pt x="9518" y="127620"/>
                  <a:pt x="21270" y="127620"/>
                </a:cubicBezTo>
                <a:lnTo>
                  <a:pt x="127620" y="127620"/>
                </a:lnTo>
                <a:cubicBezTo>
                  <a:pt x="132326" y="127620"/>
                  <a:pt x="136128" y="123818"/>
                  <a:pt x="136128" y="119112"/>
                </a:cubicBezTo>
                <a:cubicBezTo>
                  <a:pt x="136128" y="114406"/>
                  <a:pt x="132326" y="110604"/>
                  <a:pt x="127620" y="110604"/>
                </a:cubicBezTo>
                <a:lnTo>
                  <a:pt x="21270" y="110604"/>
                </a:lnTo>
                <a:cubicBezTo>
                  <a:pt x="18930" y="110604"/>
                  <a:pt x="17016" y="108690"/>
                  <a:pt x="17016" y="106350"/>
                </a:cubicBezTo>
                <a:lnTo>
                  <a:pt x="17016" y="17016"/>
                </a:lnTo>
                <a:close/>
                <a:moveTo>
                  <a:pt x="125121" y="40041"/>
                </a:moveTo>
                <a:cubicBezTo>
                  <a:pt x="128445" y="36717"/>
                  <a:pt x="128445" y="31320"/>
                  <a:pt x="125121" y="27997"/>
                </a:cubicBezTo>
                <a:cubicBezTo>
                  <a:pt x="121798" y="24673"/>
                  <a:pt x="116400" y="24673"/>
                  <a:pt x="113077" y="27997"/>
                </a:cubicBezTo>
                <a:lnTo>
                  <a:pt x="85080" y="56020"/>
                </a:lnTo>
                <a:lnTo>
                  <a:pt x="69819" y="40785"/>
                </a:lnTo>
                <a:cubicBezTo>
                  <a:pt x="66496" y="37462"/>
                  <a:pt x="61098" y="37462"/>
                  <a:pt x="57775" y="40785"/>
                </a:cubicBezTo>
                <a:lnTo>
                  <a:pt x="32251" y="66309"/>
                </a:lnTo>
                <a:cubicBezTo>
                  <a:pt x="28927" y="69633"/>
                  <a:pt x="28927" y="75030"/>
                  <a:pt x="32251" y="78354"/>
                </a:cubicBezTo>
                <a:cubicBezTo>
                  <a:pt x="35574" y="81677"/>
                  <a:pt x="40971" y="81677"/>
                  <a:pt x="44295" y="78354"/>
                </a:cubicBezTo>
                <a:lnTo>
                  <a:pt x="63810" y="58838"/>
                </a:lnTo>
                <a:lnTo>
                  <a:pt x="79071" y="74100"/>
                </a:lnTo>
                <a:cubicBezTo>
                  <a:pt x="82395" y="77423"/>
                  <a:pt x="87792" y="77423"/>
                  <a:pt x="91116" y="74100"/>
                </a:cubicBezTo>
                <a:lnTo>
                  <a:pt x="125148" y="40067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4" name="Text 52"/>
          <p:cNvSpPr/>
          <p:nvPr/>
        </p:nvSpPr>
        <p:spPr>
          <a:xfrm>
            <a:off x="6489895" y="6542671"/>
            <a:ext cx="5314458" cy="2041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72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Scalability:</a:t>
            </a:r>
            <a:pPr>
              <a:lnSpc>
                <a:spcPct val="130000"/>
              </a:lnSpc>
            </a:pPr>
            <a:r>
              <a:rPr lang="en-US" sz="1072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Linear in number of transactions—ideal for large databases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57c1f32fd8c2a1e39a52f9df593c4de24e765282.jp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8395" r="8395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227317" y="2205038"/>
            <a:ext cx="3171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500" b="1" spc="15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Six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036817" y="2547938"/>
            <a:ext cx="33623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Advanced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Rule Mining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629900" y="2709863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Shape 4"/>
          <p:cNvSpPr/>
          <p:nvPr/>
        </p:nvSpPr>
        <p:spPr>
          <a:xfrm>
            <a:off x="10896600" y="263366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5"/>
          <p:cNvSpPr/>
          <p:nvPr/>
        </p:nvSpPr>
        <p:spPr>
          <a:xfrm>
            <a:off x="10782300" y="2633663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06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4792638" y="4281488"/>
            <a:ext cx="5800725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Multilevel, multidimensional rules and correlation analysis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5772" y="325772"/>
            <a:ext cx="11605611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spc="103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Advanced Association Rules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25772" y="586389"/>
            <a:ext cx="11687054" cy="3257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309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Multilevel &amp; Multidimensional Rules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2060" y="1042469"/>
            <a:ext cx="5684713" cy="1987206"/>
          </a:xfrm>
          <a:custGeom>
            <a:avLst/>
            <a:gdLst/>
            <a:ahLst/>
            <a:cxnLst/>
            <a:rect l="l" t="t" r="r" b="b"/>
            <a:pathLst>
              <a:path w="5684713" h="1987206">
                <a:moveTo>
                  <a:pt x="32577" y="0"/>
                </a:moveTo>
                <a:lnTo>
                  <a:pt x="5619553" y="0"/>
                </a:lnTo>
                <a:cubicBezTo>
                  <a:pt x="5655540" y="0"/>
                  <a:pt x="5684713" y="29173"/>
                  <a:pt x="5684713" y="65160"/>
                </a:cubicBezTo>
                <a:lnTo>
                  <a:pt x="5684713" y="1922046"/>
                </a:lnTo>
                <a:cubicBezTo>
                  <a:pt x="5684713" y="1958033"/>
                  <a:pt x="5655540" y="1987206"/>
                  <a:pt x="5619553" y="1987206"/>
                </a:cubicBezTo>
                <a:lnTo>
                  <a:pt x="32577" y="1987206"/>
                </a:lnTo>
                <a:cubicBezTo>
                  <a:pt x="14585" y="1987206"/>
                  <a:pt x="0" y="1972621"/>
                  <a:pt x="0" y="1954629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gradFill rotWithShape="1" flip="none">
            <a:gsLst>
              <a:gs pos="0">
                <a:srgbClr val="C8A97E">
                  <a:alpha val="20000"/>
                </a:srgbClr>
              </a:gs>
              <a:gs pos="100000">
                <a:srgbClr val="C8A97E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342060" y="1042469"/>
            <a:ext cx="32577" cy="1987206"/>
          </a:xfrm>
          <a:custGeom>
            <a:avLst/>
            <a:gdLst/>
            <a:ahLst/>
            <a:cxnLst/>
            <a:rect l="l" t="t" r="r" b="b"/>
            <a:pathLst>
              <a:path w="32577" h="1987206">
                <a:moveTo>
                  <a:pt x="32577" y="0"/>
                </a:moveTo>
                <a:lnTo>
                  <a:pt x="32577" y="0"/>
                </a:lnTo>
                <a:lnTo>
                  <a:pt x="32577" y="1987206"/>
                </a:lnTo>
                <a:lnTo>
                  <a:pt x="32577" y="1987206"/>
                </a:lnTo>
                <a:cubicBezTo>
                  <a:pt x="14585" y="1987206"/>
                  <a:pt x="0" y="1972621"/>
                  <a:pt x="0" y="1954629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509018" y="1205355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73967" y="1654"/>
                </a:moveTo>
                <a:cubicBezTo>
                  <a:pt x="78707" y="-541"/>
                  <a:pt x="84179" y="-541"/>
                  <a:pt x="88919" y="1654"/>
                </a:cubicBezTo>
                <a:lnTo>
                  <a:pt x="158464" y="33786"/>
                </a:lnTo>
                <a:cubicBezTo>
                  <a:pt x="161168" y="35027"/>
                  <a:pt x="162886" y="37731"/>
                  <a:pt x="162886" y="40721"/>
                </a:cubicBezTo>
                <a:cubicBezTo>
                  <a:pt x="162886" y="43712"/>
                  <a:pt x="161168" y="46416"/>
                  <a:pt x="158464" y="47657"/>
                </a:cubicBezTo>
                <a:lnTo>
                  <a:pt x="88919" y="79789"/>
                </a:lnTo>
                <a:cubicBezTo>
                  <a:pt x="84179" y="81984"/>
                  <a:pt x="78707" y="81984"/>
                  <a:pt x="73967" y="79789"/>
                </a:cubicBezTo>
                <a:lnTo>
                  <a:pt x="4422" y="47657"/>
                </a:lnTo>
                <a:cubicBezTo>
                  <a:pt x="1718" y="46384"/>
                  <a:pt x="0" y="43680"/>
                  <a:pt x="0" y="40721"/>
                </a:cubicBezTo>
                <a:cubicBezTo>
                  <a:pt x="0" y="37763"/>
                  <a:pt x="1718" y="35027"/>
                  <a:pt x="4422" y="33786"/>
                </a:cubicBezTo>
                <a:lnTo>
                  <a:pt x="73967" y="1654"/>
                </a:lnTo>
                <a:close/>
                <a:moveTo>
                  <a:pt x="15302" y="69481"/>
                </a:moveTo>
                <a:lnTo>
                  <a:pt x="67572" y="93628"/>
                </a:lnTo>
                <a:cubicBezTo>
                  <a:pt x="76385" y="97700"/>
                  <a:pt x="86533" y="97700"/>
                  <a:pt x="95345" y="93628"/>
                </a:cubicBezTo>
                <a:lnTo>
                  <a:pt x="147615" y="69481"/>
                </a:lnTo>
                <a:lnTo>
                  <a:pt x="158464" y="74508"/>
                </a:lnTo>
                <a:cubicBezTo>
                  <a:pt x="161168" y="75748"/>
                  <a:pt x="162886" y="78452"/>
                  <a:pt x="162886" y="81443"/>
                </a:cubicBezTo>
                <a:cubicBezTo>
                  <a:pt x="162886" y="84433"/>
                  <a:pt x="161168" y="87138"/>
                  <a:pt x="158464" y="88378"/>
                </a:cubicBezTo>
                <a:lnTo>
                  <a:pt x="88919" y="120510"/>
                </a:lnTo>
                <a:cubicBezTo>
                  <a:pt x="84179" y="122705"/>
                  <a:pt x="78707" y="122705"/>
                  <a:pt x="73967" y="120510"/>
                </a:cubicBezTo>
                <a:lnTo>
                  <a:pt x="4422" y="88378"/>
                </a:lnTo>
                <a:cubicBezTo>
                  <a:pt x="1718" y="87106"/>
                  <a:pt x="0" y="84402"/>
                  <a:pt x="0" y="81443"/>
                </a:cubicBezTo>
                <a:cubicBezTo>
                  <a:pt x="0" y="78484"/>
                  <a:pt x="1718" y="75748"/>
                  <a:pt x="4422" y="74508"/>
                </a:cubicBezTo>
                <a:lnTo>
                  <a:pt x="15271" y="69481"/>
                </a:lnTo>
                <a:close/>
                <a:moveTo>
                  <a:pt x="4422" y="115229"/>
                </a:moveTo>
                <a:lnTo>
                  <a:pt x="15271" y="110202"/>
                </a:lnTo>
                <a:lnTo>
                  <a:pt x="67540" y="134349"/>
                </a:lnTo>
                <a:cubicBezTo>
                  <a:pt x="76353" y="138421"/>
                  <a:pt x="86501" y="138421"/>
                  <a:pt x="95314" y="134349"/>
                </a:cubicBezTo>
                <a:lnTo>
                  <a:pt x="147583" y="110202"/>
                </a:lnTo>
                <a:lnTo>
                  <a:pt x="158432" y="115229"/>
                </a:lnTo>
                <a:cubicBezTo>
                  <a:pt x="161136" y="116470"/>
                  <a:pt x="162854" y="119174"/>
                  <a:pt x="162854" y="122164"/>
                </a:cubicBezTo>
                <a:cubicBezTo>
                  <a:pt x="162854" y="125155"/>
                  <a:pt x="161136" y="127859"/>
                  <a:pt x="158432" y="129100"/>
                </a:cubicBezTo>
                <a:lnTo>
                  <a:pt x="88887" y="161231"/>
                </a:lnTo>
                <a:cubicBezTo>
                  <a:pt x="84147" y="163427"/>
                  <a:pt x="78675" y="163427"/>
                  <a:pt x="73935" y="161231"/>
                </a:cubicBezTo>
                <a:lnTo>
                  <a:pt x="4422" y="129100"/>
                </a:lnTo>
                <a:cubicBezTo>
                  <a:pt x="1718" y="127827"/>
                  <a:pt x="0" y="125123"/>
                  <a:pt x="0" y="122164"/>
                </a:cubicBezTo>
                <a:cubicBezTo>
                  <a:pt x="0" y="119206"/>
                  <a:pt x="1718" y="116470"/>
                  <a:pt x="4422" y="115229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5"/>
          <p:cNvSpPr/>
          <p:nvPr/>
        </p:nvSpPr>
        <p:spPr>
          <a:xfrm>
            <a:off x="692265" y="1172778"/>
            <a:ext cx="5285643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Multilevel Association Rules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88657" y="1498549"/>
            <a:ext cx="5472962" cy="42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that span multiple </a:t>
            </a:r>
            <a:pPr>
              <a:lnSpc>
                <a:spcPct val="140000"/>
              </a:lnSpc>
            </a:pPr>
            <a:r>
              <a:rPr lang="en-US" sz="102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abstraction levels</a:t>
            </a:r>
            <a:pPr>
              <a:lnSpc>
                <a:spcPct val="14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a concept hierarchy. Items are organized in taxonomies from general to specific.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8657" y="2019784"/>
            <a:ext cx="5407808" cy="879583"/>
          </a:xfrm>
          <a:custGeom>
            <a:avLst/>
            <a:gdLst/>
            <a:ahLst/>
            <a:cxnLst/>
            <a:rect l="l" t="t" r="r" b="b"/>
            <a:pathLst>
              <a:path w="5407808" h="879583">
                <a:moveTo>
                  <a:pt x="32580" y="0"/>
                </a:moveTo>
                <a:lnTo>
                  <a:pt x="5375228" y="0"/>
                </a:lnTo>
                <a:cubicBezTo>
                  <a:pt x="5393221" y="0"/>
                  <a:pt x="5407808" y="14586"/>
                  <a:pt x="5407808" y="32580"/>
                </a:cubicBezTo>
                <a:lnTo>
                  <a:pt x="5407808" y="847003"/>
                </a:lnTo>
                <a:cubicBezTo>
                  <a:pt x="5407808" y="864997"/>
                  <a:pt x="5393221" y="879583"/>
                  <a:pt x="5375228" y="879583"/>
                </a:cubicBezTo>
                <a:lnTo>
                  <a:pt x="32580" y="879583"/>
                </a:lnTo>
                <a:cubicBezTo>
                  <a:pt x="14586" y="879583"/>
                  <a:pt x="0" y="864997"/>
                  <a:pt x="0" y="847003"/>
                </a:cubicBezTo>
                <a:lnTo>
                  <a:pt x="0" y="32580"/>
                </a:lnTo>
                <a:cubicBezTo>
                  <a:pt x="0" y="14586"/>
                  <a:pt x="14586" y="0"/>
                  <a:pt x="32580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586389" y="2141948"/>
            <a:ext cx="1164442" cy="14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 Hierarchy: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6389" y="2378132"/>
            <a:ext cx="5277499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→ Dairy → Milk → Skim Milk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6389" y="2606172"/>
            <a:ext cx="5277499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Food → Bakery → Bread → Wheat Bread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5772" y="3127407"/>
            <a:ext cx="5701002" cy="3730084"/>
          </a:xfrm>
          <a:custGeom>
            <a:avLst/>
            <a:gdLst/>
            <a:ahLst/>
            <a:cxnLst/>
            <a:rect l="l" t="t" r="r" b="b"/>
            <a:pathLst>
              <a:path w="5701002" h="3730084">
                <a:moveTo>
                  <a:pt x="65165" y="0"/>
                </a:moveTo>
                <a:lnTo>
                  <a:pt x="5635837" y="0"/>
                </a:lnTo>
                <a:cubicBezTo>
                  <a:pt x="5671827" y="0"/>
                  <a:pt x="5701002" y="29175"/>
                  <a:pt x="5701002" y="65165"/>
                </a:cubicBezTo>
                <a:lnTo>
                  <a:pt x="5701002" y="3664920"/>
                </a:lnTo>
                <a:cubicBezTo>
                  <a:pt x="5701002" y="3700909"/>
                  <a:pt x="5671827" y="3730084"/>
                  <a:pt x="5635837" y="3730084"/>
                </a:cubicBezTo>
                <a:lnTo>
                  <a:pt x="65165" y="3730084"/>
                </a:lnTo>
                <a:cubicBezTo>
                  <a:pt x="29175" y="3730084"/>
                  <a:pt x="0" y="3700909"/>
                  <a:pt x="0" y="3664920"/>
                </a:cubicBezTo>
                <a:lnTo>
                  <a:pt x="0" y="65165"/>
                </a:lnTo>
                <a:cubicBezTo>
                  <a:pt x="0" y="29175"/>
                  <a:pt x="29175" y="0"/>
                  <a:pt x="65165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4" name="Text 12"/>
          <p:cNvSpPr/>
          <p:nvPr/>
        </p:nvSpPr>
        <p:spPr>
          <a:xfrm>
            <a:off x="456080" y="3257715"/>
            <a:ext cx="5521828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Multilevel Rule Examples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6080" y="3583487"/>
            <a:ext cx="5440385" cy="814429"/>
          </a:xfrm>
          <a:custGeom>
            <a:avLst/>
            <a:gdLst/>
            <a:ahLst/>
            <a:cxnLst/>
            <a:rect l="l" t="t" r="r" b="b"/>
            <a:pathLst>
              <a:path w="5440385" h="814429">
                <a:moveTo>
                  <a:pt x="32577" y="0"/>
                </a:moveTo>
                <a:lnTo>
                  <a:pt x="5407808" y="0"/>
                </a:lnTo>
                <a:cubicBezTo>
                  <a:pt x="5425799" y="0"/>
                  <a:pt x="5440385" y="14585"/>
                  <a:pt x="5440385" y="32577"/>
                </a:cubicBezTo>
                <a:lnTo>
                  <a:pt x="5440385" y="781852"/>
                </a:lnTo>
                <a:cubicBezTo>
                  <a:pt x="5440385" y="799844"/>
                  <a:pt x="5425799" y="814429"/>
                  <a:pt x="5407808" y="814429"/>
                </a:cubicBezTo>
                <a:lnTo>
                  <a:pt x="32577" y="814429"/>
                </a:lnTo>
                <a:cubicBezTo>
                  <a:pt x="14585" y="814429"/>
                  <a:pt x="0" y="799844"/>
                  <a:pt x="0" y="781852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6" name="Text 14"/>
          <p:cNvSpPr/>
          <p:nvPr/>
        </p:nvSpPr>
        <p:spPr>
          <a:xfrm>
            <a:off x="553812" y="3681218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Level (Abstract)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3812" y="3909259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{Dairy} → {Bakery}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53812" y="4104721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 support, less specific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6080" y="4463070"/>
            <a:ext cx="5440385" cy="814429"/>
          </a:xfrm>
          <a:custGeom>
            <a:avLst/>
            <a:gdLst/>
            <a:ahLst/>
            <a:cxnLst/>
            <a:rect l="l" t="t" r="r" b="b"/>
            <a:pathLst>
              <a:path w="5440385" h="814429">
                <a:moveTo>
                  <a:pt x="32577" y="0"/>
                </a:moveTo>
                <a:lnTo>
                  <a:pt x="5407808" y="0"/>
                </a:lnTo>
                <a:cubicBezTo>
                  <a:pt x="5425799" y="0"/>
                  <a:pt x="5440385" y="14585"/>
                  <a:pt x="5440385" y="32577"/>
                </a:cubicBezTo>
                <a:lnTo>
                  <a:pt x="5440385" y="781852"/>
                </a:lnTo>
                <a:cubicBezTo>
                  <a:pt x="5440385" y="799844"/>
                  <a:pt x="5425799" y="814429"/>
                  <a:pt x="5407808" y="814429"/>
                </a:cubicBezTo>
                <a:lnTo>
                  <a:pt x="32577" y="814429"/>
                </a:lnTo>
                <a:cubicBezTo>
                  <a:pt x="14585" y="814429"/>
                  <a:pt x="0" y="799844"/>
                  <a:pt x="0" y="781852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0" name="Text 18"/>
          <p:cNvSpPr/>
          <p:nvPr/>
        </p:nvSpPr>
        <p:spPr>
          <a:xfrm>
            <a:off x="553812" y="4560802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Middle Level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53812" y="4788842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{Milk} → {Bread}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812" y="4984305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support, more specific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6080" y="5342653"/>
            <a:ext cx="5440385" cy="814429"/>
          </a:xfrm>
          <a:custGeom>
            <a:avLst/>
            <a:gdLst/>
            <a:ahLst/>
            <a:cxnLst/>
            <a:rect l="l" t="t" r="r" b="b"/>
            <a:pathLst>
              <a:path w="5440385" h="814429">
                <a:moveTo>
                  <a:pt x="32577" y="0"/>
                </a:moveTo>
                <a:lnTo>
                  <a:pt x="5407808" y="0"/>
                </a:lnTo>
                <a:cubicBezTo>
                  <a:pt x="5425799" y="0"/>
                  <a:pt x="5440385" y="14585"/>
                  <a:pt x="5440385" y="32577"/>
                </a:cubicBezTo>
                <a:lnTo>
                  <a:pt x="5440385" y="781852"/>
                </a:lnTo>
                <a:cubicBezTo>
                  <a:pt x="5440385" y="799844"/>
                  <a:pt x="5425799" y="814429"/>
                  <a:pt x="5407808" y="814429"/>
                </a:cubicBezTo>
                <a:lnTo>
                  <a:pt x="32577" y="814429"/>
                </a:lnTo>
                <a:cubicBezTo>
                  <a:pt x="14585" y="814429"/>
                  <a:pt x="0" y="799844"/>
                  <a:pt x="0" y="781852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4" name="Text 22"/>
          <p:cNvSpPr/>
          <p:nvPr/>
        </p:nvSpPr>
        <p:spPr>
          <a:xfrm>
            <a:off x="553812" y="5440385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Level (Specific)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3812" y="5668425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{Skim Milk} → {Wheat Bread}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812" y="5863888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Low support, highly specific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76934" y="1042469"/>
            <a:ext cx="5684713" cy="2443287"/>
          </a:xfrm>
          <a:custGeom>
            <a:avLst/>
            <a:gdLst/>
            <a:ahLst/>
            <a:cxnLst/>
            <a:rect l="l" t="t" r="r" b="b"/>
            <a:pathLst>
              <a:path w="5684713" h="2443287">
                <a:moveTo>
                  <a:pt x="32577" y="0"/>
                </a:moveTo>
                <a:lnTo>
                  <a:pt x="5619551" y="0"/>
                </a:lnTo>
                <a:cubicBezTo>
                  <a:pt x="5655539" y="0"/>
                  <a:pt x="5684713" y="29174"/>
                  <a:pt x="5684713" y="65162"/>
                </a:cubicBezTo>
                <a:lnTo>
                  <a:pt x="5684713" y="2378124"/>
                </a:lnTo>
                <a:cubicBezTo>
                  <a:pt x="5684713" y="2414112"/>
                  <a:pt x="5655539" y="2443287"/>
                  <a:pt x="5619551" y="2443287"/>
                </a:cubicBezTo>
                <a:lnTo>
                  <a:pt x="32577" y="2443287"/>
                </a:lnTo>
                <a:cubicBezTo>
                  <a:pt x="14585" y="2443287"/>
                  <a:pt x="0" y="2428701"/>
                  <a:pt x="0" y="2410709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8" name="Shape 26"/>
          <p:cNvSpPr/>
          <p:nvPr/>
        </p:nvSpPr>
        <p:spPr>
          <a:xfrm>
            <a:off x="6176934" y="1042469"/>
            <a:ext cx="32577" cy="2443287"/>
          </a:xfrm>
          <a:custGeom>
            <a:avLst/>
            <a:gdLst/>
            <a:ahLst/>
            <a:cxnLst/>
            <a:rect l="l" t="t" r="r" b="b"/>
            <a:pathLst>
              <a:path w="32577" h="2443287">
                <a:moveTo>
                  <a:pt x="32577" y="0"/>
                </a:moveTo>
                <a:lnTo>
                  <a:pt x="32577" y="0"/>
                </a:lnTo>
                <a:lnTo>
                  <a:pt x="32577" y="2443287"/>
                </a:lnTo>
                <a:lnTo>
                  <a:pt x="32577" y="2443287"/>
                </a:lnTo>
                <a:cubicBezTo>
                  <a:pt x="14585" y="2443287"/>
                  <a:pt x="0" y="2428701"/>
                  <a:pt x="0" y="2410709"/>
                </a:cubicBezTo>
                <a:lnTo>
                  <a:pt x="0" y="32577"/>
                </a:lnTo>
                <a:cubicBezTo>
                  <a:pt x="0" y="14597"/>
                  <a:pt x="14597" y="0"/>
                  <a:pt x="32577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9" name="Shape 27"/>
          <p:cNvSpPr/>
          <p:nvPr/>
        </p:nvSpPr>
        <p:spPr>
          <a:xfrm>
            <a:off x="6343892" y="1205355"/>
            <a:ext cx="162886" cy="162886"/>
          </a:xfrm>
          <a:custGeom>
            <a:avLst/>
            <a:gdLst/>
            <a:ahLst/>
            <a:cxnLst/>
            <a:rect l="l" t="t" r="r" b="b"/>
            <a:pathLst>
              <a:path w="162886" h="162886">
                <a:moveTo>
                  <a:pt x="90351" y="-414"/>
                </a:moveTo>
                <a:cubicBezTo>
                  <a:pt x="84847" y="-3595"/>
                  <a:pt x="78039" y="-3595"/>
                  <a:pt x="72535" y="-414"/>
                </a:cubicBezTo>
                <a:lnTo>
                  <a:pt x="45748" y="15048"/>
                </a:lnTo>
                <a:cubicBezTo>
                  <a:pt x="40244" y="18229"/>
                  <a:pt x="36840" y="24115"/>
                  <a:pt x="36840" y="30477"/>
                </a:cubicBezTo>
                <a:lnTo>
                  <a:pt x="36840" y="62896"/>
                </a:lnTo>
                <a:lnTo>
                  <a:pt x="8749" y="79120"/>
                </a:lnTo>
                <a:cubicBezTo>
                  <a:pt x="3245" y="82302"/>
                  <a:pt x="-159" y="88187"/>
                  <a:pt x="-159" y="94550"/>
                </a:cubicBezTo>
                <a:lnTo>
                  <a:pt x="-159" y="125505"/>
                </a:lnTo>
                <a:cubicBezTo>
                  <a:pt x="-159" y="131867"/>
                  <a:pt x="3245" y="137753"/>
                  <a:pt x="8749" y="140934"/>
                </a:cubicBezTo>
                <a:lnTo>
                  <a:pt x="35568" y="156396"/>
                </a:lnTo>
                <a:cubicBezTo>
                  <a:pt x="41071" y="159577"/>
                  <a:pt x="47880" y="159577"/>
                  <a:pt x="53383" y="156396"/>
                </a:cubicBezTo>
                <a:lnTo>
                  <a:pt x="81475" y="140171"/>
                </a:lnTo>
                <a:lnTo>
                  <a:pt x="109566" y="156396"/>
                </a:lnTo>
                <a:cubicBezTo>
                  <a:pt x="115070" y="159577"/>
                  <a:pt x="121878" y="159577"/>
                  <a:pt x="127382" y="156396"/>
                </a:cubicBezTo>
                <a:lnTo>
                  <a:pt x="154137" y="140934"/>
                </a:lnTo>
                <a:cubicBezTo>
                  <a:pt x="159641" y="137753"/>
                  <a:pt x="163045" y="131867"/>
                  <a:pt x="163045" y="125505"/>
                </a:cubicBezTo>
                <a:lnTo>
                  <a:pt x="163045" y="94550"/>
                </a:lnTo>
                <a:cubicBezTo>
                  <a:pt x="163045" y="88187"/>
                  <a:pt x="159641" y="82302"/>
                  <a:pt x="154137" y="79120"/>
                </a:cubicBezTo>
                <a:lnTo>
                  <a:pt x="126046" y="62896"/>
                </a:lnTo>
                <a:lnTo>
                  <a:pt x="126046" y="30477"/>
                </a:lnTo>
                <a:cubicBezTo>
                  <a:pt x="126046" y="24115"/>
                  <a:pt x="122642" y="18229"/>
                  <a:pt x="117138" y="15048"/>
                </a:cubicBezTo>
                <a:lnTo>
                  <a:pt x="90351" y="-414"/>
                </a:lnTo>
                <a:close/>
                <a:moveTo>
                  <a:pt x="73808" y="93087"/>
                </a:moveTo>
                <a:lnTo>
                  <a:pt x="73808" y="126968"/>
                </a:lnTo>
                <a:lnTo>
                  <a:pt x="45716" y="143193"/>
                </a:lnTo>
                <a:cubicBezTo>
                  <a:pt x="45334" y="143416"/>
                  <a:pt x="44889" y="143543"/>
                  <a:pt x="44444" y="143543"/>
                </a:cubicBezTo>
                <a:lnTo>
                  <a:pt x="44444" y="110043"/>
                </a:lnTo>
                <a:lnTo>
                  <a:pt x="73808" y="93087"/>
                </a:lnTo>
                <a:close/>
                <a:moveTo>
                  <a:pt x="147424" y="93278"/>
                </a:moveTo>
                <a:cubicBezTo>
                  <a:pt x="147647" y="93659"/>
                  <a:pt x="147774" y="94105"/>
                  <a:pt x="147774" y="94550"/>
                </a:cubicBezTo>
                <a:lnTo>
                  <a:pt x="147774" y="125505"/>
                </a:lnTo>
                <a:cubicBezTo>
                  <a:pt x="147774" y="126427"/>
                  <a:pt x="147297" y="127255"/>
                  <a:pt x="146502" y="127700"/>
                </a:cubicBezTo>
                <a:lnTo>
                  <a:pt x="119683" y="143161"/>
                </a:lnTo>
                <a:cubicBezTo>
                  <a:pt x="119301" y="143384"/>
                  <a:pt x="118856" y="143511"/>
                  <a:pt x="118410" y="143511"/>
                </a:cubicBezTo>
                <a:lnTo>
                  <a:pt x="118410" y="110012"/>
                </a:lnTo>
                <a:lnTo>
                  <a:pt x="147424" y="93278"/>
                </a:lnTo>
                <a:close/>
                <a:moveTo>
                  <a:pt x="110807" y="30477"/>
                </a:moveTo>
                <a:lnTo>
                  <a:pt x="110807" y="62896"/>
                </a:lnTo>
                <a:lnTo>
                  <a:pt x="81443" y="79852"/>
                </a:lnTo>
                <a:lnTo>
                  <a:pt x="81443" y="45971"/>
                </a:lnTo>
                <a:lnTo>
                  <a:pt x="110457" y="29237"/>
                </a:lnTo>
                <a:cubicBezTo>
                  <a:pt x="110680" y="29618"/>
                  <a:pt x="110807" y="30064"/>
                  <a:pt x="110807" y="30509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30" name="Text 28"/>
          <p:cNvSpPr/>
          <p:nvPr/>
        </p:nvSpPr>
        <p:spPr>
          <a:xfrm>
            <a:off x="6527138" y="1172778"/>
            <a:ext cx="5285643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Multidimensional Association Rules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23531" y="1498549"/>
            <a:ext cx="5472962" cy="4235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Rules involving </a:t>
            </a:r>
            <a:pPr>
              <a:lnSpc>
                <a:spcPct val="140000"/>
              </a:lnSpc>
            </a:pPr>
            <a:r>
              <a:rPr lang="en-US" sz="1026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attributes or dimensions</a:t>
            </a:r>
            <a:pPr>
              <a:lnSpc>
                <a:spcPct val="14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beyond just items. Combines transactional data with customer demographics, time, location, etc.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323531" y="2019784"/>
            <a:ext cx="5407808" cy="1335663"/>
          </a:xfrm>
          <a:custGeom>
            <a:avLst/>
            <a:gdLst/>
            <a:ahLst/>
            <a:cxnLst/>
            <a:rect l="l" t="t" r="r" b="b"/>
            <a:pathLst>
              <a:path w="5407808" h="1335663">
                <a:moveTo>
                  <a:pt x="32577" y="0"/>
                </a:moveTo>
                <a:lnTo>
                  <a:pt x="5375231" y="0"/>
                </a:lnTo>
                <a:cubicBezTo>
                  <a:pt x="5393222" y="0"/>
                  <a:pt x="5407808" y="14585"/>
                  <a:pt x="5407808" y="32577"/>
                </a:cubicBezTo>
                <a:lnTo>
                  <a:pt x="5407808" y="1303086"/>
                </a:lnTo>
                <a:cubicBezTo>
                  <a:pt x="5407808" y="1321078"/>
                  <a:pt x="5393222" y="1335663"/>
                  <a:pt x="5375231" y="1335663"/>
                </a:cubicBezTo>
                <a:lnTo>
                  <a:pt x="32577" y="1335663"/>
                </a:lnTo>
                <a:cubicBezTo>
                  <a:pt x="14585" y="1335663"/>
                  <a:pt x="0" y="1321078"/>
                  <a:pt x="0" y="1303086"/>
                </a:cubicBezTo>
                <a:lnTo>
                  <a:pt x="0" y="32577"/>
                </a:lnTo>
                <a:cubicBezTo>
                  <a:pt x="0" y="14585"/>
                  <a:pt x="14585" y="0"/>
                  <a:pt x="3257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6421263" y="2141948"/>
            <a:ext cx="756719" cy="1425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Dimensions: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21263" y="2378132"/>
            <a:ext cx="5277499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</a:t>
            </a:r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what items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21263" y="2606172"/>
            <a:ext cx="5277499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Time</a:t>
            </a:r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when purchased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21263" y="2834212"/>
            <a:ext cx="5277499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Location</a:t>
            </a:r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where purchased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21263" y="3062253"/>
            <a:ext cx="5277499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0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</a:t>
            </a:r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who purchased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160645" y="3583487"/>
            <a:ext cx="5701002" cy="2573595"/>
          </a:xfrm>
          <a:custGeom>
            <a:avLst/>
            <a:gdLst/>
            <a:ahLst/>
            <a:cxnLst/>
            <a:rect l="l" t="t" r="r" b="b"/>
            <a:pathLst>
              <a:path w="5701002" h="2573595">
                <a:moveTo>
                  <a:pt x="65163" y="0"/>
                </a:moveTo>
                <a:lnTo>
                  <a:pt x="5635839" y="0"/>
                </a:lnTo>
                <a:cubicBezTo>
                  <a:pt x="5671827" y="0"/>
                  <a:pt x="5701002" y="29175"/>
                  <a:pt x="5701002" y="65163"/>
                </a:cubicBezTo>
                <a:lnTo>
                  <a:pt x="5701002" y="2508432"/>
                </a:lnTo>
                <a:cubicBezTo>
                  <a:pt x="5701002" y="2544421"/>
                  <a:pt x="5671827" y="2573595"/>
                  <a:pt x="5635839" y="2573595"/>
                </a:cubicBezTo>
                <a:lnTo>
                  <a:pt x="65163" y="2573595"/>
                </a:lnTo>
                <a:cubicBezTo>
                  <a:pt x="29175" y="2573595"/>
                  <a:pt x="0" y="2544421"/>
                  <a:pt x="0" y="2508432"/>
                </a:cubicBezTo>
                <a:lnTo>
                  <a:pt x="0" y="65163"/>
                </a:lnTo>
                <a:cubicBezTo>
                  <a:pt x="0" y="29175"/>
                  <a:pt x="29175" y="0"/>
                  <a:pt x="65163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39" name="Text 37"/>
          <p:cNvSpPr/>
          <p:nvPr/>
        </p:nvSpPr>
        <p:spPr>
          <a:xfrm>
            <a:off x="6290954" y="3713796"/>
            <a:ext cx="5521828" cy="22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83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Multidimensional Examples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290954" y="4039567"/>
            <a:ext cx="5440385" cy="618966"/>
          </a:xfrm>
          <a:custGeom>
            <a:avLst/>
            <a:gdLst/>
            <a:ahLst/>
            <a:cxnLst/>
            <a:rect l="l" t="t" r="r" b="b"/>
            <a:pathLst>
              <a:path w="5440385" h="618966">
                <a:moveTo>
                  <a:pt x="32576" y="0"/>
                </a:moveTo>
                <a:lnTo>
                  <a:pt x="5407809" y="0"/>
                </a:lnTo>
                <a:cubicBezTo>
                  <a:pt x="5425800" y="0"/>
                  <a:pt x="5440385" y="14585"/>
                  <a:pt x="5440385" y="32576"/>
                </a:cubicBezTo>
                <a:lnTo>
                  <a:pt x="5440385" y="586390"/>
                </a:lnTo>
                <a:cubicBezTo>
                  <a:pt x="5440385" y="604381"/>
                  <a:pt x="5425800" y="618966"/>
                  <a:pt x="5407809" y="618966"/>
                </a:cubicBezTo>
                <a:lnTo>
                  <a:pt x="32576" y="618966"/>
                </a:lnTo>
                <a:cubicBezTo>
                  <a:pt x="14585" y="618966"/>
                  <a:pt x="0" y="604381"/>
                  <a:pt x="0" y="586390"/>
                </a:cubicBezTo>
                <a:lnTo>
                  <a:pt x="0" y="32576"/>
                </a:lnTo>
                <a:cubicBezTo>
                  <a:pt x="0" y="14585"/>
                  <a:pt x="14585" y="0"/>
                  <a:pt x="3257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1" name="Text 39"/>
          <p:cNvSpPr/>
          <p:nvPr/>
        </p:nvSpPr>
        <p:spPr>
          <a:xfrm>
            <a:off x="6388685" y="4137299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{Milk, Age:20-30} → {Cereal}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6388685" y="4365339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Young adults buying milk also buy cereal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290954" y="4723687"/>
            <a:ext cx="5440385" cy="618966"/>
          </a:xfrm>
          <a:custGeom>
            <a:avLst/>
            <a:gdLst/>
            <a:ahLst/>
            <a:cxnLst/>
            <a:rect l="l" t="t" r="r" b="b"/>
            <a:pathLst>
              <a:path w="5440385" h="618966">
                <a:moveTo>
                  <a:pt x="32576" y="0"/>
                </a:moveTo>
                <a:lnTo>
                  <a:pt x="5407809" y="0"/>
                </a:lnTo>
                <a:cubicBezTo>
                  <a:pt x="5425800" y="0"/>
                  <a:pt x="5440385" y="14585"/>
                  <a:pt x="5440385" y="32576"/>
                </a:cubicBezTo>
                <a:lnTo>
                  <a:pt x="5440385" y="586390"/>
                </a:lnTo>
                <a:cubicBezTo>
                  <a:pt x="5440385" y="604381"/>
                  <a:pt x="5425800" y="618966"/>
                  <a:pt x="5407809" y="618966"/>
                </a:cubicBezTo>
                <a:lnTo>
                  <a:pt x="32576" y="618966"/>
                </a:lnTo>
                <a:cubicBezTo>
                  <a:pt x="14585" y="618966"/>
                  <a:pt x="0" y="604381"/>
                  <a:pt x="0" y="586390"/>
                </a:cubicBezTo>
                <a:lnTo>
                  <a:pt x="0" y="32576"/>
                </a:lnTo>
                <a:cubicBezTo>
                  <a:pt x="0" y="14585"/>
                  <a:pt x="14585" y="0"/>
                  <a:pt x="3257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4" name="Text 42"/>
          <p:cNvSpPr/>
          <p:nvPr/>
        </p:nvSpPr>
        <p:spPr>
          <a:xfrm>
            <a:off x="6388685" y="4821419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{Diapers, Time:Evening} → {Beer}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88685" y="5049459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Evening diaper purchases with beer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290954" y="5407808"/>
            <a:ext cx="5440385" cy="618966"/>
          </a:xfrm>
          <a:custGeom>
            <a:avLst/>
            <a:gdLst/>
            <a:ahLst/>
            <a:cxnLst/>
            <a:rect l="l" t="t" r="r" b="b"/>
            <a:pathLst>
              <a:path w="5440385" h="618966">
                <a:moveTo>
                  <a:pt x="32576" y="0"/>
                </a:moveTo>
                <a:lnTo>
                  <a:pt x="5407809" y="0"/>
                </a:lnTo>
                <a:cubicBezTo>
                  <a:pt x="5425800" y="0"/>
                  <a:pt x="5440385" y="14585"/>
                  <a:pt x="5440385" y="32576"/>
                </a:cubicBezTo>
                <a:lnTo>
                  <a:pt x="5440385" y="586390"/>
                </a:lnTo>
                <a:cubicBezTo>
                  <a:pt x="5440385" y="604381"/>
                  <a:pt x="5425800" y="618966"/>
                  <a:pt x="5407809" y="618966"/>
                </a:cubicBezTo>
                <a:lnTo>
                  <a:pt x="32576" y="618966"/>
                </a:lnTo>
                <a:cubicBezTo>
                  <a:pt x="14585" y="618966"/>
                  <a:pt x="0" y="604381"/>
                  <a:pt x="0" y="586390"/>
                </a:cubicBezTo>
                <a:lnTo>
                  <a:pt x="0" y="32576"/>
                </a:lnTo>
                <a:cubicBezTo>
                  <a:pt x="0" y="14585"/>
                  <a:pt x="14585" y="0"/>
                  <a:pt x="32576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Text 45"/>
          <p:cNvSpPr/>
          <p:nvPr/>
        </p:nvSpPr>
        <p:spPr>
          <a:xfrm>
            <a:off x="6388685" y="5505539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{Bread, Location:Urban} → {Organic}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388685" y="5733579"/>
            <a:ext cx="5310076" cy="1954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Urban bread buyers prefer organic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64717" y="6258886"/>
            <a:ext cx="5692858" cy="594533"/>
          </a:xfrm>
          <a:custGeom>
            <a:avLst/>
            <a:gdLst/>
            <a:ahLst/>
            <a:cxnLst/>
            <a:rect l="l" t="t" r="r" b="b"/>
            <a:pathLst>
              <a:path w="5692858" h="594533">
                <a:moveTo>
                  <a:pt x="65155" y="0"/>
                </a:moveTo>
                <a:lnTo>
                  <a:pt x="5627703" y="0"/>
                </a:lnTo>
                <a:cubicBezTo>
                  <a:pt x="5663687" y="0"/>
                  <a:pt x="5692858" y="29171"/>
                  <a:pt x="5692858" y="65155"/>
                </a:cubicBezTo>
                <a:lnTo>
                  <a:pt x="5692858" y="529378"/>
                </a:lnTo>
                <a:cubicBezTo>
                  <a:pt x="5692858" y="565362"/>
                  <a:pt x="5663687" y="594533"/>
                  <a:pt x="5627703" y="594533"/>
                </a:cubicBezTo>
                <a:lnTo>
                  <a:pt x="65155" y="594533"/>
                </a:lnTo>
                <a:cubicBezTo>
                  <a:pt x="29195" y="594533"/>
                  <a:pt x="0" y="565338"/>
                  <a:pt x="0" y="529378"/>
                </a:cubicBezTo>
                <a:lnTo>
                  <a:pt x="0" y="65155"/>
                </a:lnTo>
                <a:cubicBezTo>
                  <a:pt x="0" y="29195"/>
                  <a:pt x="29195" y="0"/>
                  <a:pt x="65155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99098" y="6389194"/>
            <a:ext cx="97731" cy="130309"/>
          </a:xfrm>
          <a:custGeom>
            <a:avLst/>
            <a:gdLst/>
            <a:ahLst/>
            <a:cxnLst/>
            <a:rect l="l" t="t" r="r" b="b"/>
            <a:pathLst>
              <a:path w="97731" h="130309">
                <a:moveTo>
                  <a:pt x="74546" y="97731"/>
                </a:moveTo>
                <a:cubicBezTo>
                  <a:pt x="76404" y="92056"/>
                  <a:pt x="80119" y="86915"/>
                  <a:pt x="84319" y="82486"/>
                </a:cubicBezTo>
                <a:cubicBezTo>
                  <a:pt x="92641" y="73731"/>
                  <a:pt x="97731" y="61897"/>
                  <a:pt x="97731" y="48866"/>
                </a:cubicBezTo>
                <a:cubicBezTo>
                  <a:pt x="97731" y="21888"/>
                  <a:pt x="75844" y="0"/>
                  <a:pt x="48866" y="0"/>
                </a:cubicBezTo>
                <a:cubicBezTo>
                  <a:pt x="21888" y="0"/>
                  <a:pt x="0" y="21888"/>
                  <a:pt x="0" y="48866"/>
                </a:cubicBezTo>
                <a:cubicBezTo>
                  <a:pt x="0" y="61897"/>
                  <a:pt x="5090" y="73731"/>
                  <a:pt x="13413" y="82486"/>
                </a:cubicBezTo>
                <a:cubicBezTo>
                  <a:pt x="17612" y="86915"/>
                  <a:pt x="21353" y="92056"/>
                  <a:pt x="23186" y="97731"/>
                </a:cubicBezTo>
                <a:lnTo>
                  <a:pt x="74520" y="97731"/>
                </a:lnTo>
                <a:close/>
                <a:moveTo>
                  <a:pt x="73299" y="109948"/>
                </a:moveTo>
                <a:lnTo>
                  <a:pt x="24433" y="109948"/>
                </a:lnTo>
                <a:lnTo>
                  <a:pt x="24433" y="114020"/>
                </a:lnTo>
                <a:cubicBezTo>
                  <a:pt x="24433" y="125269"/>
                  <a:pt x="33544" y="134381"/>
                  <a:pt x="44794" y="134381"/>
                </a:cubicBezTo>
                <a:lnTo>
                  <a:pt x="52938" y="134381"/>
                </a:lnTo>
                <a:cubicBezTo>
                  <a:pt x="64187" y="134381"/>
                  <a:pt x="73299" y="125269"/>
                  <a:pt x="73299" y="114020"/>
                </a:cubicBezTo>
                <a:lnTo>
                  <a:pt x="73299" y="109948"/>
                </a:lnTo>
                <a:close/>
                <a:moveTo>
                  <a:pt x="46830" y="28505"/>
                </a:moveTo>
                <a:cubicBezTo>
                  <a:pt x="36700" y="28505"/>
                  <a:pt x="28505" y="36700"/>
                  <a:pt x="28505" y="46830"/>
                </a:cubicBezTo>
                <a:cubicBezTo>
                  <a:pt x="28505" y="50215"/>
                  <a:pt x="25782" y="52938"/>
                  <a:pt x="22397" y="52938"/>
                </a:cubicBezTo>
                <a:cubicBezTo>
                  <a:pt x="19012" y="52938"/>
                  <a:pt x="16289" y="50215"/>
                  <a:pt x="16289" y="46830"/>
                </a:cubicBezTo>
                <a:cubicBezTo>
                  <a:pt x="16289" y="29956"/>
                  <a:pt x="29956" y="16289"/>
                  <a:pt x="46830" y="16289"/>
                </a:cubicBezTo>
                <a:cubicBezTo>
                  <a:pt x="50215" y="16289"/>
                  <a:pt x="52938" y="19012"/>
                  <a:pt x="52938" y="22397"/>
                </a:cubicBezTo>
                <a:cubicBezTo>
                  <a:pt x="52938" y="25782"/>
                  <a:pt x="50215" y="28505"/>
                  <a:pt x="46830" y="2850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1" name="Text 49"/>
          <p:cNvSpPr/>
          <p:nvPr/>
        </p:nvSpPr>
        <p:spPr>
          <a:xfrm>
            <a:off x="6471189" y="6360689"/>
            <a:ext cx="5349737" cy="390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26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Applications:</a:t>
            </a:r>
            <a:pPr>
              <a:lnSpc>
                <a:spcPct val="130000"/>
              </a:lnSpc>
            </a:pPr>
            <a:r>
              <a:rPr lang="en-US" sz="1026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Retail, healthcare (symptoms + demographics), financial (transactions + customer profiles)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350" y="347350"/>
            <a:ext cx="1156676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spc="109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47350" y="625231"/>
            <a:ext cx="11653607" cy="347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2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Beyond Support &amp; Confidence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47350" y="1111521"/>
            <a:ext cx="11497299" cy="2275145"/>
          </a:xfrm>
          <a:custGeom>
            <a:avLst/>
            <a:gdLst/>
            <a:ahLst/>
            <a:cxnLst/>
            <a:rect l="l" t="t" r="r" b="b"/>
            <a:pathLst>
              <a:path w="11497299" h="2275145">
                <a:moveTo>
                  <a:pt x="69460" y="0"/>
                </a:moveTo>
                <a:lnTo>
                  <a:pt x="11427839" y="0"/>
                </a:lnTo>
                <a:cubicBezTo>
                  <a:pt x="11466201" y="0"/>
                  <a:pt x="11497299" y="31098"/>
                  <a:pt x="11497299" y="69460"/>
                </a:cubicBezTo>
                <a:lnTo>
                  <a:pt x="11497299" y="2205685"/>
                </a:lnTo>
                <a:cubicBezTo>
                  <a:pt x="11497299" y="2244047"/>
                  <a:pt x="11466201" y="2275145"/>
                  <a:pt x="11427839" y="2275145"/>
                </a:cubicBezTo>
                <a:lnTo>
                  <a:pt x="69460" y="2275145"/>
                </a:lnTo>
                <a:cubicBezTo>
                  <a:pt x="31098" y="2275145"/>
                  <a:pt x="0" y="2244047"/>
                  <a:pt x="0" y="2205685"/>
                </a:cubicBezTo>
                <a:lnTo>
                  <a:pt x="0" y="69460"/>
                </a:lnTo>
                <a:cubicBezTo>
                  <a:pt x="0" y="31124"/>
                  <a:pt x="31124" y="0"/>
                  <a:pt x="6946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5" name="Text 3"/>
          <p:cNvSpPr/>
          <p:nvPr/>
        </p:nvSpPr>
        <p:spPr>
          <a:xfrm>
            <a:off x="486291" y="1250462"/>
            <a:ext cx="11288889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94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and confidence</a:t>
            </a:r>
            <a:pPr>
              <a:lnSpc>
                <a:spcPct val="140000"/>
              </a:lnSpc>
            </a:pPr>
            <a:r>
              <a:rPr lang="en-US" sz="109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can miss important patterns or suggest spurious ones. </a:t>
            </a:r>
            <a:pPr>
              <a:lnSpc>
                <a:spcPct val="140000"/>
              </a:lnSpc>
            </a:pPr>
            <a:r>
              <a:rPr lang="en-US" sz="1094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Correlation measures</a:t>
            </a:r>
            <a:pPr>
              <a:lnSpc>
                <a:spcPct val="140000"/>
              </a:lnSpc>
            </a:pPr>
            <a:r>
              <a:rPr lang="en-US" sz="109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help identify truly interesting associations beyond just frequent co-occurrence.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6291" y="1597812"/>
            <a:ext cx="3673231" cy="1649915"/>
          </a:xfrm>
          <a:custGeom>
            <a:avLst/>
            <a:gdLst/>
            <a:ahLst/>
            <a:cxnLst/>
            <a:rect l="l" t="t" r="r" b="b"/>
            <a:pathLst>
              <a:path w="3673231" h="1649915">
                <a:moveTo>
                  <a:pt x="34731" y="0"/>
                </a:moveTo>
                <a:lnTo>
                  <a:pt x="3638500" y="0"/>
                </a:lnTo>
                <a:cubicBezTo>
                  <a:pt x="3657681" y="0"/>
                  <a:pt x="3673231" y="15549"/>
                  <a:pt x="3673231" y="34731"/>
                </a:cubicBezTo>
                <a:lnTo>
                  <a:pt x="3673231" y="1615184"/>
                </a:lnTo>
                <a:cubicBezTo>
                  <a:pt x="3673231" y="1634365"/>
                  <a:pt x="3657681" y="1649915"/>
                  <a:pt x="3638500" y="1649915"/>
                </a:cubicBezTo>
                <a:lnTo>
                  <a:pt x="34731" y="1649915"/>
                </a:lnTo>
                <a:cubicBezTo>
                  <a:pt x="15549" y="1649915"/>
                  <a:pt x="0" y="1634365"/>
                  <a:pt x="0" y="1615184"/>
                </a:cubicBezTo>
                <a:lnTo>
                  <a:pt x="0" y="34731"/>
                </a:lnTo>
                <a:cubicBezTo>
                  <a:pt x="0" y="15549"/>
                  <a:pt x="15549" y="0"/>
                  <a:pt x="3473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7" name="Shape 5"/>
          <p:cNvSpPr/>
          <p:nvPr/>
        </p:nvSpPr>
        <p:spPr>
          <a:xfrm>
            <a:off x="486291" y="1597812"/>
            <a:ext cx="3673231" cy="34735"/>
          </a:xfrm>
          <a:custGeom>
            <a:avLst/>
            <a:gdLst/>
            <a:ahLst/>
            <a:cxnLst/>
            <a:rect l="l" t="t" r="r" b="b"/>
            <a:pathLst>
              <a:path w="3673231" h="34735">
                <a:moveTo>
                  <a:pt x="34735" y="0"/>
                </a:moveTo>
                <a:lnTo>
                  <a:pt x="3638496" y="0"/>
                </a:lnTo>
                <a:cubicBezTo>
                  <a:pt x="3657679" y="0"/>
                  <a:pt x="3673231" y="15551"/>
                  <a:pt x="3673231" y="34735"/>
                </a:cubicBezTo>
                <a:lnTo>
                  <a:pt x="3673231" y="34735"/>
                </a:lnTo>
                <a:lnTo>
                  <a:pt x="0" y="34735"/>
                </a:ln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8" name="Text 6"/>
          <p:cNvSpPr/>
          <p:nvPr/>
        </p:nvSpPr>
        <p:spPr>
          <a:xfrm>
            <a:off x="590496" y="1719385"/>
            <a:ext cx="354297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Lift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0496" y="2032000"/>
            <a:ext cx="3464821" cy="347350"/>
          </a:xfrm>
          <a:custGeom>
            <a:avLst/>
            <a:gdLst/>
            <a:ahLst/>
            <a:cxnLst/>
            <a:rect l="l" t="t" r="r" b="b"/>
            <a:pathLst>
              <a:path w="3464821" h="347350">
                <a:moveTo>
                  <a:pt x="34735" y="0"/>
                </a:moveTo>
                <a:lnTo>
                  <a:pt x="3430085" y="0"/>
                </a:lnTo>
                <a:cubicBezTo>
                  <a:pt x="3449269" y="0"/>
                  <a:pt x="3464821" y="15551"/>
                  <a:pt x="3464821" y="34735"/>
                </a:cubicBezTo>
                <a:lnTo>
                  <a:pt x="3464821" y="312615"/>
                </a:lnTo>
                <a:cubicBezTo>
                  <a:pt x="3464821" y="331799"/>
                  <a:pt x="3449269" y="347350"/>
                  <a:pt x="3430085" y="347350"/>
                </a:cubicBezTo>
                <a:lnTo>
                  <a:pt x="34735" y="347350"/>
                </a:lnTo>
                <a:cubicBezTo>
                  <a:pt x="15551" y="347350"/>
                  <a:pt x="0" y="331799"/>
                  <a:pt x="0" y="31261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0" name="Text 8"/>
          <p:cNvSpPr/>
          <p:nvPr/>
        </p:nvSpPr>
        <p:spPr>
          <a:xfrm>
            <a:off x="659966" y="2101470"/>
            <a:ext cx="3395350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C8A97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Lift = P(Y|X) / P(Y)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0496" y="2448821"/>
            <a:ext cx="3534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&gt;1: Positive correlation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0496" y="2691966"/>
            <a:ext cx="3534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=1: Independent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0496" y="2935111"/>
            <a:ext cx="3534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&lt;1: Negative correlation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62098" y="1597812"/>
            <a:ext cx="3673231" cy="1649915"/>
          </a:xfrm>
          <a:custGeom>
            <a:avLst/>
            <a:gdLst/>
            <a:ahLst/>
            <a:cxnLst/>
            <a:rect l="l" t="t" r="r" b="b"/>
            <a:pathLst>
              <a:path w="3673231" h="1649915">
                <a:moveTo>
                  <a:pt x="34731" y="0"/>
                </a:moveTo>
                <a:lnTo>
                  <a:pt x="3638500" y="0"/>
                </a:lnTo>
                <a:cubicBezTo>
                  <a:pt x="3657681" y="0"/>
                  <a:pt x="3673231" y="15549"/>
                  <a:pt x="3673231" y="34731"/>
                </a:cubicBezTo>
                <a:lnTo>
                  <a:pt x="3673231" y="1615184"/>
                </a:lnTo>
                <a:cubicBezTo>
                  <a:pt x="3673231" y="1634365"/>
                  <a:pt x="3657681" y="1649915"/>
                  <a:pt x="3638500" y="1649915"/>
                </a:cubicBezTo>
                <a:lnTo>
                  <a:pt x="34731" y="1649915"/>
                </a:lnTo>
                <a:cubicBezTo>
                  <a:pt x="15549" y="1649915"/>
                  <a:pt x="0" y="1634365"/>
                  <a:pt x="0" y="1615184"/>
                </a:cubicBezTo>
                <a:lnTo>
                  <a:pt x="0" y="34731"/>
                </a:lnTo>
                <a:cubicBezTo>
                  <a:pt x="0" y="15549"/>
                  <a:pt x="15549" y="0"/>
                  <a:pt x="3473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5" name="Shape 13"/>
          <p:cNvSpPr/>
          <p:nvPr/>
        </p:nvSpPr>
        <p:spPr>
          <a:xfrm>
            <a:off x="4262098" y="1597812"/>
            <a:ext cx="3673231" cy="34735"/>
          </a:xfrm>
          <a:custGeom>
            <a:avLst/>
            <a:gdLst/>
            <a:ahLst/>
            <a:cxnLst/>
            <a:rect l="l" t="t" r="r" b="b"/>
            <a:pathLst>
              <a:path w="3673231" h="34735">
                <a:moveTo>
                  <a:pt x="34735" y="0"/>
                </a:moveTo>
                <a:lnTo>
                  <a:pt x="3638496" y="0"/>
                </a:lnTo>
                <a:cubicBezTo>
                  <a:pt x="3657679" y="0"/>
                  <a:pt x="3673231" y="15551"/>
                  <a:pt x="3673231" y="34735"/>
                </a:cubicBezTo>
                <a:lnTo>
                  <a:pt x="3673231" y="34735"/>
                </a:lnTo>
                <a:lnTo>
                  <a:pt x="0" y="34735"/>
                </a:ln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Text 14"/>
          <p:cNvSpPr/>
          <p:nvPr/>
        </p:nvSpPr>
        <p:spPr>
          <a:xfrm>
            <a:off x="4366303" y="1719385"/>
            <a:ext cx="354297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Interest Factor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66303" y="2032000"/>
            <a:ext cx="3464821" cy="347350"/>
          </a:xfrm>
          <a:custGeom>
            <a:avLst/>
            <a:gdLst/>
            <a:ahLst/>
            <a:cxnLst/>
            <a:rect l="l" t="t" r="r" b="b"/>
            <a:pathLst>
              <a:path w="3464821" h="347350">
                <a:moveTo>
                  <a:pt x="34735" y="0"/>
                </a:moveTo>
                <a:lnTo>
                  <a:pt x="3430085" y="0"/>
                </a:lnTo>
                <a:cubicBezTo>
                  <a:pt x="3449269" y="0"/>
                  <a:pt x="3464821" y="15551"/>
                  <a:pt x="3464821" y="34735"/>
                </a:cubicBezTo>
                <a:lnTo>
                  <a:pt x="3464821" y="312615"/>
                </a:lnTo>
                <a:cubicBezTo>
                  <a:pt x="3464821" y="331799"/>
                  <a:pt x="3449269" y="347350"/>
                  <a:pt x="3430085" y="347350"/>
                </a:cubicBezTo>
                <a:lnTo>
                  <a:pt x="34735" y="347350"/>
                </a:lnTo>
                <a:cubicBezTo>
                  <a:pt x="15551" y="347350"/>
                  <a:pt x="0" y="331799"/>
                  <a:pt x="0" y="31261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8" name="Text 16"/>
          <p:cNvSpPr/>
          <p:nvPr/>
        </p:nvSpPr>
        <p:spPr>
          <a:xfrm>
            <a:off x="4435774" y="2101470"/>
            <a:ext cx="3395350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4A6C8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 = P(X,Y) / (P(X)×P(Y))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366303" y="2448821"/>
            <a:ext cx="3534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Similar interpretation to lift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366303" y="2691966"/>
            <a:ext cx="3534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Measures deviation from independence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366303" y="2935111"/>
            <a:ext cx="3534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Higher = stronger association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037906" y="1597812"/>
            <a:ext cx="3673231" cy="1649915"/>
          </a:xfrm>
          <a:custGeom>
            <a:avLst/>
            <a:gdLst/>
            <a:ahLst/>
            <a:cxnLst/>
            <a:rect l="l" t="t" r="r" b="b"/>
            <a:pathLst>
              <a:path w="3673231" h="1649915">
                <a:moveTo>
                  <a:pt x="34731" y="0"/>
                </a:moveTo>
                <a:lnTo>
                  <a:pt x="3638500" y="0"/>
                </a:lnTo>
                <a:cubicBezTo>
                  <a:pt x="3657681" y="0"/>
                  <a:pt x="3673231" y="15549"/>
                  <a:pt x="3673231" y="34731"/>
                </a:cubicBezTo>
                <a:lnTo>
                  <a:pt x="3673231" y="1615184"/>
                </a:lnTo>
                <a:cubicBezTo>
                  <a:pt x="3673231" y="1634365"/>
                  <a:pt x="3657681" y="1649915"/>
                  <a:pt x="3638500" y="1649915"/>
                </a:cubicBezTo>
                <a:lnTo>
                  <a:pt x="34731" y="1649915"/>
                </a:lnTo>
                <a:cubicBezTo>
                  <a:pt x="15549" y="1649915"/>
                  <a:pt x="0" y="1634365"/>
                  <a:pt x="0" y="1615184"/>
                </a:cubicBezTo>
                <a:lnTo>
                  <a:pt x="0" y="34731"/>
                </a:lnTo>
                <a:cubicBezTo>
                  <a:pt x="0" y="15549"/>
                  <a:pt x="15549" y="0"/>
                  <a:pt x="3473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3" name="Shape 21"/>
          <p:cNvSpPr/>
          <p:nvPr/>
        </p:nvSpPr>
        <p:spPr>
          <a:xfrm>
            <a:off x="8037906" y="1597812"/>
            <a:ext cx="3673231" cy="34735"/>
          </a:xfrm>
          <a:custGeom>
            <a:avLst/>
            <a:gdLst/>
            <a:ahLst/>
            <a:cxnLst/>
            <a:rect l="l" t="t" r="r" b="b"/>
            <a:pathLst>
              <a:path w="3673231" h="34735">
                <a:moveTo>
                  <a:pt x="34735" y="0"/>
                </a:moveTo>
                <a:lnTo>
                  <a:pt x="3638496" y="0"/>
                </a:lnTo>
                <a:cubicBezTo>
                  <a:pt x="3657679" y="0"/>
                  <a:pt x="3673231" y="15551"/>
                  <a:pt x="3673231" y="34735"/>
                </a:cubicBezTo>
                <a:lnTo>
                  <a:pt x="3673231" y="34735"/>
                </a:lnTo>
                <a:lnTo>
                  <a:pt x="0" y="34735"/>
                </a:ln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4" name="Text 22"/>
          <p:cNvSpPr/>
          <p:nvPr/>
        </p:nvSpPr>
        <p:spPr>
          <a:xfrm>
            <a:off x="8142111" y="1719385"/>
            <a:ext cx="354297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1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Conviction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42111" y="2032000"/>
            <a:ext cx="3464821" cy="347350"/>
          </a:xfrm>
          <a:custGeom>
            <a:avLst/>
            <a:gdLst/>
            <a:ahLst/>
            <a:cxnLst/>
            <a:rect l="l" t="t" r="r" b="b"/>
            <a:pathLst>
              <a:path w="3464821" h="347350">
                <a:moveTo>
                  <a:pt x="34735" y="0"/>
                </a:moveTo>
                <a:lnTo>
                  <a:pt x="3430085" y="0"/>
                </a:lnTo>
                <a:cubicBezTo>
                  <a:pt x="3449269" y="0"/>
                  <a:pt x="3464821" y="15551"/>
                  <a:pt x="3464821" y="34735"/>
                </a:cubicBezTo>
                <a:lnTo>
                  <a:pt x="3464821" y="312615"/>
                </a:lnTo>
                <a:cubicBezTo>
                  <a:pt x="3464821" y="331799"/>
                  <a:pt x="3449269" y="347350"/>
                  <a:pt x="3430085" y="347350"/>
                </a:cubicBezTo>
                <a:lnTo>
                  <a:pt x="34735" y="347350"/>
                </a:lnTo>
                <a:cubicBezTo>
                  <a:pt x="15551" y="347350"/>
                  <a:pt x="0" y="331799"/>
                  <a:pt x="0" y="312615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26" name="Text 24"/>
          <p:cNvSpPr/>
          <p:nvPr/>
        </p:nvSpPr>
        <p:spPr>
          <a:xfrm>
            <a:off x="8211581" y="2101470"/>
            <a:ext cx="3395350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Conv = P(X)×P(¬Y) / P(X,¬Y)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142111" y="2448821"/>
            <a:ext cx="3534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Measures implication strength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42111" y="2691966"/>
            <a:ext cx="3534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=1: Independent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142111" y="2935111"/>
            <a:ext cx="3534291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&gt;1: Stronger implication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47350" y="3490872"/>
            <a:ext cx="5696547" cy="2605128"/>
          </a:xfrm>
          <a:custGeom>
            <a:avLst/>
            <a:gdLst/>
            <a:ahLst/>
            <a:cxnLst/>
            <a:rect l="l" t="t" r="r" b="b"/>
            <a:pathLst>
              <a:path w="5696547" h="2605128">
                <a:moveTo>
                  <a:pt x="69479" y="0"/>
                </a:moveTo>
                <a:lnTo>
                  <a:pt x="5627068" y="0"/>
                </a:lnTo>
                <a:cubicBezTo>
                  <a:pt x="5665440" y="0"/>
                  <a:pt x="5696547" y="31107"/>
                  <a:pt x="5696547" y="69479"/>
                </a:cubicBezTo>
                <a:lnTo>
                  <a:pt x="5696547" y="2535649"/>
                </a:lnTo>
                <a:cubicBezTo>
                  <a:pt x="5696547" y="2574022"/>
                  <a:pt x="5665440" y="2605128"/>
                  <a:pt x="5627068" y="2605128"/>
                </a:cubicBezTo>
                <a:lnTo>
                  <a:pt x="69479" y="2605128"/>
                </a:lnTo>
                <a:cubicBezTo>
                  <a:pt x="31107" y="2605128"/>
                  <a:pt x="0" y="2574022"/>
                  <a:pt x="0" y="2535649"/>
                </a:cubicBezTo>
                <a:lnTo>
                  <a:pt x="0" y="69479"/>
                </a:lnTo>
                <a:cubicBezTo>
                  <a:pt x="0" y="31132"/>
                  <a:pt x="31132" y="0"/>
                  <a:pt x="69479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31" name="Text 29"/>
          <p:cNvSpPr/>
          <p:nvPr/>
        </p:nvSpPr>
        <p:spPr>
          <a:xfrm>
            <a:off x="486291" y="3629812"/>
            <a:ext cx="550550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Practical Example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86291" y="3977162"/>
            <a:ext cx="5418667" cy="694701"/>
          </a:xfrm>
          <a:custGeom>
            <a:avLst/>
            <a:gdLst/>
            <a:ahLst/>
            <a:cxnLst/>
            <a:rect l="l" t="t" r="r" b="b"/>
            <a:pathLst>
              <a:path w="5418667" h="694701">
                <a:moveTo>
                  <a:pt x="34735" y="0"/>
                </a:moveTo>
                <a:lnTo>
                  <a:pt x="5383932" y="0"/>
                </a:lnTo>
                <a:cubicBezTo>
                  <a:pt x="5403115" y="0"/>
                  <a:pt x="5418667" y="15551"/>
                  <a:pt x="5418667" y="34735"/>
                </a:cubicBezTo>
                <a:lnTo>
                  <a:pt x="5418667" y="659966"/>
                </a:lnTo>
                <a:cubicBezTo>
                  <a:pt x="5418667" y="679149"/>
                  <a:pt x="5403115" y="694701"/>
                  <a:pt x="5383932" y="694701"/>
                </a:cubicBezTo>
                <a:lnTo>
                  <a:pt x="34735" y="694701"/>
                </a:lnTo>
                <a:cubicBezTo>
                  <a:pt x="15551" y="694701"/>
                  <a:pt x="0" y="679149"/>
                  <a:pt x="0" y="65996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3" name="Text 31"/>
          <p:cNvSpPr/>
          <p:nvPr/>
        </p:nvSpPr>
        <p:spPr>
          <a:xfrm>
            <a:off x="590496" y="4081368"/>
            <a:ext cx="5279726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Rule: {Coffee} → {Tea}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90496" y="4359248"/>
            <a:ext cx="5279726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Support = 15%, Confidence = 60%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86291" y="4776068"/>
            <a:ext cx="5418667" cy="555761"/>
          </a:xfrm>
          <a:custGeom>
            <a:avLst/>
            <a:gdLst/>
            <a:ahLst/>
            <a:cxnLst/>
            <a:rect l="l" t="t" r="r" b="b"/>
            <a:pathLst>
              <a:path w="5418667" h="555761">
                <a:moveTo>
                  <a:pt x="34735" y="0"/>
                </a:moveTo>
                <a:lnTo>
                  <a:pt x="5383932" y="0"/>
                </a:lnTo>
                <a:cubicBezTo>
                  <a:pt x="5403115" y="0"/>
                  <a:pt x="5418667" y="15551"/>
                  <a:pt x="5418667" y="34735"/>
                </a:cubicBezTo>
                <a:lnTo>
                  <a:pt x="5418667" y="521026"/>
                </a:lnTo>
                <a:cubicBezTo>
                  <a:pt x="5418667" y="540209"/>
                  <a:pt x="5403115" y="555761"/>
                  <a:pt x="5383932" y="555761"/>
                </a:cubicBezTo>
                <a:lnTo>
                  <a:pt x="34735" y="555761"/>
                </a:lnTo>
                <a:cubicBezTo>
                  <a:pt x="15551" y="555761"/>
                  <a:pt x="0" y="540209"/>
                  <a:pt x="0" y="52102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555761" y="4871590"/>
            <a:ext cx="1245373" cy="15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 = 0.6/0.8 = 0.75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55761" y="5053949"/>
            <a:ext cx="5349197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 correlation! People who buy coffee are LESS likely to buy tea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86291" y="5401299"/>
            <a:ext cx="5418667" cy="555761"/>
          </a:xfrm>
          <a:custGeom>
            <a:avLst/>
            <a:gdLst/>
            <a:ahLst/>
            <a:cxnLst/>
            <a:rect l="l" t="t" r="r" b="b"/>
            <a:pathLst>
              <a:path w="5418667" h="555761">
                <a:moveTo>
                  <a:pt x="34735" y="0"/>
                </a:moveTo>
                <a:lnTo>
                  <a:pt x="5383932" y="0"/>
                </a:lnTo>
                <a:cubicBezTo>
                  <a:pt x="5403115" y="0"/>
                  <a:pt x="5418667" y="15551"/>
                  <a:pt x="5418667" y="34735"/>
                </a:cubicBezTo>
                <a:lnTo>
                  <a:pt x="5418667" y="521026"/>
                </a:lnTo>
                <a:cubicBezTo>
                  <a:pt x="5418667" y="540209"/>
                  <a:pt x="5403115" y="555761"/>
                  <a:pt x="5383932" y="555761"/>
                </a:cubicBezTo>
                <a:lnTo>
                  <a:pt x="34735" y="555761"/>
                </a:lnTo>
                <a:cubicBezTo>
                  <a:pt x="15551" y="555761"/>
                  <a:pt x="0" y="540209"/>
                  <a:pt x="0" y="521026"/>
                </a:cubicBezTo>
                <a:lnTo>
                  <a:pt x="0" y="34735"/>
                </a:lnTo>
                <a:cubicBezTo>
                  <a:pt x="0" y="15564"/>
                  <a:pt x="15564" y="0"/>
                  <a:pt x="34735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555761" y="5496821"/>
            <a:ext cx="1341370" cy="1519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Interest Factor = 0.94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55761" y="5679179"/>
            <a:ext cx="5349197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Confirms the negative association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50002" y="3490872"/>
            <a:ext cx="5696547" cy="2605128"/>
          </a:xfrm>
          <a:custGeom>
            <a:avLst/>
            <a:gdLst/>
            <a:ahLst/>
            <a:cxnLst/>
            <a:rect l="l" t="t" r="r" b="b"/>
            <a:pathLst>
              <a:path w="5696547" h="2605128">
                <a:moveTo>
                  <a:pt x="69479" y="0"/>
                </a:moveTo>
                <a:lnTo>
                  <a:pt x="5627068" y="0"/>
                </a:lnTo>
                <a:cubicBezTo>
                  <a:pt x="5665440" y="0"/>
                  <a:pt x="5696547" y="31107"/>
                  <a:pt x="5696547" y="69479"/>
                </a:cubicBezTo>
                <a:lnTo>
                  <a:pt x="5696547" y="2535649"/>
                </a:lnTo>
                <a:cubicBezTo>
                  <a:pt x="5696547" y="2574022"/>
                  <a:pt x="5665440" y="2605128"/>
                  <a:pt x="5627068" y="2605128"/>
                </a:cubicBezTo>
                <a:lnTo>
                  <a:pt x="69479" y="2605128"/>
                </a:lnTo>
                <a:cubicBezTo>
                  <a:pt x="31107" y="2605128"/>
                  <a:pt x="0" y="2574022"/>
                  <a:pt x="0" y="2535649"/>
                </a:cubicBezTo>
                <a:lnTo>
                  <a:pt x="0" y="69479"/>
                </a:lnTo>
                <a:cubicBezTo>
                  <a:pt x="0" y="31132"/>
                  <a:pt x="31132" y="0"/>
                  <a:pt x="69479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42" name="Text 40"/>
          <p:cNvSpPr/>
          <p:nvPr/>
        </p:nvSpPr>
        <p:spPr>
          <a:xfrm>
            <a:off x="6288942" y="3629812"/>
            <a:ext cx="5505504" cy="2431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8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to Use Each Measure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320421" y="4011897"/>
            <a:ext cx="136769" cy="156308"/>
          </a:xfrm>
          <a:custGeom>
            <a:avLst/>
            <a:gdLst/>
            <a:ahLst/>
            <a:cxnLst/>
            <a:rect l="l" t="t" r="r" b="b"/>
            <a:pathLst>
              <a:path w="136769" h="156308">
                <a:moveTo>
                  <a:pt x="132739" y="21401"/>
                </a:moveTo>
                <a:cubicBezTo>
                  <a:pt x="137105" y="24576"/>
                  <a:pt x="138082" y="30681"/>
                  <a:pt x="134907" y="35047"/>
                </a:cubicBezTo>
                <a:lnTo>
                  <a:pt x="56753" y="142509"/>
                </a:lnTo>
                <a:cubicBezTo>
                  <a:pt x="55074" y="144829"/>
                  <a:pt x="52479" y="146264"/>
                  <a:pt x="49609" y="146508"/>
                </a:cubicBezTo>
                <a:cubicBezTo>
                  <a:pt x="46740" y="146752"/>
                  <a:pt x="43962" y="145684"/>
                  <a:pt x="41947" y="143669"/>
                </a:cubicBezTo>
                <a:lnTo>
                  <a:pt x="2870" y="104592"/>
                </a:lnTo>
                <a:cubicBezTo>
                  <a:pt x="-946" y="100776"/>
                  <a:pt x="-946" y="94578"/>
                  <a:pt x="2870" y="90762"/>
                </a:cubicBezTo>
                <a:cubicBezTo>
                  <a:pt x="6686" y="86946"/>
                  <a:pt x="12883" y="86946"/>
                  <a:pt x="16699" y="90762"/>
                </a:cubicBezTo>
                <a:lnTo>
                  <a:pt x="47686" y="121749"/>
                </a:lnTo>
                <a:lnTo>
                  <a:pt x="119124" y="23538"/>
                </a:lnTo>
                <a:cubicBezTo>
                  <a:pt x="122299" y="19172"/>
                  <a:pt x="128404" y="18195"/>
                  <a:pt x="132770" y="2137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4" name="Text 42"/>
          <p:cNvSpPr/>
          <p:nvPr/>
        </p:nvSpPr>
        <p:spPr>
          <a:xfrm>
            <a:off x="6588532" y="3977162"/>
            <a:ext cx="316088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588532" y="4185573"/>
            <a:ext cx="3160889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 purpose, easy to interpret, good for ranking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320421" y="4498188"/>
            <a:ext cx="136769" cy="156308"/>
          </a:xfrm>
          <a:custGeom>
            <a:avLst/>
            <a:gdLst/>
            <a:ahLst/>
            <a:cxnLst/>
            <a:rect l="l" t="t" r="r" b="b"/>
            <a:pathLst>
              <a:path w="136769" h="156308">
                <a:moveTo>
                  <a:pt x="132739" y="21401"/>
                </a:moveTo>
                <a:cubicBezTo>
                  <a:pt x="137105" y="24576"/>
                  <a:pt x="138082" y="30681"/>
                  <a:pt x="134907" y="35047"/>
                </a:cubicBezTo>
                <a:lnTo>
                  <a:pt x="56753" y="142509"/>
                </a:lnTo>
                <a:cubicBezTo>
                  <a:pt x="55074" y="144829"/>
                  <a:pt x="52479" y="146264"/>
                  <a:pt x="49609" y="146508"/>
                </a:cubicBezTo>
                <a:cubicBezTo>
                  <a:pt x="46740" y="146752"/>
                  <a:pt x="43962" y="145684"/>
                  <a:pt x="41947" y="143669"/>
                </a:cubicBezTo>
                <a:lnTo>
                  <a:pt x="2870" y="104592"/>
                </a:lnTo>
                <a:cubicBezTo>
                  <a:pt x="-946" y="100776"/>
                  <a:pt x="-946" y="94578"/>
                  <a:pt x="2870" y="90762"/>
                </a:cubicBezTo>
                <a:cubicBezTo>
                  <a:pt x="6686" y="86946"/>
                  <a:pt x="12883" y="86946"/>
                  <a:pt x="16699" y="90762"/>
                </a:cubicBezTo>
                <a:lnTo>
                  <a:pt x="47686" y="121749"/>
                </a:lnTo>
                <a:lnTo>
                  <a:pt x="119124" y="23538"/>
                </a:lnTo>
                <a:cubicBezTo>
                  <a:pt x="122299" y="19172"/>
                  <a:pt x="128404" y="18195"/>
                  <a:pt x="132770" y="2137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7" name="Text 45"/>
          <p:cNvSpPr/>
          <p:nvPr/>
        </p:nvSpPr>
        <p:spPr>
          <a:xfrm>
            <a:off x="6588532" y="4463453"/>
            <a:ext cx="316957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Interest Factor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588532" y="4671863"/>
            <a:ext cx="3169573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you need symmetric measure (I(X,Y) = I(Y,X))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20421" y="4984479"/>
            <a:ext cx="136769" cy="156308"/>
          </a:xfrm>
          <a:custGeom>
            <a:avLst/>
            <a:gdLst/>
            <a:ahLst/>
            <a:cxnLst/>
            <a:rect l="l" t="t" r="r" b="b"/>
            <a:pathLst>
              <a:path w="136769" h="156308">
                <a:moveTo>
                  <a:pt x="132739" y="21401"/>
                </a:moveTo>
                <a:cubicBezTo>
                  <a:pt x="137105" y="24576"/>
                  <a:pt x="138082" y="30681"/>
                  <a:pt x="134907" y="35047"/>
                </a:cubicBezTo>
                <a:lnTo>
                  <a:pt x="56753" y="142509"/>
                </a:lnTo>
                <a:cubicBezTo>
                  <a:pt x="55074" y="144829"/>
                  <a:pt x="52479" y="146264"/>
                  <a:pt x="49609" y="146508"/>
                </a:cubicBezTo>
                <a:cubicBezTo>
                  <a:pt x="46740" y="146752"/>
                  <a:pt x="43962" y="145684"/>
                  <a:pt x="41947" y="143669"/>
                </a:cubicBezTo>
                <a:lnTo>
                  <a:pt x="2870" y="104592"/>
                </a:lnTo>
                <a:cubicBezTo>
                  <a:pt x="-946" y="100776"/>
                  <a:pt x="-946" y="94578"/>
                  <a:pt x="2870" y="90762"/>
                </a:cubicBezTo>
                <a:cubicBezTo>
                  <a:pt x="6686" y="86946"/>
                  <a:pt x="12883" y="86946"/>
                  <a:pt x="16699" y="90762"/>
                </a:cubicBezTo>
                <a:lnTo>
                  <a:pt x="47686" y="121749"/>
                </a:lnTo>
                <a:lnTo>
                  <a:pt x="119124" y="23538"/>
                </a:lnTo>
                <a:cubicBezTo>
                  <a:pt x="122299" y="19172"/>
                  <a:pt x="128404" y="18195"/>
                  <a:pt x="132770" y="2137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0" name="Text 48"/>
          <p:cNvSpPr/>
          <p:nvPr/>
        </p:nvSpPr>
        <p:spPr>
          <a:xfrm>
            <a:off x="6588532" y="4949744"/>
            <a:ext cx="2926427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Conviction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588532" y="5158154"/>
            <a:ext cx="2926427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When you need directional implication strength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351692" y="6204547"/>
            <a:ext cx="11488615" cy="425504"/>
          </a:xfrm>
          <a:custGeom>
            <a:avLst/>
            <a:gdLst/>
            <a:ahLst/>
            <a:cxnLst/>
            <a:rect l="l" t="t" r="r" b="b"/>
            <a:pathLst>
              <a:path w="11488615" h="425504">
                <a:moveTo>
                  <a:pt x="69472" y="0"/>
                </a:moveTo>
                <a:lnTo>
                  <a:pt x="11419143" y="0"/>
                </a:lnTo>
                <a:cubicBezTo>
                  <a:pt x="11457512" y="0"/>
                  <a:pt x="11488615" y="31104"/>
                  <a:pt x="11488615" y="69472"/>
                </a:cubicBezTo>
                <a:lnTo>
                  <a:pt x="11488615" y="356032"/>
                </a:lnTo>
                <a:cubicBezTo>
                  <a:pt x="11488615" y="394401"/>
                  <a:pt x="11457512" y="425504"/>
                  <a:pt x="11419143" y="425504"/>
                </a:cubicBezTo>
                <a:lnTo>
                  <a:pt x="69472" y="425504"/>
                </a:lnTo>
                <a:cubicBezTo>
                  <a:pt x="31129" y="425504"/>
                  <a:pt x="0" y="394375"/>
                  <a:pt x="0" y="356032"/>
                </a:cubicBezTo>
                <a:lnTo>
                  <a:pt x="0" y="69472"/>
                </a:lnTo>
                <a:cubicBezTo>
                  <a:pt x="0" y="31129"/>
                  <a:pt x="31129" y="0"/>
                  <a:pt x="69472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7607" y="6343487"/>
            <a:ext cx="138940" cy="138940"/>
          </a:xfrm>
          <a:custGeom>
            <a:avLst/>
            <a:gdLst/>
            <a:ahLst/>
            <a:cxnLst/>
            <a:rect l="l" t="t" r="r" b="b"/>
            <a:pathLst>
              <a:path w="138940" h="138940">
                <a:moveTo>
                  <a:pt x="69470" y="0"/>
                </a:moveTo>
                <a:cubicBezTo>
                  <a:pt x="73459" y="0"/>
                  <a:pt x="77123" y="2198"/>
                  <a:pt x="79022" y="5699"/>
                </a:cubicBezTo>
                <a:lnTo>
                  <a:pt x="137638" y="114246"/>
                </a:lnTo>
                <a:cubicBezTo>
                  <a:pt x="139456" y="117611"/>
                  <a:pt x="139374" y="121681"/>
                  <a:pt x="137421" y="124965"/>
                </a:cubicBezTo>
                <a:cubicBezTo>
                  <a:pt x="135467" y="128248"/>
                  <a:pt x="131912" y="130256"/>
                  <a:pt x="128085" y="130256"/>
                </a:cubicBezTo>
                <a:lnTo>
                  <a:pt x="10855" y="130256"/>
                </a:lnTo>
                <a:cubicBezTo>
                  <a:pt x="7028" y="130256"/>
                  <a:pt x="3501" y="128248"/>
                  <a:pt x="1520" y="124965"/>
                </a:cubicBezTo>
                <a:cubicBezTo>
                  <a:pt x="-461" y="121681"/>
                  <a:pt x="-516" y="117611"/>
                  <a:pt x="1303" y="114246"/>
                </a:cubicBezTo>
                <a:lnTo>
                  <a:pt x="59918" y="5699"/>
                </a:lnTo>
                <a:cubicBezTo>
                  <a:pt x="61818" y="2198"/>
                  <a:pt x="65481" y="0"/>
                  <a:pt x="69470" y="0"/>
                </a:cubicBezTo>
                <a:close/>
                <a:moveTo>
                  <a:pt x="69470" y="45590"/>
                </a:moveTo>
                <a:cubicBezTo>
                  <a:pt x="65861" y="45590"/>
                  <a:pt x="62957" y="48493"/>
                  <a:pt x="62957" y="52103"/>
                </a:cubicBezTo>
                <a:lnTo>
                  <a:pt x="62957" y="82496"/>
                </a:lnTo>
                <a:cubicBezTo>
                  <a:pt x="62957" y="86105"/>
                  <a:pt x="65861" y="89009"/>
                  <a:pt x="69470" y="89009"/>
                </a:cubicBezTo>
                <a:cubicBezTo>
                  <a:pt x="73079" y="89009"/>
                  <a:pt x="75983" y="86105"/>
                  <a:pt x="75983" y="82496"/>
                </a:cubicBezTo>
                <a:lnTo>
                  <a:pt x="75983" y="52103"/>
                </a:lnTo>
                <a:cubicBezTo>
                  <a:pt x="75983" y="48493"/>
                  <a:pt x="73079" y="45590"/>
                  <a:pt x="69470" y="45590"/>
                </a:cubicBezTo>
                <a:close/>
                <a:moveTo>
                  <a:pt x="76716" y="104205"/>
                </a:moveTo>
                <a:cubicBezTo>
                  <a:pt x="76880" y="101516"/>
                  <a:pt x="75539" y="98957"/>
                  <a:pt x="73234" y="97562"/>
                </a:cubicBezTo>
                <a:cubicBezTo>
                  <a:pt x="70928" y="96168"/>
                  <a:pt x="68039" y="96168"/>
                  <a:pt x="65734" y="97562"/>
                </a:cubicBezTo>
                <a:cubicBezTo>
                  <a:pt x="63428" y="98957"/>
                  <a:pt x="62087" y="101516"/>
                  <a:pt x="62252" y="104205"/>
                </a:cubicBezTo>
                <a:cubicBezTo>
                  <a:pt x="62087" y="106895"/>
                  <a:pt x="63428" y="109453"/>
                  <a:pt x="65734" y="110848"/>
                </a:cubicBezTo>
                <a:cubicBezTo>
                  <a:pt x="68039" y="112242"/>
                  <a:pt x="70928" y="112242"/>
                  <a:pt x="73234" y="110848"/>
                </a:cubicBezTo>
                <a:cubicBezTo>
                  <a:pt x="75539" y="109453"/>
                  <a:pt x="76880" y="106895"/>
                  <a:pt x="76716" y="104205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4" name="Text 52"/>
          <p:cNvSpPr/>
          <p:nvPr/>
        </p:nvSpPr>
        <p:spPr>
          <a:xfrm>
            <a:off x="681415" y="6313094"/>
            <a:ext cx="11119815" cy="20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94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Insight:</a:t>
            </a:r>
            <a:pPr>
              <a:lnSpc>
                <a:spcPct val="130000"/>
              </a:lnSpc>
            </a:pPr>
            <a:r>
              <a:rPr lang="en-US" sz="1094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High support and confidence don't guarantee interesting patterns. Always check correlation measures to avoid misleading rules!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png.pngtree.com/612a78a73bcb4272cd44c0c358fdfd9bd60de023.webp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7278" b="7278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/>
              </a:gs>
              <a:gs pos="50000">
                <a:srgbClr val="1A1D21">
                  <a:alpha val="95000"/>
                </a:srgbClr>
              </a:gs>
              <a:gs pos="100000">
                <a:srgbClr val="1A1D21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2633663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152403" y="0"/>
                </a:moveTo>
                <a:lnTo>
                  <a:pt x="761997" y="0"/>
                </a:lnTo>
                <a:cubicBezTo>
                  <a:pt x="846110" y="0"/>
                  <a:pt x="914400" y="68290"/>
                  <a:pt x="914400" y="152403"/>
                </a:cubicBezTo>
                <a:lnTo>
                  <a:pt x="914400" y="761997"/>
                </a:lnTo>
                <a:cubicBezTo>
                  <a:pt x="914400" y="846110"/>
                  <a:pt x="846110" y="914400"/>
                  <a:pt x="761997" y="914400"/>
                </a:cubicBezTo>
                <a:lnTo>
                  <a:pt x="152403" y="914400"/>
                </a:lnTo>
                <a:cubicBezTo>
                  <a:pt x="68290" y="914400"/>
                  <a:pt x="0" y="846110"/>
                  <a:pt x="0" y="761997"/>
                </a:cubicBezTo>
                <a:lnTo>
                  <a:pt x="0" y="152403"/>
                </a:lnTo>
                <a:cubicBezTo>
                  <a:pt x="0" y="68290"/>
                  <a:pt x="68290" y="0"/>
                  <a:pt x="152403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5" name="Text 2"/>
          <p:cNvSpPr/>
          <p:nvPr/>
        </p:nvSpPr>
        <p:spPr>
          <a:xfrm>
            <a:off x="266700" y="2633663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b="1" dirty="0">
                <a:solidFill>
                  <a:srgbClr val="1A1D21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07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4000" y="2709863"/>
            <a:ext cx="38100" cy="762000"/>
          </a:xfrm>
          <a:custGeom>
            <a:avLst/>
            <a:gdLst/>
            <a:ahLst/>
            <a:cxnLst/>
            <a:rect l="l" t="t" r="r" b="b"/>
            <a:pathLst>
              <a:path w="38100" h="762000">
                <a:moveTo>
                  <a:pt x="0" y="0"/>
                </a:moveTo>
                <a:lnTo>
                  <a:pt x="38100" y="0"/>
                </a:lnTo>
                <a:lnTo>
                  <a:pt x="381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4"/>
          <p:cNvSpPr/>
          <p:nvPr/>
        </p:nvSpPr>
        <p:spPr>
          <a:xfrm>
            <a:off x="1790700" y="2205038"/>
            <a:ext cx="4695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spc="15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Chapter Seven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90700" y="2547938"/>
            <a:ext cx="4886325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Constraint-Based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Mining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00200" y="4281488"/>
            <a:ext cx="65722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Incorporating user constraints into the association mining process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Constraint-Based Mining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Anti-Monotonic &amp; Monotonic Constraints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19200"/>
            <a:ext cx="5619750" cy="2590800"/>
          </a:xfrm>
          <a:custGeom>
            <a:avLst/>
            <a:gdLst/>
            <a:ahLst/>
            <a:cxnLst/>
            <a:rect l="l" t="t" r="r" b="b"/>
            <a:pathLst>
              <a:path w="5619750" h="2590800">
                <a:moveTo>
                  <a:pt x="38100" y="0"/>
                </a:moveTo>
                <a:lnTo>
                  <a:pt x="5543555" y="0"/>
                </a:lnTo>
                <a:cubicBezTo>
                  <a:pt x="5585608" y="0"/>
                  <a:pt x="5619750" y="34142"/>
                  <a:pt x="5619750" y="76195"/>
                </a:cubicBezTo>
                <a:lnTo>
                  <a:pt x="5619750" y="2514605"/>
                </a:lnTo>
                <a:cubicBezTo>
                  <a:pt x="5619750" y="2556686"/>
                  <a:pt x="5585636" y="2590800"/>
                  <a:pt x="5543555" y="2590800"/>
                </a:cubicBez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C8A97E">
                  <a:alpha val="20000"/>
                </a:srgbClr>
              </a:gs>
              <a:gs pos="100000">
                <a:srgbClr val="C8A97E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5" name="Shape 3"/>
          <p:cNvSpPr/>
          <p:nvPr/>
        </p:nvSpPr>
        <p:spPr>
          <a:xfrm>
            <a:off x="400050" y="121920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3810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Shape 4"/>
          <p:cNvSpPr/>
          <p:nvPr/>
        </p:nvSpPr>
        <p:spPr>
          <a:xfrm>
            <a:off x="595313" y="1409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36624" y="153479"/>
                </a:moveTo>
                <a:lnTo>
                  <a:pt x="37021" y="53876"/>
                </a:lnTo>
                <a:cubicBezTo>
                  <a:pt x="28687" y="65559"/>
                  <a:pt x="23812" y="79846"/>
                  <a:pt x="23812" y="95250"/>
                </a:cubicBezTo>
                <a:cubicBezTo>
                  <a:pt x="23812" y="134689"/>
                  <a:pt x="55811" y="166688"/>
                  <a:pt x="95250" y="166688"/>
                </a:cubicBezTo>
                <a:cubicBezTo>
                  <a:pt x="110691" y="166688"/>
                  <a:pt x="124978" y="161813"/>
                  <a:pt x="136624" y="153479"/>
                </a:cubicBezTo>
                <a:close/>
                <a:moveTo>
                  <a:pt x="153479" y="136624"/>
                </a:moveTo>
                <a:cubicBezTo>
                  <a:pt x="161813" y="124941"/>
                  <a:pt x="166688" y="110654"/>
                  <a:pt x="166688" y="95250"/>
                </a:cubicBezTo>
                <a:cubicBezTo>
                  <a:pt x="166688" y="55811"/>
                  <a:pt x="134689" y="23812"/>
                  <a:pt x="95250" y="23812"/>
                </a:cubicBezTo>
                <a:cubicBezTo>
                  <a:pt x="79809" y="23812"/>
                  <a:pt x="65522" y="28687"/>
                  <a:pt x="53876" y="37021"/>
                </a:cubicBezTo>
                <a:lnTo>
                  <a:pt x="153479" y="136624"/>
                </a:ln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7" name="Text 5"/>
          <p:cNvSpPr/>
          <p:nvPr/>
        </p:nvSpPr>
        <p:spPr>
          <a:xfrm>
            <a:off x="809625" y="13716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Anti-Monotonic Constraints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71500" y="17526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an itemset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violates the constraint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supersets of 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also violate it. Enables aggressive pruning.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71500" y="2362200"/>
            <a:ext cx="5295900" cy="1295400"/>
          </a:xfrm>
          <a:custGeom>
            <a:avLst/>
            <a:gdLst/>
            <a:ahLst/>
            <a:cxnLst/>
            <a:rect l="l" t="t" r="r" b="b"/>
            <a:pathLst>
              <a:path w="5295900" h="1295400">
                <a:moveTo>
                  <a:pt x="38098" y="0"/>
                </a:moveTo>
                <a:lnTo>
                  <a:pt x="5257802" y="0"/>
                </a:lnTo>
                <a:cubicBezTo>
                  <a:pt x="5278829" y="0"/>
                  <a:pt x="5295900" y="17071"/>
                  <a:pt x="5295900" y="38098"/>
                </a:cubicBezTo>
                <a:lnTo>
                  <a:pt x="5295900" y="1257302"/>
                </a:lnTo>
                <a:cubicBezTo>
                  <a:pt x="5295900" y="1278343"/>
                  <a:pt x="5278843" y="1295400"/>
                  <a:pt x="5257802" y="1295400"/>
                </a:cubicBezTo>
                <a:lnTo>
                  <a:pt x="38098" y="1295400"/>
                </a:lnTo>
                <a:cubicBezTo>
                  <a:pt x="17071" y="1295400"/>
                  <a:pt x="0" y="1278329"/>
                  <a:pt x="0" y="12573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505075"/>
            <a:ext cx="74815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27813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sum(S.price) ≤ v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Total price at most $v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0480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count(S) ≤ k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At most k items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85800" y="33147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range(S.profit) ≤ v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Profit range limited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1000" y="3924300"/>
            <a:ext cx="5638800" cy="2876550"/>
          </a:xfrm>
          <a:custGeom>
            <a:avLst/>
            <a:gdLst/>
            <a:ahLst/>
            <a:cxnLst/>
            <a:rect l="l" t="t" r="r" b="b"/>
            <a:pathLst>
              <a:path w="5638800" h="2876550">
                <a:moveTo>
                  <a:pt x="76200" y="0"/>
                </a:moveTo>
                <a:lnTo>
                  <a:pt x="5562600" y="0"/>
                </a:lnTo>
                <a:cubicBezTo>
                  <a:pt x="5604684" y="0"/>
                  <a:pt x="5638800" y="34116"/>
                  <a:pt x="5638800" y="76200"/>
                </a:cubicBezTo>
                <a:lnTo>
                  <a:pt x="5638800" y="2800350"/>
                </a:lnTo>
                <a:cubicBezTo>
                  <a:pt x="5638800" y="2842434"/>
                  <a:pt x="5604684" y="2876550"/>
                  <a:pt x="5562600" y="2876550"/>
                </a:cubicBezTo>
                <a:lnTo>
                  <a:pt x="76200" y="2876550"/>
                </a:lnTo>
                <a:cubicBezTo>
                  <a:pt x="34116" y="2876550"/>
                  <a:pt x="0" y="2842434"/>
                  <a:pt x="0" y="2800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15" name="Text 13"/>
          <p:cNvSpPr/>
          <p:nvPr/>
        </p:nvSpPr>
        <p:spPr>
          <a:xfrm>
            <a:off x="533400" y="407670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Anti-Monotonic Example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33400" y="4457700"/>
            <a:ext cx="5334000" cy="1028700"/>
          </a:xfrm>
          <a:custGeom>
            <a:avLst/>
            <a:gdLst/>
            <a:ahLst/>
            <a:cxnLst/>
            <a:rect l="l" t="t" r="r" b="b"/>
            <a:pathLst>
              <a:path w="5334000" h="1028700">
                <a:moveTo>
                  <a:pt x="38103" y="0"/>
                </a:moveTo>
                <a:lnTo>
                  <a:pt x="5295897" y="0"/>
                </a:lnTo>
                <a:cubicBezTo>
                  <a:pt x="5316941" y="0"/>
                  <a:pt x="5334000" y="17059"/>
                  <a:pt x="5334000" y="38103"/>
                </a:cubicBezTo>
                <a:lnTo>
                  <a:pt x="5334000" y="990597"/>
                </a:lnTo>
                <a:cubicBezTo>
                  <a:pt x="5334000" y="1011641"/>
                  <a:pt x="5316941" y="1028700"/>
                  <a:pt x="5295897" y="1028700"/>
                </a:cubicBezTo>
                <a:lnTo>
                  <a:pt x="38103" y="1028700"/>
                </a:lnTo>
                <a:cubicBezTo>
                  <a:pt x="17059" y="1028700"/>
                  <a:pt x="0" y="1011641"/>
                  <a:pt x="0" y="990597"/>
                </a:cubicBezTo>
                <a:lnTo>
                  <a:pt x="0" y="38103"/>
                </a:lnTo>
                <a:cubicBezTo>
                  <a:pt x="0" y="17073"/>
                  <a:pt x="17073" y="0"/>
                  <a:pt x="38103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17" name="Text 15"/>
          <p:cNvSpPr/>
          <p:nvPr/>
        </p:nvSpPr>
        <p:spPr>
          <a:xfrm>
            <a:off x="647700" y="457200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Constraint: sum(S.profit) ≤ 15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47700" y="487680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a: 40, b: 0, c: -20, d: 10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7700" y="514350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e: -30, f: 30, g: 20, h: -10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33400" y="560070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38099" y="0"/>
                </a:moveTo>
                <a:lnTo>
                  <a:pt x="5295901" y="0"/>
                </a:lnTo>
                <a:cubicBezTo>
                  <a:pt x="5316928" y="0"/>
                  <a:pt x="5334000" y="17072"/>
                  <a:pt x="5334000" y="38099"/>
                </a:cubicBezTo>
                <a:lnTo>
                  <a:pt x="5334000" y="685801"/>
                </a:lnTo>
                <a:cubicBezTo>
                  <a:pt x="5334000" y="706828"/>
                  <a:pt x="5316928" y="723900"/>
                  <a:pt x="52959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4A6C8C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47700" y="571500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Itemset {a,b}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sum = 40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VIOLATES constraint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7700" y="598170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Therefore, ALL supersets of {a,b} can be pruned!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1250" y="1219200"/>
            <a:ext cx="5619750" cy="2590800"/>
          </a:xfrm>
          <a:custGeom>
            <a:avLst/>
            <a:gdLst/>
            <a:ahLst/>
            <a:cxnLst/>
            <a:rect l="l" t="t" r="r" b="b"/>
            <a:pathLst>
              <a:path w="5619750" h="2590800">
                <a:moveTo>
                  <a:pt x="38100" y="0"/>
                </a:moveTo>
                <a:lnTo>
                  <a:pt x="5543555" y="0"/>
                </a:lnTo>
                <a:cubicBezTo>
                  <a:pt x="5585608" y="0"/>
                  <a:pt x="5619750" y="34142"/>
                  <a:pt x="5619750" y="76195"/>
                </a:cubicBezTo>
                <a:lnTo>
                  <a:pt x="5619750" y="2514605"/>
                </a:lnTo>
                <a:cubicBezTo>
                  <a:pt x="5619750" y="2556686"/>
                  <a:pt x="5585636" y="2590800"/>
                  <a:pt x="5543555" y="2590800"/>
                </a:cubicBez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rotWithShape="1" flip="none">
            <a:gsLst>
              <a:gs pos="0">
                <a:srgbClr val="4A6C8C">
                  <a:alpha val="20000"/>
                </a:srgbClr>
              </a:gs>
              <a:gs pos="100000">
                <a:srgbClr val="4A6C8C">
                  <a:alpha val="5000"/>
                </a:srgbClr>
              </a:gs>
            </a:gsLst>
            <a:lin ang="2700000" scaled="1"/>
          </a:gradFill>
          <a:ln/>
        </p:spPr>
      </p:sp>
      <p:sp>
        <p:nvSpPr>
          <p:cNvPr id="24" name="Shape 22"/>
          <p:cNvSpPr/>
          <p:nvPr/>
        </p:nvSpPr>
        <p:spPr>
          <a:xfrm>
            <a:off x="6191250" y="1219200"/>
            <a:ext cx="38100" cy="2590800"/>
          </a:xfrm>
          <a:custGeom>
            <a:avLst/>
            <a:gdLst/>
            <a:ahLst/>
            <a:cxnLst/>
            <a:rect l="l" t="t" r="r" b="b"/>
            <a:pathLst>
              <a:path w="38100" h="2590800">
                <a:moveTo>
                  <a:pt x="38100" y="0"/>
                </a:moveTo>
                <a:lnTo>
                  <a:pt x="38100" y="0"/>
                </a:lnTo>
                <a:lnTo>
                  <a:pt x="38100" y="2590800"/>
                </a:lnTo>
                <a:lnTo>
                  <a:pt x="38100" y="2590800"/>
                </a:lnTo>
                <a:cubicBezTo>
                  <a:pt x="17072" y="2590800"/>
                  <a:pt x="0" y="2573728"/>
                  <a:pt x="0" y="25527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5" name="Shape 23"/>
          <p:cNvSpPr/>
          <p:nvPr/>
        </p:nvSpPr>
        <p:spPr>
          <a:xfrm>
            <a:off x="6386513" y="14097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26" name="Text 24"/>
          <p:cNvSpPr/>
          <p:nvPr/>
        </p:nvSpPr>
        <p:spPr>
          <a:xfrm>
            <a:off x="6600825" y="1371600"/>
            <a:ext cx="5153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Monotonic Constraints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62700" y="1752600"/>
            <a:ext cx="53721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 an itemset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 satisfies the constraint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then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supersets of 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also satisfy it. Enables early termination.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362700" y="2362200"/>
            <a:ext cx="5295900" cy="1295400"/>
          </a:xfrm>
          <a:custGeom>
            <a:avLst/>
            <a:gdLst/>
            <a:ahLst/>
            <a:cxnLst/>
            <a:rect l="l" t="t" r="r" b="b"/>
            <a:pathLst>
              <a:path w="5295900" h="1295400">
                <a:moveTo>
                  <a:pt x="38098" y="0"/>
                </a:moveTo>
                <a:lnTo>
                  <a:pt x="5257802" y="0"/>
                </a:lnTo>
                <a:cubicBezTo>
                  <a:pt x="5278829" y="0"/>
                  <a:pt x="5295900" y="17071"/>
                  <a:pt x="5295900" y="38098"/>
                </a:cubicBezTo>
                <a:lnTo>
                  <a:pt x="5295900" y="1257302"/>
                </a:lnTo>
                <a:cubicBezTo>
                  <a:pt x="5295900" y="1278343"/>
                  <a:pt x="5278843" y="1295400"/>
                  <a:pt x="5257802" y="1295400"/>
                </a:cubicBezTo>
                <a:lnTo>
                  <a:pt x="38098" y="1295400"/>
                </a:lnTo>
                <a:cubicBezTo>
                  <a:pt x="17071" y="1295400"/>
                  <a:pt x="0" y="1278329"/>
                  <a:pt x="0" y="1257302"/>
                </a:cubicBezTo>
                <a:lnTo>
                  <a:pt x="0" y="38098"/>
                </a:lnTo>
                <a:cubicBezTo>
                  <a:pt x="0" y="17071"/>
                  <a:pt x="17071" y="0"/>
                  <a:pt x="38098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29" name="Text 27"/>
          <p:cNvSpPr/>
          <p:nvPr/>
        </p:nvSpPr>
        <p:spPr>
          <a:xfrm>
            <a:off x="6477000" y="2505075"/>
            <a:ext cx="748159" cy="16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4A6C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Examples: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77000" y="27813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sum(S.price) ≥ v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Total price at least $v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77000" y="30480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count(S) ≥ k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At least k items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77000" y="3314700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</a:t>
            </a:r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min(S.price) ≤ v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- Contains cheap item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72200" y="3924300"/>
            <a:ext cx="5638800" cy="2057400"/>
          </a:xfrm>
          <a:custGeom>
            <a:avLst/>
            <a:gdLst/>
            <a:ahLst/>
            <a:cxnLst/>
            <a:rect l="l" t="t" r="r" b="b"/>
            <a:pathLst>
              <a:path w="5638800" h="2057400">
                <a:moveTo>
                  <a:pt x="76206" y="0"/>
                </a:moveTo>
                <a:lnTo>
                  <a:pt x="5562594" y="0"/>
                </a:lnTo>
                <a:cubicBezTo>
                  <a:pt x="5604681" y="0"/>
                  <a:pt x="5638800" y="34119"/>
                  <a:pt x="5638800" y="76206"/>
                </a:cubicBezTo>
                <a:lnTo>
                  <a:pt x="5638800" y="1981194"/>
                </a:lnTo>
                <a:cubicBezTo>
                  <a:pt x="5638800" y="2023281"/>
                  <a:pt x="5604681" y="2057400"/>
                  <a:pt x="5562594" y="2057400"/>
                </a:cubicBezTo>
                <a:lnTo>
                  <a:pt x="76206" y="2057400"/>
                </a:lnTo>
                <a:cubicBezTo>
                  <a:pt x="34119" y="2057400"/>
                  <a:pt x="0" y="2023281"/>
                  <a:pt x="0" y="1981194"/>
                </a:cubicBezTo>
                <a:lnTo>
                  <a:pt x="0" y="76206"/>
                </a:lnTo>
                <a:cubicBezTo>
                  <a:pt x="0" y="34147"/>
                  <a:pt x="34147" y="0"/>
                  <a:pt x="76206" y="0"/>
                </a:cubicBezTo>
                <a:close/>
              </a:path>
            </a:pathLst>
          </a:custGeom>
          <a:solidFill>
            <a:srgbClr val="2D3136"/>
          </a:solidFill>
          <a:ln/>
        </p:spPr>
      </p:sp>
      <p:sp>
        <p:nvSpPr>
          <p:cNvPr id="34" name="Text 32"/>
          <p:cNvSpPr/>
          <p:nvPr/>
        </p:nvSpPr>
        <p:spPr>
          <a:xfrm>
            <a:off x="6324600" y="4076700"/>
            <a:ext cx="5429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Monotonic Example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24600" y="4457700"/>
            <a:ext cx="5334000" cy="533400"/>
          </a:xfrm>
          <a:custGeom>
            <a:avLst/>
            <a:gdLst/>
            <a:ahLst/>
            <a:cxnLst/>
            <a:rect l="l" t="t" r="r" b="b"/>
            <a:pathLst>
              <a:path w="5334000" h="533400">
                <a:moveTo>
                  <a:pt x="38101" y="0"/>
                </a:moveTo>
                <a:lnTo>
                  <a:pt x="5295899" y="0"/>
                </a:lnTo>
                <a:cubicBezTo>
                  <a:pt x="5316942" y="0"/>
                  <a:pt x="5334000" y="17058"/>
                  <a:pt x="5334000" y="38101"/>
                </a:cubicBezTo>
                <a:lnTo>
                  <a:pt x="5334000" y="495299"/>
                </a:lnTo>
                <a:cubicBezTo>
                  <a:pt x="5334000" y="516342"/>
                  <a:pt x="5316942" y="533400"/>
                  <a:pt x="5295899" y="533400"/>
                </a:cubicBezTo>
                <a:lnTo>
                  <a:pt x="38101" y="533400"/>
                </a:lnTo>
                <a:cubicBezTo>
                  <a:pt x="17058" y="533400"/>
                  <a:pt x="0" y="516342"/>
                  <a:pt x="0" y="4952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6" name="Text 34"/>
          <p:cNvSpPr/>
          <p:nvPr/>
        </p:nvSpPr>
        <p:spPr>
          <a:xfrm>
            <a:off x="6438900" y="457200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Constraint: range(S.profit) ≥ 15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324600" y="5105400"/>
            <a:ext cx="5334000" cy="723900"/>
          </a:xfrm>
          <a:custGeom>
            <a:avLst/>
            <a:gdLst/>
            <a:ahLst/>
            <a:cxnLst/>
            <a:rect l="l" t="t" r="r" b="b"/>
            <a:pathLst>
              <a:path w="5334000" h="723900">
                <a:moveTo>
                  <a:pt x="38099" y="0"/>
                </a:moveTo>
                <a:lnTo>
                  <a:pt x="5295901" y="0"/>
                </a:lnTo>
                <a:cubicBezTo>
                  <a:pt x="5316928" y="0"/>
                  <a:pt x="5334000" y="17072"/>
                  <a:pt x="5334000" y="38099"/>
                </a:cubicBezTo>
                <a:lnTo>
                  <a:pt x="5334000" y="685801"/>
                </a:lnTo>
                <a:cubicBezTo>
                  <a:pt x="5334000" y="706828"/>
                  <a:pt x="5316928" y="723900"/>
                  <a:pt x="52959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C8A97E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6438900" y="521970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Itemset {a,b}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has range = 40 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→ SATISFIES constraint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438900" y="5486400"/>
            <a:ext cx="518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Therefore, ALL supersets automatically satisfy it too!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176963" y="6100763"/>
            <a:ext cx="5629275" cy="695325"/>
          </a:xfrm>
          <a:custGeom>
            <a:avLst/>
            <a:gdLst/>
            <a:ahLst/>
            <a:cxnLst/>
            <a:rect l="l" t="t" r="r" b="b"/>
            <a:pathLst>
              <a:path w="5629275" h="695325">
                <a:moveTo>
                  <a:pt x="76201" y="0"/>
                </a:moveTo>
                <a:lnTo>
                  <a:pt x="5553074" y="0"/>
                </a:lnTo>
                <a:cubicBezTo>
                  <a:pt x="5595159" y="0"/>
                  <a:pt x="5629275" y="34116"/>
                  <a:pt x="5629275" y="76201"/>
                </a:cubicBezTo>
                <a:lnTo>
                  <a:pt x="5629275" y="619124"/>
                </a:lnTo>
                <a:cubicBezTo>
                  <a:pt x="5629275" y="661209"/>
                  <a:pt x="5595159" y="695325"/>
                  <a:pt x="5553074" y="695325"/>
                </a:cubicBezTo>
                <a:lnTo>
                  <a:pt x="76201" y="695325"/>
                </a:lnTo>
                <a:cubicBezTo>
                  <a:pt x="34116" y="695325"/>
                  <a:pt x="0" y="661209"/>
                  <a:pt x="0" y="619124"/>
                </a:cubicBezTo>
                <a:lnTo>
                  <a:pt x="0" y="76201"/>
                </a:lnTo>
                <a:cubicBezTo>
                  <a:pt x="0" y="34116"/>
                  <a:pt x="34116" y="0"/>
                  <a:pt x="76201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34125" y="6253163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42" name="Text 40"/>
          <p:cNvSpPr/>
          <p:nvPr/>
        </p:nvSpPr>
        <p:spPr>
          <a:xfrm>
            <a:off x="6543675" y="6219825"/>
            <a:ext cx="52197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Constraint Pushing: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Push constraints deep into mining for efficiency. Anti-monotone: prune early. Monotone: skip checking supersets.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2c6bfebdbaeebd1e7014968daff457c5930b5478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4A6C8C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00050" y="466725"/>
            <a:ext cx="1333500" cy="419100"/>
          </a:xfrm>
          <a:custGeom>
            <a:avLst/>
            <a:gdLst/>
            <a:ahLst/>
            <a:cxnLst/>
            <a:rect l="l" t="t" r="r" b="b"/>
            <a:pathLst>
              <a:path w="1333500" h="419100">
                <a:moveTo>
                  <a:pt x="0" y="0"/>
                </a:moveTo>
                <a:lnTo>
                  <a:pt x="1333500" y="0"/>
                </a:lnTo>
                <a:lnTo>
                  <a:pt x="13335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>
              <a:alpha val="14902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00050" y="46672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0" y="419100"/>
                </a:lnTo>
                <a:lnTo>
                  <a:pt x="0" y="0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6" name="Text 3"/>
          <p:cNvSpPr/>
          <p:nvPr/>
        </p:nvSpPr>
        <p:spPr>
          <a:xfrm>
            <a:off x="609600" y="542925"/>
            <a:ext cx="10191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spc="135" kern="0" dirty="0">
                <a:solidFill>
                  <a:srgbClr val="C8A9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114425"/>
            <a:ext cx="11715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500" b="1" dirty="0">
                <a:solidFill>
                  <a:srgbClr val="E0E2E5"/>
                </a:solidFill>
                <a:latin typeface="Hedvig Letters Sans" pitchFamily="34" charset="0"/>
                <a:ea typeface="Hedvig Letters Sans" pitchFamily="34" charset="-122"/>
                <a:cs typeface="Hedvig Letters Sans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0050" y="23622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>
              <a:alpha val="8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400050" y="23622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0" name="Shape 7"/>
          <p:cNvSpPr/>
          <p:nvPr/>
        </p:nvSpPr>
        <p:spPr>
          <a:xfrm>
            <a:off x="623888" y="25717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28588" y="0"/>
                </a:moveTo>
                <a:cubicBezTo>
                  <a:pt x="131534" y="0"/>
                  <a:pt x="134347" y="1206"/>
                  <a:pt x="136356" y="3349"/>
                </a:cubicBezTo>
                <a:lnTo>
                  <a:pt x="200650" y="71214"/>
                </a:lnTo>
                <a:lnTo>
                  <a:pt x="200873" y="71438"/>
                </a:lnTo>
                <a:lnTo>
                  <a:pt x="235744" y="71438"/>
                </a:lnTo>
                <a:cubicBezTo>
                  <a:pt x="243647" y="71438"/>
                  <a:pt x="250031" y="77822"/>
                  <a:pt x="250031" y="85725"/>
                </a:cubicBezTo>
                <a:cubicBezTo>
                  <a:pt x="250031" y="92199"/>
                  <a:pt x="245745" y="97646"/>
                  <a:pt x="239851" y="99432"/>
                </a:cubicBezTo>
                <a:lnTo>
                  <a:pt x="219268" y="191944"/>
                </a:lnTo>
                <a:cubicBezTo>
                  <a:pt x="216366" y="205026"/>
                  <a:pt x="204758" y="214313"/>
                  <a:pt x="191363" y="214313"/>
                </a:cubicBezTo>
                <a:lnTo>
                  <a:pt x="65767" y="214313"/>
                </a:lnTo>
                <a:cubicBezTo>
                  <a:pt x="52373" y="214313"/>
                  <a:pt x="40764" y="205026"/>
                  <a:pt x="37862" y="191944"/>
                </a:cubicBezTo>
                <a:lnTo>
                  <a:pt x="17324" y="99432"/>
                </a:lnTo>
                <a:cubicBezTo>
                  <a:pt x="11430" y="97691"/>
                  <a:pt x="7144" y="92199"/>
                  <a:pt x="7144" y="85725"/>
                </a:cubicBezTo>
                <a:cubicBezTo>
                  <a:pt x="7144" y="77822"/>
                  <a:pt x="13528" y="71438"/>
                  <a:pt x="21431" y="71438"/>
                </a:cubicBezTo>
                <a:lnTo>
                  <a:pt x="56302" y="71438"/>
                </a:lnTo>
                <a:lnTo>
                  <a:pt x="56525" y="71214"/>
                </a:lnTo>
                <a:lnTo>
                  <a:pt x="120819" y="3349"/>
                </a:lnTo>
                <a:cubicBezTo>
                  <a:pt x="122828" y="1206"/>
                  <a:pt x="125641" y="0"/>
                  <a:pt x="128588" y="0"/>
                </a:cubicBezTo>
                <a:close/>
                <a:moveTo>
                  <a:pt x="128588" y="26298"/>
                </a:moveTo>
                <a:lnTo>
                  <a:pt x="85814" y="71438"/>
                </a:lnTo>
                <a:lnTo>
                  <a:pt x="171361" y="71438"/>
                </a:lnTo>
                <a:lnTo>
                  <a:pt x="128588" y="26298"/>
                </a:lnTo>
                <a:close/>
                <a:moveTo>
                  <a:pt x="92869" y="117872"/>
                </a:moveTo>
                <a:cubicBezTo>
                  <a:pt x="92869" y="111934"/>
                  <a:pt x="88091" y="107156"/>
                  <a:pt x="82153" y="107156"/>
                </a:cubicBezTo>
                <a:cubicBezTo>
                  <a:pt x="76215" y="107156"/>
                  <a:pt x="71438" y="111934"/>
                  <a:pt x="71438" y="117872"/>
                </a:cubicBezTo>
                <a:lnTo>
                  <a:pt x="71438" y="167878"/>
                </a:lnTo>
                <a:cubicBezTo>
                  <a:pt x="71438" y="173816"/>
                  <a:pt x="76215" y="178594"/>
                  <a:pt x="82153" y="178594"/>
                </a:cubicBezTo>
                <a:cubicBezTo>
                  <a:pt x="88091" y="178594"/>
                  <a:pt x="92869" y="173816"/>
                  <a:pt x="92869" y="167878"/>
                </a:cubicBezTo>
                <a:lnTo>
                  <a:pt x="92869" y="117872"/>
                </a:lnTo>
                <a:close/>
                <a:moveTo>
                  <a:pt x="128588" y="107156"/>
                </a:moveTo>
                <a:cubicBezTo>
                  <a:pt x="122649" y="107156"/>
                  <a:pt x="117872" y="111934"/>
                  <a:pt x="117872" y="117872"/>
                </a:cubicBezTo>
                <a:lnTo>
                  <a:pt x="117872" y="167878"/>
                </a:lnTo>
                <a:cubicBezTo>
                  <a:pt x="117872" y="173816"/>
                  <a:pt x="122649" y="178594"/>
                  <a:pt x="128588" y="178594"/>
                </a:cubicBezTo>
                <a:cubicBezTo>
                  <a:pt x="134526" y="178594"/>
                  <a:pt x="139303" y="173816"/>
                  <a:pt x="139303" y="167878"/>
                </a:cubicBezTo>
                <a:lnTo>
                  <a:pt x="139303" y="117872"/>
                </a:lnTo>
                <a:cubicBezTo>
                  <a:pt x="139303" y="111934"/>
                  <a:pt x="134526" y="107156"/>
                  <a:pt x="128588" y="107156"/>
                </a:cubicBezTo>
                <a:close/>
                <a:moveTo>
                  <a:pt x="185738" y="117872"/>
                </a:moveTo>
                <a:cubicBezTo>
                  <a:pt x="185738" y="111934"/>
                  <a:pt x="180960" y="107156"/>
                  <a:pt x="175022" y="107156"/>
                </a:cubicBezTo>
                <a:cubicBezTo>
                  <a:pt x="169084" y="107156"/>
                  <a:pt x="164306" y="111934"/>
                  <a:pt x="164306" y="117872"/>
                </a:cubicBezTo>
                <a:lnTo>
                  <a:pt x="164306" y="167878"/>
                </a:lnTo>
                <a:cubicBezTo>
                  <a:pt x="164306" y="173816"/>
                  <a:pt x="169084" y="178594"/>
                  <a:pt x="175022" y="178594"/>
                </a:cubicBezTo>
                <a:cubicBezTo>
                  <a:pt x="180960" y="178594"/>
                  <a:pt x="185738" y="173816"/>
                  <a:pt x="185738" y="167878"/>
                </a:cubicBezTo>
                <a:lnTo>
                  <a:pt x="185738" y="117872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11" name="Text 8"/>
          <p:cNvSpPr/>
          <p:nvPr/>
        </p:nvSpPr>
        <p:spPr>
          <a:xfrm>
            <a:off x="1009650" y="2552700"/>
            <a:ext cx="2047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Basket Analysis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09600" y="29337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Uncovers purchase patterns using association rules with support, confidence, and lift metrics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210300" y="23622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>
              <a:alpha val="8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210300" y="23622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5" name="Shape 12"/>
          <p:cNvSpPr/>
          <p:nvPr/>
        </p:nvSpPr>
        <p:spPr>
          <a:xfrm>
            <a:off x="6462713" y="257175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35719" y="46434"/>
                </a:moveTo>
                <a:cubicBezTo>
                  <a:pt x="41633" y="46434"/>
                  <a:pt x="46434" y="41633"/>
                  <a:pt x="46434" y="35719"/>
                </a:cubicBezTo>
                <a:cubicBezTo>
                  <a:pt x="46434" y="29805"/>
                  <a:pt x="41633" y="25003"/>
                  <a:pt x="35719" y="25003"/>
                </a:cubicBezTo>
                <a:cubicBezTo>
                  <a:pt x="29805" y="25003"/>
                  <a:pt x="25003" y="29805"/>
                  <a:pt x="25003" y="35719"/>
                </a:cubicBezTo>
                <a:cubicBezTo>
                  <a:pt x="25003" y="41633"/>
                  <a:pt x="29805" y="46434"/>
                  <a:pt x="35719" y="46434"/>
                </a:cubicBezTo>
                <a:close/>
                <a:moveTo>
                  <a:pt x="71438" y="35719"/>
                </a:moveTo>
                <a:cubicBezTo>
                  <a:pt x="71438" y="50363"/>
                  <a:pt x="62642" y="62954"/>
                  <a:pt x="50006" y="68446"/>
                </a:cubicBezTo>
                <a:lnTo>
                  <a:pt x="50006" y="100013"/>
                </a:lnTo>
                <a:lnTo>
                  <a:pt x="128588" y="100013"/>
                </a:lnTo>
                <a:cubicBezTo>
                  <a:pt x="140419" y="100013"/>
                  <a:pt x="150019" y="90413"/>
                  <a:pt x="150019" y="78581"/>
                </a:cubicBezTo>
                <a:lnTo>
                  <a:pt x="150019" y="68446"/>
                </a:lnTo>
                <a:cubicBezTo>
                  <a:pt x="137383" y="62954"/>
                  <a:pt x="128588" y="50363"/>
                  <a:pt x="128588" y="35719"/>
                </a:cubicBezTo>
                <a:cubicBezTo>
                  <a:pt x="128588" y="15984"/>
                  <a:pt x="144572" y="0"/>
                  <a:pt x="164306" y="0"/>
                </a:cubicBezTo>
                <a:cubicBezTo>
                  <a:pt x="184041" y="0"/>
                  <a:pt x="200025" y="15984"/>
                  <a:pt x="200025" y="35719"/>
                </a:cubicBezTo>
                <a:cubicBezTo>
                  <a:pt x="200025" y="50363"/>
                  <a:pt x="191229" y="62954"/>
                  <a:pt x="178594" y="68446"/>
                </a:cubicBezTo>
                <a:lnTo>
                  <a:pt x="178594" y="78581"/>
                </a:lnTo>
                <a:cubicBezTo>
                  <a:pt x="178594" y="106219"/>
                  <a:pt x="156225" y="128588"/>
                  <a:pt x="128588" y="128588"/>
                </a:cubicBezTo>
                <a:lnTo>
                  <a:pt x="50006" y="128588"/>
                </a:lnTo>
                <a:lnTo>
                  <a:pt x="50006" y="160154"/>
                </a:lnTo>
                <a:cubicBezTo>
                  <a:pt x="62642" y="165646"/>
                  <a:pt x="71438" y="178237"/>
                  <a:pt x="71438" y="192881"/>
                </a:cubicBezTo>
                <a:cubicBezTo>
                  <a:pt x="71438" y="212616"/>
                  <a:pt x="55453" y="228600"/>
                  <a:pt x="35719" y="228600"/>
                </a:cubicBezTo>
                <a:cubicBezTo>
                  <a:pt x="15984" y="228600"/>
                  <a:pt x="0" y="212616"/>
                  <a:pt x="0" y="192881"/>
                </a:cubicBezTo>
                <a:cubicBezTo>
                  <a:pt x="0" y="178237"/>
                  <a:pt x="8796" y="165646"/>
                  <a:pt x="21431" y="160154"/>
                </a:cubicBezTo>
                <a:lnTo>
                  <a:pt x="21431" y="68491"/>
                </a:lnTo>
                <a:cubicBezTo>
                  <a:pt x="8796" y="62954"/>
                  <a:pt x="0" y="50363"/>
                  <a:pt x="0" y="35719"/>
                </a:cubicBezTo>
                <a:cubicBezTo>
                  <a:pt x="0" y="15984"/>
                  <a:pt x="15984" y="0"/>
                  <a:pt x="35719" y="0"/>
                </a:cubicBezTo>
                <a:cubicBezTo>
                  <a:pt x="55453" y="0"/>
                  <a:pt x="71438" y="15984"/>
                  <a:pt x="71438" y="35719"/>
                </a:cubicBezTo>
                <a:close/>
                <a:moveTo>
                  <a:pt x="175022" y="35719"/>
                </a:moveTo>
                <a:cubicBezTo>
                  <a:pt x="175022" y="29805"/>
                  <a:pt x="170220" y="25003"/>
                  <a:pt x="164306" y="25003"/>
                </a:cubicBezTo>
                <a:cubicBezTo>
                  <a:pt x="158392" y="25003"/>
                  <a:pt x="153591" y="29805"/>
                  <a:pt x="153591" y="35719"/>
                </a:cubicBezTo>
                <a:cubicBezTo>
                  <a:pt x="153591" y="41633"/>
                  <a:pt x="158392" y="46434"/>
                  <a:pt x="164306" y="46434"/>
                </a:cubicBezTo>
                <a:cubicBezTo>
                  <a:pt x="170220" y="46434"/>
                  <a:pt x="175022" y="41633"/>
                  <a:pt x="175022" y="35719"/>
                </a:cubicBezTo>
                <a:close/>
                <a:moveTo>
                  <a:pt x="35719" y="203597"/>
                </a:moveTo>
                <a:cubicBezTo>
                  <a:pt x="41633" y="203597"/>
                  <a:pt x="46434" y="198795"/>
                  <a:pt x="46434" y="192881"/>
                </a:cubicBezTo>
                <a:cubicBezTo>
                  <a:pt x="46434" y="186967"/>
                  <a:pt x="41633" y="182166"/>
                  <a:pt x="35719" y="182166"/>
                </a:cubicBezTo>
                <a:cubicBezTo>
                  <a:pt x="29805" y="182166"/>
                  <a:pt x="25003" y="186967"/>
                  <a:pt x="25003" y="192881"/>
                </a:cubicBezTo>
                <a:cubicBezTo>
                  <a:pt x="25003" y="198795"/>
                  <a:pt x="29805" y="203597"/>
                  <a:pt x="35719" y="203597"/>
                </a:cubicBezTo>
                <a:close/>
              </a:path>
            </a:pathLst>
          </a:custGeom>
          <a:solidFill>
            <a:srgbClr val="4A6C8C"/>
          </a:solidFill>
          <a:ln/>
        </p:spPr>
      </p:sp>
      <p:sp>
        <p:nvSpPr>
          <p:cNvPr id="16" name="Text 13"/>
          <p:cNvSpPr/>
          <p:nvPr/>
        </p:nvSpPr>
        <p:spPr>
          <a:xfrm>
            <a:off x="6819900" y="2552700"/>
            <a:ext cx="1752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Algorithm Evolution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419850" y="29337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From Apriori's candidate generation to FP-Growth's tree compression, ECLAT's vertical format, and CHARM's closed itemsets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400050" y="38100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>
              <a:alpha val="8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400050" y="38100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0" name="Shape 17"/>
          <p:cNvSpPr/>
          <p:nvPr/>
        </p:nvSpPr>
        <p:spPr>
          <a:xfrm>
            <a:off x="638175" y="4019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788A9C"/>
          </a:solidFill>
          <a:ln/>
        </p:spPr>
      </p:sp>
      <p:sp>
        <p:nvSpPr>
          <p:cNvPr id="21" name="Text 18"/>
          <p:cNvSpPr/>
          <p:nvPr/>
        </p:nvSpPr>
        <p:spPr>
          <a:xfrm>
            <a:off x="1009650" y="400050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Correlation Measures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09600" y="43815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Lift, interest factor, and conviction help identify truly interesting patterns beyond frequency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210300" y="3810000"/>
            <a:ext cx="5600700" cy="1257300"/>
          </a:xfrm>
          <a:custGeom>
            <a:avLst/>
            <a:gdLst/>
            <a:ahLst/>
            <a:cxnLst/>
            <a:rect l="l" t="t" r="r" b="b"/>
            <a:pathLst>
              <a:path w="5600700" h="1257300">
                <a:moveTo>
                  <a:pt x="38100" y="0"/>
                </a:moveTo>
                <a:lnTo>
                  <a:pt x="5524495" y="0"/>
                </a:lnTo>
                <a:cubicBezTo>
                  <a:pt x="5566582" y="0"/>
                  <a:pt x="5600700" y="34118"/>
                  <a:pt x="5600700" y="76205"/>
                </a:cubicBezTo>
                <a:lnTo>
                  <a:pt x="5600700" y="1181095"/>
                </a:lnTo>
                <a:cubicBezTo>
                  <a:pt x="5600700" y="1223182"/>
                  <a:pt x="5566582" y="1257300"/>
                  <a:pt x="5524495" y="1257300"/>
                </a:cubicBez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D3136">
              <a:alpha val="8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6210300" y="3810000"/>
            <a:ext cx="38100" cy="1257300"/>
          </a:xfrm>
          <a:custGeom>
            <a:avLst/>
            <a:gdLst/>
            <a:ahLst/>
            <a:cxnLst/>
            <a:rect l="l" t="t" r="r" b="b"/>
            <a:pathLst>
              <a:path w="38100" h="1257300">
                <a:moveTo>
                  <a:pt x="38100" y="0"/>
                </a:moveTo>
                <a:lnTo>
                  <a:pt x="38100" y="0"/>
                </a:lnTo>
                <a:lnTo>
                  <a:pt x="38100" y="1257300"/>
                </a:lnTo>
                <a:lnTo>
                  <a:pt x="38100" y="1257300"/>
                </a:lnTo>
                <a:cubicBezTo>
                  <a:pt x="17072" y="1257300"/>
                  <a:pt x="0" y="1240228"/>
                  <a:pt x="0" y="12192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5" name="Shape 22"/>
          <p:cNvSpPr/>
          <p:nvPr/>
        </p:nvSpPr>
        <p:spPr>
          <a:xfrm>
            <a:off x="6448425" y="401955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28575"/>
                </a:moveTo>
                <a:cubicBezTo>
                  <a:pt x="8528" y="28575"/>
                  <a:pt x="3304" y="32058"/>
                  <a:pt x="1072" y="37415"/>
                </a:cubicBezTo>
                <a:cubicBezTo>
                  <a:pt x="-1161" y="42773"/>
                  <a:pt x="89" y="48890"/>
                  <a:pt x="4197" y="52953"/>
                </a:cubicBezTo>
                <a:lnTo>
                  <a:pt x="85725" y="134526"/>
                </a:lnTo>
                <a:lnTo>
                  <a:pt x="85725" y="185738"/>
                </a:lnTo>
                <a:cubicBezTo>
                  <a:pt x="85725" y="189533"/>
                  <a:pt x="87243" y="193149"/>
                  <a:pt x="89922" y="195828"/>
                </a:cubicBezTo>
                <a:lnTo>
                  <a:pt x="118497" y="224403"/>
                </a:lnTo>
                <a:cubicBezTo>
                  <a:pt x="122605" y="228511"/>
                  <a:pt x="128721" y="229716"/>
                  <a:pt x="134079" y="227484"/>
                </a:cubicBezTo>
                <a:cubicBezTo>
                  <a:pt x="139437" y="225251"/>
                  <a:pt x="142875" y="220072"/>
                  <a:pt x="142875" y="214313"/>
                </a:cubicBezTo>
                <a:lnTo>
                  <a:pt x="142875" y="134526"/>
                </a:lnTo>
                <a:lnTo>
                  <a:pt x="224403" y="52998"/>
                </a:lnTo>
                <a:cubicBezTo>
                  <a:pt x="228511" y="48890"/>
                  <a:pt x="229716" y="42773"/>
                  <a:pt x="227484" y="37415"/>
                </a:cubicBezTo>
                <a:cubicBezTo>
                  <a:pt x="225251" y="32058"/>
                  <a:pt x="220072" y="28575"/>
                  <a:pt x="214313" y="28575"/>
                </a:cubicBezTo>
                <a:lnTo>
                  <a:pt x="14288" y="28575"/>
                </a:ln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26" name="Text 23"/>
          <p:cNvSpPr/>
          <p:nvPr/>
        </p:nvSpPr>
        <p:spPr>
          <a:xfrm>
            <a:off x="6819900" y="4000500"/>
            <a:ext cx="2190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0E2E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Constraint-Based Mining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419850" y="4381500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788A9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Anti-monotonic and monotonic constraints focus results on business-relevant rules efficiently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385763" y="5376863"/>
            <a:ext cx="11420475" cy="1009650"/>
          </a:xfrm>
          <a:custGeom>
            <a:avLst/>
            <a:gdLst/>
            <a:ahLst/>
            <a:cxnLst/>
            <a:rect l="l" t="t" r="r" b="b"/>
            <a:pathLst>
              <a:path w="11420475" h="1009650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933452"/>
                </a:lnTo>
                <a:cubicBezTo>
                  <a:pt x="11420475" y="975535"/>
                  <a:pt x="11386360" y="1009650"/>
                  <a:pt x="11344277" y="1009650"/>
                </a:cubicBezTo>
                <a:lnTo>
                  <a:pt x="76198" y="1009650"/>
                </a:lnTo>
                <a:cubicBezTo>
                  <a:pt x="34115" y="1009650"/>
                  <a:pt x="0" y="975535"/>
                  <a:pt x="0" y="933452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solidFill>
            <a:srgbClr val="C8A97E">
              <a:alpha val="10196"/>
            </a:srgbClr>
          </a:solidFill>
          <a:ln w="12700">
            <a:solidFill>
              <a:srgbClr val="C8A97E">
                <a:alpha val="30196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69057" y="562451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C8A97E"/>
          </a:solidFill>
          <a:ln/>
        </p:spPr>
      </p:sp>
      <p:sp>
        <p:nvSpPr>
          <p:cNvPr id="30" name="Text 27"/>
          <p:cNvSpPr/>
          <p:nvPr/>
        </p:nvSpPr>
        <p:spPr>
          <a:xfrm>
            <a:off x="857250" y="5572125"/>
            <a:ext cx="108013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Remember:</a:t>
            </a:r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E0E2E5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right algorithm depends on your data characteristics and business requirements. Understanding the trade-offs is key to successful pattern discovery.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Associations and Correlations in Data Mining</dc:title>
  <dc:subject>Associations and Correlations in Data Mining</dc:subject>
  <dc:creator>Kimi</dc:creator>
  <cp:lastModifiedBy>Kimi</cp:lastModifiedBy>
  <cp:revision>1</cp:revision>
  <dcterms:created xsi:type="dcterms:W3CDTF">2026-02-23T09:33:24Z</dcterms:created>
  <dcterms:modified xsi:type="dcterms:W3CDTF">2026-02-23T09:33:24Z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{"Label":"Associations and Correlations in Data Mining","ContentProducer":"001191110108MACG2KBH8F10000","ProduceID":"19c89d2d-fbc2-8c3e-8000-0000ad0f6a9e","ReservedCode1":"","ContentPropagator":"001191110108MACG2KBH8F20000","PropagateID":"19c89d2d-fbc2-8c3e-8000-0000ad0f6a9e","ReservedCode2":""}</vt:lpwstr>
  </property>
</Properties>
</file>